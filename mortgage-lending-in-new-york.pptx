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9144000"/>
  <p:notesSz cx="9144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4" d="100"/>
          <a:sy n="64" d="100"/>
        </p:scale>
        <p:origin x="200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3292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jpeg"/><Relationship Id="rId4" Type="http://schemas.openxmlformats.org/officeDocument/2006/relationships/hyperlink" Target="https://samuelbabajide.github.io/us-home-mortgage-disclosure-act-new-york/playground/" TargetMode="External"/><Relationship Id="rId5" Type="http://schemas.openxmlformats.org/officeDocument/2006/relationships/hyperlink" Target="https://samuelbabajide.github.io/us-home-mortgage-disclosure-act-new-york/catalog/" TargetMode="External"/><Relationship Id="rId6" Type="http://schemas.openxmlformats.org/officeDocument/2006/relationships/hyperlink" Target="https://samuelbabajide.github.io/us-home-mortgage-disclosure-act-new-york/erd/" TargetMode="External"/><Relationship Id="rId7" Type="http://schemas.openxmlformats.org/officeDocument/2006/relationships/hyperlink" Target="https://github.com/SamuelBabajide/us-home-mortgage-disclosure-act-new-york" TargetMode="External"/><Relationship Id="rId8" Type="http://schemas.openxmlformats.org/officeDocument/2006/relationships/hyperlink" Target="https://samuelbabajide.github.io/us-home-mortgage-disclosure-act-new-york/"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jpeg"/><Relationship Id="rId4" Type="http://schemas.openxmlformats.org/officeDocument/2006/relationships/hyperlink" Target="https://samuelbabajide.github.io/" TargetMode="External"/><Relationship Id="rId5" Type="http://schemas.openxmlformats.org/officeDocument/2006/relationships/hyperlink" Target="https://www.linkedin.com/in/samuelbbabajide"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11101" y="8115449"/>
            <a:ext cx="7721798" cy="9525"/>
          </a:xfrm>
          <a:prstGeom prst="rect">
            <a:avLst/>
          </a:prstGeom>
          <a:solidFill>
            <a:srgbClr val="24415C"/>
          </a:solidFill>
          <a:ln/>
        </p:spPr>
      </p:sp>
      <p:sp>
        <p:nvSpPr>
          <p:cNvPr id="3" name="Text 1"/>
          <p:cNvSpPr txBox="1"/>
          <p:nvPr/>
        </p:nvSpPr>
        <p:spPr>
          <a:xfrm>
            <a:off x="711101" y="628346"/>
            <a:ext cx="7749230" cy="264033"/>
          </a:xfrm>
          <a:prstGeom prst="rect">
            <a:avLst/>
          </a:prstGeom>
          <a:noFill/>
          <a:ln/>
        </p:spPr>
        <p:txBody>
          <a:bodyPr wrap="square" lIns="0" tIns="0" rIns="0" bIns="0" rtlCol="0" anchor="t"/>
          <a:lstStyle/>
          <a:p>
            <a:pPr marL="0" indent="0" algn="l">
              <a:lnSpc>
                <a:spcPts val="1560"/>
              </a:lnSpc>
              <a:buNone/>
            </a:pPr>
            <a:r>
              <a:rPr lang="en-US" sz="1300" b="1" kern="0" spc="416" dirty="0">
                <a:solidFill>
                  <a:srgbClr val="E3B341"/>
                </a:solidFill>
                <a:latin typeface="Arial" pitchFamily="34" charset="0"/>
                <a:ea typeface="Arial" pitchFamily="34" charset="-122"/>
                <a:cs typeface="Arial" pitchFamily="34" charset="-120"/>
              </a:rPr>
              <a:t>A SQL PORTFOLIO PROJECT</a:t>
            </a:r>
            <a:endParaRPr lang="en-US" sz="1300" dirty="0"/>
          </a:p>
        </p:txBody>
      </p:sp>
      <p:sp>
        <p:nvSpPr>
          <p:cNvPr id="4" name="Text 2"/>
          <p:cNvSpPr txBox="1"/>
          <p:nvPr/>
        </p:nvSpPr>
        <p:spPr>
          <a:xfrm>
            <a:off x="711101" y="1031522"/>
            <a:ext cx="7749230" cy="1437394"/>
          </a:xfrm>
          <a:prstGeom prst="rect">
            <a:avLst/>
          </a:prstGeom>
          <a:noFill/>
          <a:ln/>
        </p:spPr>
        <p:txBody>
          <a:bodyPr wrap="square" lIns="0" tIns="0" rIns="0" bIns="0" rtlCol="0" anchor="t"/>
          <a:lstStyle/>
          <a:p>
            <a:pPr marL="0" indent="0" algn="l">
              <a:lnSpc>
                <a:spcPts val="5408"/>
              </a:lnSpc>
              <a:buNone/>
            </a:pPr>
            <a:r>
              <a:rPr lang="en-US" sz="5200" b="1" kern="0" spc="-94" dirty="0">
                <a:solidFill>
                  <a:srgbClr val="EDF3F8"/>
                </a:solidFill>
                <a:latin typeface="Arial" pitchFamily="34" charset="0"/>
                <a:ea typeface="Arial" pitchFamily="34" charset="-122"/>
                <a:cs typeface="Arial" pitchFamily="34" charset="-120"/>
              </a:rPr>
              <a:t>Mortgage lending</a:t>
            </a:r>
            <a:endParaRPr lang="en-US" sz="5200" dirty="0"/>
          </a:p>
          <a:p>
            <a:pPr marL="0" indent="0" algn="l">
              <a:lnSpc>
                <a:spcPts val="5408"/>
              </a:lnSpc>
              <a:buNone/>
            </a:pPr>
            <a:r>
              <a:rPr lang="en-US" sz="5200" b="1" kern="0" spc="-94" dirty="0">
                <a:solidFill>
                  <a:srgbClr val="EDF3F8"/>
                </a:solidFill>
                <a:latin typeface="Arial" pitchFamily="34" charset="0"/>
                <a:ea typeface="Arial" pitchFamily="34" charset="-122"/>
                <a:cs typeface="Arial" pitchFamily="34" charset="-120"/>
              </a:rPr>
              <a:t>in New York</a:t>
            </a:r>
            <a:endParaRPr lang="en-US" sz="5200" dirty="0"/>
          </a:p>
        </p:txBody>
      </p:sp>
      <p:sp>
        <p:nvSpPr>
          <p:cNvPr id="5" name="Text 3"/>
          <p:cNvSpPr txBox="1"/>
          <p:nvPr/>
        </p:nvSpPr>
        <p:spPr>
          <a:xfrm>
            <a:off x="711101" y="2582609"/>
            <a:ext cx="6885432" cy="921258"/>
          </a:xfrm>
          <a:prstGeom prst="rect">
            <a:avLst/>
          </a:prstGeom>
          <a:noFill/>
          <a:ln/>
        </p:spPr>
        <p:txBody>
          <a:bodyPr wrap="square" lIns="0" tIns="0" rIns="0" bIns="0" rtlCol="0" anchor="t"/>
          <a:lstStyle/>
          <a:p>
            <a:pPr marL="0" indent="0" algn="l">
              <a:lnSpc>
                <a:spcPts val="2250"/>
              </a:lnSpc>
              <a:buNone/>
            </a:pPr>
            <a:r>
              <a:rPr lang="en-US" sz="1600" dirty="0">
                <a:solidFill>
                  <a:srgbClr val="A8BECF"/>
                </a:solidFill>
                <a:latin typeface="Arial" pitchFamily="34" charset="0"/>
                <a:ea typeface="Arial" pitchFamily="34" charset="-122"/>
                <a:cs typeface="Arial" pitchFamily="34" charset="-120"/>
              </a:rPr>
              <a:t>Every mortgage application filed in New York State over four years, as the lenders reported it. Modelled in PostgreSQL, analysed in forty-two queries, and runnable in your browser without installing anything.</a:t>
            </a:r>
            <a:endParaRPr lang="en-US" sz="1600" dirty="0"/>
          </a:p>
        </p:txBody>
      </p:sp>
      <p:sp>
        <p:nvSpPr>
          <p:cNvPr id="6" name="Text 4"/>
          <p:cNvSpPr txBox="1"/>
          <p:nvPr/>
        </p:nvSpPr>
        <p:spPr>
          <a:xfrm>
            <a:off x="711101" y="4094851"/>
            <a:ext cx="5361432" cy="546658"/>
          </a:xfrm>
          <a:prstGeom prst="rect">
            <a:avLst/>
          </a:prstGeom>
          <a:noFill/>
          <a:ln/>
        </p:spPr>
        <p:txBody>
          <a:bodyPr wrap="square" lIns="0" tIns="0" rIns="0" bIns="0" rtlCol="0" anchor="t"/>
          <a:lstStyle/>
          <a:p>
            <a:pPr marL="0" indent="0" algn="l">
              <a:lnSpc>
                <a:spcPts val="3800"/>
              </a:lnSpc>
              <a:buNone/>
            </a:pPr>
            <a:r>
              <a:rPr lang="en-US" sz="3800" b="1" kern="0" spc="-76" dirty="0">
                <a:solidFill>
                  <a:srgbClr val="E3B341"/>
                </a:solidFill>
                <a:latin typeface="Arial" pitchFamily="34" charset="0"/>
                <a:ea typeface="Arial" pitchFamily="34" charset="-122"/>
                <a:cs typeface="Arial" pitchFamily="34" charset="-120"/>
              </a:rPr>
              <a:t>1,596,676</a:t>
            </a:r>
            <a:endParaRPr lang="en-US" sz="3800" dirty="0"/>
          </a:p>
        </p:txBody>
      </p:sp>
      <p:sp>
        <p:nvSpPr>
          <p:cNvPr id="7" name="Text 5"/>
          <p:cNvSpPr txBox="1"/>
          <p:nvPr/>
        </p:nvSpPr>
        <p:spPr>
          <a:xfrm>
            <a:off x="711101" y="4653701"/>
            <a:ext cx="5361432" cy="286208"/>
          </a:xfrm>
          <a:prstGeom prst="rect">
            <a:avLst/>
          </a:prstGeom>
          <a:noFill/>
          <a:ln/>
        </p:spPr>
        <p:txBody>
          <a:bodyPr wrap="square" lIns="0" tIns="0" rIns="0" bIns="0" rtlCol="0" anchor="t"/>
          <a:lstStyle/>
          <a:p>
            <a:pPr marL="0" indent="0" algn="l">
              <a:lnSpc>
                <a:spcPts val="1750"/>
              </a:lnSpc>
              <a:buNone/>
            </a:pPr>
            <a:r>
              <a:rPr lang="en-US" sz="1250" dirty="0">
                <a:solidFill>
                  <a:srgbClr val="A8BECF"/>
                </a:solidFill>
                <a:latin typeface="Arial" pitchFamily="34" charset="0"/>
                <a:ea typeface="Arial" pitchFamily="34" charset="-122"/>
                <a:cs typeface="Arial" pitchFamily="34" charset="-120"/>
              </a:rPr>
              <a:t>Applications decided</a:t>
            </a:r>
            <a:endParaRPr lang="en-US" sz="1250" dirty="0"/>
          </a:p>
        </p:txBody>
      </p:sp>
      <p:sp>
        <p:nvSpPr>
          <p:cNvPr id="8" name="Text 6"/>
          <p:cNvSpPr txBox="1"/>
          <p:nvPr/>
        </p:nvSpPr>
        <p:spPr>
          <a:xfrm>
            <a:off x="711101" y="5155251"/>
            <a:ext cx="5361432" cy="546658"/>
          </a:xfrm>
          <a:prstGeom prst="rect">
            <a:avLst/>
          </a:prstGeom>
          <a:noFill/>
          <a:ln/>
        </p:spPr>
        <p:txBody>
          <a:bodyPr wrap="square" lIns="0" tIns="0" rIns="0" bIns="0" rtlCol="0" anchor="t"/>
          <a:lstStyle/>
          <a:p>
            <a:pPr marL="0" indent="0" algn="l">
              <a:lnSpc>
                <a:spcPts val="3800"/>
              </a:lnSpc>
              <a:buNone/>
            </a:pPr>
            <a:r>
              <a:rPr lang="en-US" sz="3800" b="1" kern="0" spc="-76" dirty="0">
                <a:solidFill>
                  <a:srgbClr val="E3B341"/>
                </a:solidFill>
                <a:latin typeface="Arial" pitchFamily="34" charset="0"/>
                <a:ea typeface="Arial" pitchFamily="34" charset="-122"/>
                <a:cs typeface="Arial" pitchFamily="34" charset="-120"/>
              </a:rPr>
              <a:t>951,371</a:t>
            </a:r>
            <a:endParaRPr lang="en-US" sz="3800" dirty="0"/>
          </a:p>
        </p:txBody>
      </p:sp>
      <p:sp>
        <p:nvSpPr>
          <p:cNvPr id="9" name="Text 7"/>
          <p:cNvSpPr txBox="1"/>
          <p:nvPr/>
        </p:nvSpPr>
        <p:spPr>
          <a:xfrm>
            <a:off x="711101" y="5714101"/>
            <a:ext cx="5361432" cy="286208"/>
          </a:xfrm>
          <a:prstGeom prst="rect">
            <a:avLst/>
          </a:prstGeom>
          <a:noFill/>
          <a:ln/>
        </p:spPr>
        <p:txBody>
          <a:bodyPr wrap="square" lIns="0" tIns="0" rIns="0" bIns="0" rtlCol="0" anchor="t"/>
          <a:lstStyle/>
          <a:p>
            <a:pPr marL="0" indent="0" algn="l">
              <a:lnSpc>
                <a:spcPts val="1750"/>
              </a:lnSpc>
              <a:buNone/>
            </a:pPr>
            <a:r>
              <a:rPr lang="en-US" sz="1250" dirty="0">
                <a:solidFill>
                  <a:srgbClr val="A8BECF"/>
                </a:solidFill>
                <a:latin typeface="Arial" pitchFamily="34" charset="0"/>
                <a:ea typeface="Arial" pitchFamily="34" charset="-122"/>
                <a:cs typeface="Arial" pitchFamily="34" charset="-120"/>
              </a:rPr>
              <a:t>Loans originated</a:t>
            </a:r>
            <a:endParaRPr lang="en-US" sz="1250" dirty="0"/>
          </a:p>
        </p:txBody>
      </p:sp>
      <p:sp>
        <p:nvSpPr>
          <p:cNvPr id="10" name="Text 8"/>
          <p:cNvSpPr txBox="1"/>
          <p:nvPr/>
        </p:nvSpPr>
        <p:spPr>
          <a:xfrm>
            <a:off x="711101" y="6215652"/>
            <a:ext cx="5361432" cy="546658"/>
          </a:xfrm>
          <a:prstGeom prst="rect">
            <a:avLst/>
          </a:prstGeom>
          <a:noFill/>
          <a:ln/>
        </p:spPr>
        <p:txBody>
          <a:bodyPr wrap="square" lIns="0" tIns="0" rIns="0" bIns="0" rtlCol="0" anchor="t"/>
          <a:lstStyle/>
          <a:p>
            <a:pPr marL="0" indent="0" algn="l">
              <a:lnSpc>
                <a:spcPts val="3800"/>
              </a:lnSpc>
              <a:buNone/>
            </a:pPr>
            <a:r>
              <a:rPr lang="en-US" sz="3800" b="1" kern="0" spc="-76" dirty="0">
                <a:solidFill>
                  <a:srgbClr val="E3B341"/>
                </a:solidFill>
                <a:latin typeface="Arial" pitchFamily="34" charset="0"/>
                <a:ea typeface="Arial" pitchFamily="34" charset="-122"/>
                <a:cs typeface="Arial" pitchFamily="34" charset="-120"/>
              </a:rPr>
              <a:t>$371.4bn</a:t>
            </a:r>
            <a:endParaRPr lang="en-US" sz="3800" dirty="0"/>
          </a:p>
        </p:txBody>
      </p:sp>
      <p:sp>
        <p:nvSpPr>
          <p:cNvPr id="11" name="Text 9"/>
          <p:cNvSpPr txBox="1"/>
          <p:nvPr/>
        </p:nvSpPr>
        <p:spPr>
          <a:xfrm>
            <a:off x="711101" y="6774501"/>
            <a:ext cx="5361432" cy="286208"/>
          </a:xfrm>
          <a:prstGeom prst="rect">
            <a:avLst/>
          </a:prstGeom>
          <a:noFill/>
          <a:ln/>
        </p:spPr>
        <p:txBody>
          <a:bodyPr wrap="square" lIns="0" tIns="0" rIns="0" bIns="0" rtlCol="0" anchor="t"/>
          <a:lstStyle/>
          <a:p>
            <a:pPr marL="0" indent="0" algn="l">
              <a:lnSpc>
                <a:spcPts val="1750"/>
              </a:lnSpc>
              <a:buNone/>
            </a:pPr>
            <a:r>
              <a:rPr lang="en-US" sz="1250" dirty="0">
                <a:solidFill>
                  <a:srgbClr val="A8BECF"/>
                </a:solidFill>
                <a:latin typeface="Arial" pitchFamily="34" charset="0"/>
                <a:ea typeface="Arial" pitchFamily="34" charset="-122"/>
                <a:cs typeface="Arial" pitchFamily="34" charset="-120"/>
              </a:rPr>
              <a:t>Disbursed</a:t>
            </a:r>
            <a:endParaRPr lang="en-US" sz="1250" dirty="0"/>
          </a:p>
        </p:txBody>
      </p:sp>
      <p:sp>
        <p:nvSpPr>
          <p:cNvPr id="12" name="Text 10"/>
          <p:cNvSpPr txBox="1"/>
          <p:nvPr/>
        </p:nvSpPr>
        <p:spPr>
          <a:xfrm>
            <a:off x="711101" y="8270671"/>
            <a:ext cx="3927473" cy="244983"/>
          </a:xfrm>
          <a:prstGeom prst="rect">
            <a:avLst/>
          </a:prstGeom>
          <a:noFill/>
          <a:ln/>
        </p:spPr>
        <p:txBody>
          <a:bodyPr wrap="square" lIns="0" tIns="0" rIns="0" bIns="0" rtlCol="0" anchor="t"/>
          <a:lstStyle/>
          <a:p>
            <a:pPr marL="0" indent="0" algn="l">
              <a:lnSpc>
                <a:spcPts val="1380"/>
              </a:lnSpc>
              <a:buNone/>
            </a:pPr>
            <a:r>
              <a:rPr lang="en-US" sz="1150" b="1" dirty="0">
                <a:solidFill>
                  <a:srgbClr val="A8BECF"/>
                </a:solidFill>
                <a:latin typeface="Arial" pitchFamily="34" charset="0"/>
                <a:ea typeface="Arial" pitchFamily="34" charset="-122"/>
                <a:cs typeface="Arial" pitchFamily="34" charset="-120"/>
              </a:rPr>
              <a:t>Samuel Babajide</a:t>
            </a:r>
            <a:r>
              <a:rPr lang="en-US" sz="1150" dirty="0">
                <a:solidFill>
                  <a:srgbClr val="71909F"/>
                </a:solidFill>
                <a:latin typeface="Arial" pitchFamily="34" charset="0"/>
                <a:ea typeface="Arial" pitchFamily="34" charset="-122"/>
                <a:cs typeface="Arial" pitchFamily="34" charset="-120"/>
              </a:rPr>
              <a:t> · HMDA, New York State, 2022 to 2025</a:t>
            </a:r>
            <a:endParaRPr lang="en-US" sz="1150" dirty="0"/>
          </a:p>
        </p:txBody>
      </p:sp>
      <p:sp>
        <p:nvSpPr>
          <p:cNvPr id="13" name="Text 11"/>
          <p:cNvSpPr txBox="1"/>
          <p:nvPr/>
        </p:nvSpPr>
        <p:spPr>
          <a:xfrm>
            <a:off x="7846070" y="8270671"/>
            <a:ext cx="614261" cy="244983"/>
          </a:xfrm>
          <a:prstGeom prst="rect">
            <a:avLst/>
          </a:prstGeom>
          <a:noFill/>
          <a:ln/>
        </p:spPr>
        <p:txBody>
          <a:bodyPr wrap="square" lIns="0" tIns="0" rIns="0" bIns="0" rtlCol="0" anchor="t"/>
          <a:lstStyle/>
          <a:p>
            <a:pPr marL="0" indent="0" algn="l">
              <a:lnSpc>
                <a:spcPts val="1380"/>
              </a:lnSpc>
              <a:buNone/>
            </a:pPr>
            <a:r>
              <a:rPr lang="en-US" sz="1150" dirty="0">
                <a:solidFill>
                  <a:srgbClr val="71909F"/>
                </a:solidFill>
                <a:latin typeface="Arial" pitchFamily="34" charset="0"/>
                <a:ea typeface="Arial" pitchFamily="34" charset="-122"/>
                <a:cs typeface="Arial" pitchFamily="34" charset="-120"/>
              </a:rPr>
              <a:t>swipe →</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11101" y="2252067"/>
            <a:ext cx="854571" cy="9525"/>
          </a:xfrm>
          <a:prstGeom prst="rect">
            <a:avLst/>
          </a:prstGeom>
          <a:solidFill>
            <a:srgbClr val="24415C"/>
          </a:solidFill>
          <a:ln/>
        </p:spPr>
      </p:sp>
      <p:sp>
        <p:nvSpPr>
          <p:cNvPr id="3" name="Shape 1"/>
          <p:cNvSpPr/>
          <p:nvPr/>
        </p:nvSpPr>
        <p:spPr>
          <a:xfrm>
            <a:off x="1565672" y="2252067"/>
            <a:ext cx="1676251" cy="9525"/>
          </a:xfrm>
          <a:prstGeom prst="rect">
            <a:avLst/>
          </a:prstGeom>
          <a:solidFill>
            <a:srgbClr val="24415C"/>
          </a:solidFill>
          <a:ln/>
        </p:spPr>
      </p:sp>
      <p:sp>
        <p:nvSpPr>
          <p:cNvPr id="4" name="Shape 2"/>
          <p:cNvSpPr/>
          <p:nvPr/>
        </p:nvSpPr>
        <p:spPr>
          <a:xfrm>
            <a:off x="3241923" y="2252067"/>
            <a:ext cx="1209526" cy="9525"/>
          </a:xfrm>
          <a:prstGeom prst="rect">
            <a:avLst/>
          </a:prstGeom>
          <a:solidFill>
            <a:srgbClr val="24415C"/>
          </a:solidFill>
          <a:ln/>
        </p:spPr>
      </p:sp>
      <p:sp>
        <p:nvSpPr>
          <p:cNvPr id="5" name="Shape 3"/>
          <p:cNvSpPr/>
          <p:nvPr/>
        </p:nvSpPr>
        <p:spPr>
          <a:xfrm>
            <a:off x="4451449" y="2252067"/>
            <a:ext cx="993725" cy="9525"/>
          </a:xfrm>
          <a:prstGeom prst="rect">
            <a:avLst/>
          </a:prstGeom>
          <a:solidFill>
            <a:srgbClr val="24415C"/>
          </a:solidFill>
          <a:ln/>
        </p:spPr>
      </p:sp>
      <p:sp>
        <p:nvSpPr>
          <p:cNvPr id="6" name="Shape 4"/>
          <p:cNvSpPr/>
          <p:nvPr/>
        </p:nvSpPr>
        <p:spPr>
          <a:xfrm>
            <a:off x="5445175" y="2252067"/>
            <a:ext cx="1137791" cy="9525"/>
          </a:xfrm>
          <a:prstGeom prst="rect">
            <a:avLst/>
          </a:prstGeom>
          <a:solidFill>
            <a:srgbClr val="24415C"/>
          </a:solidFill>
          <a:ln/>
        </p:spPr>
      </p:sp>
      <p:sp>
        <p:nvSpPr>
          <p:cNvPr id="7" name="Shape 5"/>
          <p:cNvSpPr/>
          <p:nvPr/>
        </p:nvSpPr>
        <p:spPr>
          <a:xfrm>
            <a:off x="6582966" y="2252067"/>
            <a:ext cx="924669" cy="9525"/>
          </a:xfrm>
          <a:prstGeom prst="rect">
            <a:avLst/>
          </a:prstGeom>
          <a:solidFill>
            <a:srgbClr val="24415C"/>
          </a:solidFill>
          <a:ln/>
        </p:spPr>
      </p:sp>
      <p:sp>
        <p:nvSpPr>
          <p:cNvPr id="8" name="Shape 6"/>
          <p:cNvSpPr/>
          <p:nvPr/>
        </p:nvSpPr>
        <p:spPr>
          <a:xfrm>
            <a:off x="7507635" y="2252067"/>
            <a:ext cx="925264" cy="9525"/>
          </a:xfrm>
          <a:prstGeom prst="rect">
            <a:avLst/>
          </a:prstGeom>
          <a:solidFill>
            <a:srgbClr val="24415C"/>
          </a:solidFill>
          <a:ln/>
        </p:spPr>
      </p:sp>
      <p:sp>
        <p:nvSpPr>
          <p:cNvPr id="9" name="Shape 7"/>
          <p:cNvSpPr/>
          <p:nvPr/>
        </p:nvSpPr>
        <p:spPr>
          <a:xfrm>
            <a:off x="711101" y="2991743"/>
            <a:ext cx="854571" cy="9525"/>
          </a:xfrm>
          <a:prstGeom prst="rect">
            <a:avLst/>
          </a:prstGeom>
          <a:solidFill>
            <a:srgbClr val="1A3047"/>
          </a:solidFill>
          <a:ln/>
        </p:spPr>
      </p:sp>
      <p:sp>
        <p:nvSpPr>
          <p:cNvPr id="10" name="Shape 8"/>
          <p:cNvSpPr/>
          <p:nvPr/>
        </p:nvSpPr>
        <p:spPr>
          <a:xfrm>
            <a:off x="1565672" y="2991743"/>
            <a:ext cx="1676251" cy="9525"/>
          </a:xfrm>
          <a:prstGeom prst="rect">
            <a:avLst/>
          </a:prstGeom>
          <a:solidFill>
            <a:srgbClr val="1A3047"/>
          </a:solidFill>
          <a:ln/>
        </p:spPr>
      </p:sp>
      <p:sp>
        <p:nvSpPr>
          <p:cNvPr id="11" name="Shape 9"/>
          <p:cNvSpPr/>
          <p:nvPr/>
        </p:nvSpPr>
        <p:spPr>
          <a:xfrm>
            <a:off x="1565672" y="2574280"/>
            <a:ext cx="1498550" cy="114300"/>
          </a:xfrm>
          <a:prstGeom prst="rect">
            <a:avLst/>
          </a:prstGeom>
          <a:solidFill>
            <a:srgbClr val="B48706"/>
          </a:solidFill>
          <a:ln/>
        </p:spPr>
      </p:sp>
      <p:sp>
        <p:nvSpPr>
          <p:cNvPr id="12" name="Shape 10"/>
          <p:cNvSpPr/>
          <p:nvPr/>
        </p:nvSpPr>
        <p:spPr>
          <a:xfrm>
            <a:off x="3241923" y="2991743"/>
            <a:ext cx="1209526" cy="9525"/>
          </a:xfrm>
          <a:prstGeom prst="rect">
            <a:avLst/>
          </a:prstGeom>
          <a:solidFill>
            <a:srgbClr val="1A3047"/>
          </a:solidFill>
          <a:ln/>
        </p:spPr>
      </p:sp>
      <p:sp>
        <p:nvSpPr>
          <p:cNvPr id="13" name="Shape 11"/>
          <p:cNvSpPr/>
          <p:nvPr/>
        </p:nvSpPr>
        <p:spPr>
          <a:xfrm>
            <a:off x="4451449" y="2991743"/>
            <a:ext cx="993725" cy="9525"/>
          </a:xfrm>
          <a:prstGeom prst="rect">
            <a:avLst/>
          </a:prstGeom>
          <a:solidFill>
            <a:srgbClr val="1A3047"/>
          </a:solidFill>
          <a:ln/>
        </p:spPr>
      </p:sp>
      <p:sp>
        <p:nvSpPr>
          <p:cNvPr id="14" name="Shape 12"/>
          <p:cNvSpPr/>
          <p:nvPr/>
        </p:nvSpPr>
        <p:spPr>
          <a:xfrm>
            <a:off x="5445175" y="2991743"/>
            <a:ext cx="1137791" cy="9525"/>
          </a:xfrm>
          <a:prstGeom prst="rect">
            <a:avLst/>
          </a:prstGeom>
          <a:solidFill>
            <a:srgbClr val="1A3047"/>
          </a:solidFill>
          <a:ln/>
        </p:spPr>
      </p:sp>
      <p:sp>
        <p:nvSpPr>
          <p:cNvPr id="15" name="Shape 13"/>
          <p:cNvSpPr/>
          <p:nvPr/>
        </p:nvSpPr>
        <p:spPr>
          <a:xfrm>
            <a:off x="6582966" y="2991743"/>
            <a:ext cx="924669" cy="9525"/>
          </a:xfrm>
          <a:prstGeom prst="rect">
            <a:avLst/>
          </a:prstGeom>
          <a:solidFill>
            <a:srgbClr val="1A3047"/>
          </a:solidFill>
          <a:ln/>
        </p:spPr>
      </p:sp>
      <p:sp>
        <p:nvSpPr>
          <p:cNvPr id="16" name="Shape 14"/>
          <p:cNvSpPr/>
          <p:nvPr/>
        </p:nvSpPr>
        <p:spPr>
          <a:xfrm>
            <a:off x="7507635" y="2991743"/>
            <a:ext cx="925264" cy="9525"/>
          </a:xfrm>
          <a:prstGeom prst="rect">
            <a:avLst/>
          </a:prstGeom>
          <a:solidFill>
            <a:srgbClr val="1A3047"/>
          </a:solidFill>
          <a:ln/>
        </p:spPr>
      </p:sp>
      <p:sp>
        <p:nvSpPr>
          <p:cNvPr id="17" name="Shape 15"/>
          <p:cNvSpPr/>
          <p:nvPr/>
        </p:nvSpPr>
        <p:spPr>
          <a:xfrm>
            <a:off x="711101" y="3731419"/>
            <a:ext cx="854571" cy="9525"/>
          </a:xfrm>
          <a:prstGeom prst="rect">
            <a:avLst/>
          </a:prstGeom>
          <a:solidFill>
            <a:srgbClr val="1A3047"/>
          </a:solidFill>
          <a:ln/>
        </p:spPr>
      </p:sp>
      <p:sp>
        <p:nvSpPr>
          <p:cNvPr id="18" name="Shape 16"/>
          <p:cNvSpPr/>
          <p:nvPr/>
        </p:nvSpPr>
        <p:spPr>
          <a:xfrm>
            <a:off x="1565672" y="3731419"/>
            <a:ext cx="1676251" cy="9525"/>
          </a:xfrm>
          <a:prstGeom prst="rect">
            <a:avLst/>
          </a:prstGeom>
          <a:solidFill>
            <a:srgbClr val="1A3047"/>
          </a:solidFill>
          <a:ln/>
        </p:spPr>
      </p:sp>
      <p:sp>
        <p:nvSpPr>
          <p:cNvPr id="19" name="Shape 17"/>
          <p:cNvSpPr/>
          <p:nvPr/>
        </p:nvSpPr>
        <p:spPr>
          <a:xfrm>
            <a:off x="1565672" y="3313956"/>
            <a:ext cx="1038820" cy="114300"/>
          </a:xfrm>
          <a:prstGeom prst="rect">
            <a:avLst/>
          </a:prstGeom>
          <a:solidFill>
            <a:srgbClr val="B48706"/>
          </a:solidFill>
          <a:ln/>
        </p:spPr>
      </p:sp>
      <p:sp>
        <p:nvSpPr>
          <p:cNvPr id="20" name="Shape 18"/>
          <p:cNvSpPr/>
          <p:nvPr/>
        </p:nvSpPr>
        <p:spPr>
          <a:xfrm>
            <a:off x="3241923" y="3731419"/>
            <a:ext cx="1209526" cy="9525"/>
          </a:xfrm>
          <a:prstGeom prst="rect">
            <a:avLst/>
          </a:prstGeom>
          <a:solidFill>
            <a:srgbClr val="1A3047"/>
          </a:solidFill>
          <a:ln/>
        </p:spPr>
      </p:sp>
      <p:sp>
        <p:nvSpPr>
          <p:cNvPr id="21" name="Shape 19"/>
          <p:cNvSpPr/>
          <p:nvPr/>
        </p:nvSpPr>
        <p:spPr>
          <a:xfrm>
            <a:off x="4451449" y="3731419"/>
            <a:ext cx="993725" cy="9525"/>
          </a:xfrm>
          <a:prstGeom prst="rect">
            <a:avLst/>
          </a:prstGeom>
          <a:solidFill>
            <a:srgbClr val="1A3047"/>
          </a:solidFill>
          <a:ln/>
        </p:spPr>
      </p:sp>
      <p:sp>
        <p:nvSpPr>
          <p:cNvPr id="22" name="Shape 20"/>
          <p:cNvSpPr/>
          <p:nvPr/>
        </p:nvSpPr>
        <p:spPr>
          <a:xfrm>
            <a:off x="5445175" y="3731419"/>
            <a:ext cx="1137791" cy="9525"/>
          </a:xfrm>
          <a:prstGeom prst="rect">
            <a:avLst/>
          </a:prstGeom>
          <a:solidFill>
            <a:srgbClr val="1A3047"/>
          </a:solidFill>
          <a:ln/>
        </p:spPr>
      </p:sp>
      <p:sp>
        <p:nvSpPr>
          <p:cNvPr id="23" name="Shape 21"/>
          <p:cNvSpPr/>
          <p:nvPr/>
        </p:nvSpPr>
        <p:spPr>
          <a:xfrm>
            <a:off x="6582966" y="3731419"/>
            <a:ext cx="924669" cy="9525"/>
          </a:xfrm>
          <a:prstGeom prst="rect">
            <a:avLst/>
          </a:prstGeom>
          <a:solidFill>
            <a:srgbClr val="1A3047"/>
          </a:solidFill>
          <a:ln/>
        </p:spPr>
      </p:sp>
      <p:sp>
        <p:nvSpPr>
          <p:cNvPr id="24" name="Shape 22"/>
          <p:cNvSpPr/>
          <p:nvPr/>
        </p:nvSpPr>
        <p:spPr>
          <a:xfrm>
            <a:off x="7507635" y="3731419"/>
            <a:ext cx="925264" cy="9525"/>
          </a:xfrm>
          <a:prstGeom prst="rect">
            <a:avLst/>
          </a:prstGeom>
          <a:solidFill>
            <a:srgbClr val="1A3047"/>
          </a:solidFill>
          <a:ln/>
        </p:spPr>
      </p:sp>
      <p:sp>
        <p:nvSpPr>
          <p:cNvPr id="25" name="Shape 23"/>
          <p:cNvSpPr/>
          <p:nvPr/>
        </p:nvSpPr>
        <p:spPr>
          <a:xfrm>
            <a:off x="711101" y="4471095"/>
            <a:ext cx="854571" cy="9525"/>
          </a:xfrm>
          <a:prstGeom prst="rect">
            <a:avLst/>
          </a:prstGeom>
          <a:solidFill>
            <a:srgbClr val="1A3047"/>
          </a:solidFill>
          <a:ln/>
        </p:spPr>
      </p:sp>
      <p:sp>
        <p:nvSpPr>
          <p:cNvPr id="26" name="Shape 24"/>
          <p:cNvSpPr/>
          <p:nvPr/>
        </p:nvSpPr>
        <p:spPr>
          <a:xfrm>
            <a:off x="1565672" y="4471095"/>
            <a:ext cx="1676251" cy="9525"/>
          </a:xfrm>
          <a:prstGeom prst="rect">
            <a:avLst/>
          </a:prstGeom>
          <a:solidFill>
            <a:srgbClr val="1A3047"/>
          </a:solidFill>
          <a:ln/>
        </p:spPr>
      </p:sp>
      <p:sp>
        <p:nvSpPr>
          <p:cNvPr id="27" name="Shape 25"/>
          <p:cNvSpPr/>
          <p:nvPr/>
        </p:nvSpPr>
        <p:spPr>
          <a:xfrm>
            <a:off x="1565672" y="4053632"/>
            <a:ext cx="1062930" cy="114300"/>
          </a:xfrm>
          <a:prstGeom prst="rect">
            <a:avLst/>
          </a:prstGeom>
          <a:solidFill>
            <a:srgbClr val="B48706"/>
          </a:solidFill>
          <a:ln/>
        </p:spPr>
      </p:sp>
      <p:sp>
        <p:nvSpPr>
          <p:cNvPr id="28" name="Shape 26"/>
          <p:cNvSpPr/>
          <p:nvPr/>
        </p:nvSpPr>
        <p:spPr>
          <a:xfrm>
            <a:off x="3241923" y="4471095"/>
            <a:ext cx="1209526" cy="9525"/>
          </a:xfrm>
          <a:prstGeom prst="rect">
            <a:avLst/>
          </a:prstGeom>
          <a:solidFill>
            <a:srgbClr val="1A3047"/>
          </a:solidFill>
          <a:ln/>
        </p:spPr>
      </p:sp>
      <p:sp>
        <p:nvSpPr>
          <p:cNvPr id="29" name="Shape 27"/>
          <p:cNvSpPr/>
          <p:nvPr/>
        </p:nvSpPr>
        <p:spPr>
          <a:xfrm>
            <a:off x="4451449" y="4471095"/>
            <a:ext cx="993725" cy="9525"/>
          </a:xfrm>
          <a:prstGeom prst="rect">
            <a:avLst/>
          </a:prstGeom>
          <a:solidFill>
            <a:srgbClr val="1A3047"/>
          </a:solidFill>
          <a:ln/>
        </p:spPr>
      </p:sp>
      <p:sp>
        <p:nvSpPr>
          <p:cNvPr id="30" name="Shape 28"/>
          <p:cNvSpPr/>
          <p:nvPr/>
        </p:nvSpPr>
        <p:spPr>
          <a:xfrm>
            <a:off x="5445175" y="4471095"/>
            <a:ext cx="1137791" cy="9525"/>
          </a:xfrm>
          <a:prstGeom prst="rect">
            <a:avLst/>
          </a:prstGeom>
          <a:solidFill>
            <a:srgbClr val="1A3047"/>
          </a:solidFill>
          <a:ln/>
        </p:spPr>
      </p:sp>
      <p:sp>
        <p:nvSpPr>
          <p:cNvPr id="31" name="Shape 29"/>
          <p:cNvSpPr/>
          <p:nvPr/>
        </p:nvSpPr>
        <p:spPr>
          <a:xfrm>
            <a:off x="6582966" y="4471095"/>
            <a:ext cx="924669" cy="9525"/>
          </a:xfrm>
          <a:prstGeom prst="rect">
            <a:avLst/>
          </a:prstGeom>
          <a:solidFill>
            <a:srgbClr val="1A3047"/>
          </a:solidFill>
          <a:ln/>
        </p:spPr>
      </p:sp>
      <p:sp>
        <p:nvSpPr>
          <p:cNvPr id="32" name="Shape 30"/>
          <p:cNvSpPr/>
          <p:nvPr/>
        </p:nvSpPr>
        <p:spPr>
          <a:xfrm>
            <a:off x="7507635" y="4471095"/>
            <a:ext cx="925264" cy="9525"/>
          </a:xfrm>
          <a:prstGeom prst="rect">
            <a:avLst/>
          </a:prstGeom>
          <a:solidFill>
            <a:srgbClr val="1A3047"/>
          </a:solidFill>
          <a:ln/>
        </p:spPr>
      </p:sp>
      <p:sp>
        <p:nvSpPr>
          <p:cNvPr id="33" name="Shape 31"/>
          <p:cNvSpPr/>
          <p:nvPr/>
        </p:nvSpPr>
        <p:spPr>
          <a:xfrm>
            <a:off x="711101" y="5215533"/>
            <a:ext cx="854571" cy="9525"/>
          </a:xfrm>
          <a:prstGeom prst="rect">
            <a:avLst/>
          </a:prstGeom>
          <a:solidFill>
            <a:srgbClr val="1A3047"/>
          </a:solidFill>
          <a:ln/>
        </p:spPr>
      </p:sp>
      <p:sp>
        <p:nvSpPr>
          <p:cNvPr id="34" name="Shape 32"/>
          <p:cNvSpPr/>
          <p:nvPr/>
        </p:nvSpPr>
        <p:spPr>
          <a:xfrm>
            <a:off x="1565672" y="5215533"/>
            <a:ext cx="1676251" cy="9525"/>
          </a:xfrm>
          <a:prstGeom prst="rect">
            <a:avLst/>
          </a:prstGeom>
          <a:solidFill>
            <a:srgbClr val="1A3047"/>
          </a:solidFill>
          <a:ln/>
        </p:spPr>
      </p:sp>
      <p:sp>
        <p:nvSpPr>
          <p:cNvPr id="35" name="Shape 33"/>
          <p:cNvSpPr/>
          <p:nvPr/>
        </p:nvSpPr>
        <p:spPr>
          <a:xfrm>
            <a:off x="1565672" y="4793307"/>
            <a:ext cx="1179761" cy="114300"/>
          </a:xfrm>
          <a:prstGeom prst="rect">
            <a:avLst/>
          </a:prstGeom>
          <a:solidFill>
            <a:srgbClr val="B48706"/>
          </a:solidFill>
          <a:ln/>
        </p:spPr>
      </p:sp>
      <p:sp>
        <p:nvSpPr>
          <p:cNvPr id="36" name="Shape 34"/>
          <p:cNvSpPr/>
          <p:nvPr/>
        </p:nvSpPr>
        <p:spPr>
          <a:xfrm>
            <a:off x="3241923" y="5215533"/>
            <a:ext cx="1209526" cy="9525"/>
          </a:xfrm>
          <a:prstGeom prst="rect">
            <a:avLst/>
          </a:prstGeom>
          <a:solidFill>
            <a:srgbClr val="1A3047"/>
          </a:solidFill>
          <a:ln/>
        </p:spPr>
      </p:sp>
      <p:sp>
        <p:nvSpPr>
          <p:cNvPr id="37" name="Shape 35"/>
          <p:cNvSpPr/>
          <p:nvPr/>
        </p:nvSpPr>
        <p:spPr>
          <a:xfrm>
            <a:off x="4451449" y="5215533"/>
            <a:ext cx="993725" cy="9525"/>
          </a:xfrm>
          <a:prstGeom prst="rect">
            <a:avLst/>
          </a:prstGeom>
          <a:solidFill>
            <a:srgbClr val="1A3047"/>
          </a:solidFill>
          <a:ln/>
        </p:spPr>
      </p:sp>
      <p:sp>
        <p:nvSpPr>
          <p:cNvPr id="38" name="Shape 36"/>
          <p:cNvSpPr/>
          <p:nvPr/>
        </p:nvSpPr>
        <p:spPr>
          <a:xfrm>
            <a:off x="5445175" y="5215533"/>
            <a:ext cx="1137791" cy="9525"/>
          </a:xfrm>
          <a:prstGeom prst="rect">
            <a:avLst/>
          </a:prstGeom>
          <a:solidFill>
            <a:srgbClr val="1A3047"/>
          </a:solidFill>
          <a:ln/>
        </p:spPr>
      </p:sp>
      <p:sp>
        <p:nvSpPr>
          <p:cNvPr id="39" name="Shape 37"/>
          <p:cNvSpPr/>
          <p:nvPr/>
        </p:nvSpPr>
        <p:spPr>
          <a:xfrm>
            <a:off x="6582966" y="5215533"/>
            <a:ext cx="924669" cy="9525"/>
          </a:xfrm>
          <a:prstGeom prst="rect">
            <a:avLst/>
          </a:prstGeom>
          <a:solidFill>
            <a:srgbClr val="1A3047"/>
          </a:solidFill>
          <a:ln/>
        </p:spPr>
      </p:sp>
      <p:sp>
        <p:nvSpPr>
          <p:cNvPr id="40" name="Shape 38"/>
          <p:cNvSpPr/>
          <p:nvPr/>
        </p:nvSpPr>
        <p:spPr>
          <a:xfrm>
            <a:off x="7507635" y="5215533"/>
            <a:ext cx="925264" cy="9525"/>
          </a:xfrm>
          <a:prstGeom prst="rect">
            <a:avLst/>
          </a:prstGeom>
          <a:solidFill>
            <a:srgbClr val="1A3047"/>
          </a:solidFill>
          <a:ln/>
        </p:spPr>
      </p:sp>
      <p:sp>
        <p:nvSpPr>
          <p:cNvPr id="41" name="Shape 39"/>
          <p:cNvSpPr/>
          <p:nvPr/>
        </p:nvSpPr>
        <p:spPr>
          <a:xfrm>
            <a:off x="711101" y="5225058"/>
            <a:ext cx="854571" cy="19050"/>
          </a:xfrm>
          <a:prstGeom prst="rect">
            <a:avLst/>
          </a:prstGeom>
          <a:solidFill>
            <a:srgbClr val="B48706"/>
          </a:solidFill>
          <a:ln/>
        </p:spPr>
      </p:sp>
      <p:sp>
        <p:nvSpPr>
          <p:cNvPr id="42" name="Shape 40"/>
          <p:cNvSpPr/>
          <p:nvPr/>
        </p:nvSpPr>
        <p:spPr>
          <a:xfrm>
            <a:off x="1565672" y="5225058"/>
            <a:ext cx="1676251" cy="19050"/>
          </a:xfrm>
          <a:prstGeom prst="rect">
            <a:avLst/>
          </a:prstGeom>
          <a:solidFill>
            <a:srgbClr val="B48706"/>
          </a:solidFill>
          <a:ln/>
        </p:spPr>
      </p:sp>
      <p:sp>
        <p:nvSpPr>
          <p:cNvPr id="43" name="Shape 41"/>
          <p:cNvSpPr/>
          <p:nvPr/>
        </p:nvSpPr>
        <p:spPr>
          <a:xfrm>
            <a:off x="3241923" y="5225058"/>
            <a:ext cx="1209526" cy="19050"/>
          </a:xfrm>
          <a:prstGeom prst="rect">
            <a:avLst/>
          </a:prstGeom>
          <a:solidFill>
            <a:srgbClr val="B48706"/>
          </a:solidFill>
          <a:ln/>
        </p:spPr>
      </p:sp>
      <p:sp>
        <p:nvSpPr>
          <p:cNvPr id="44" name="Shape 42"/>
          <p:cNvSpPr/>
          <p:nvPr/>
        </p:nvSpPr>
        <p:spPr>
          <a:xfrm>
            <a:off x="4451449" y="5225058"/>
            <a:ext cx="993725" cy="19050"/>
          </a:xfrm>
          <a:prstGeom prst="rect">
            <a:avLst/>
          </a:prstGeom>
          <a:solidFill>
            <a:srgbClr val="B48706"/>
          </a:solidFill>
          <a:ln/>
        </p:spPr>
      </p:sp>
      <p:sp>
        <p:nvSpPr>
          <p:cNvPr id="45" name="Shape 43"/>
          <p:cNvSpPr/>
          <p:nvPr/>
        </p:nvSpPr>
        <p:spPr>
          <a:xfrm>
            <a:off x="5445175" y="5225058"/>
            <a:ext cx="1137791" cy="19050"/>
          </a:xfrm>
          <a:prstGeom prst="rect">
            <a:avLst/>
          </a:prstGeom>
          <a:solidFill>
            <a:srgbClr val="B48706"/>
          </a:solidFill>
          <a:ln/>
        </p:spPr>
      </p:sp>
      <p:sp>
        <p:nvSpPr>
          <p:cNvPr id="46" name="Shape 44"/>
          <p:cNvSpPr/>
          <p:nvPr/>
        </p:nvSpPr>
        <p:spPr>
          <a:xfrm>
            <a:off x="6582966" y="5225058"/>
            <a:ext cx="924669" cy="19050"/>
          </a:xfrm>
          <a:prstGeom prst="rect">
            <a:avLst/>
          </a:prstGeom>
          <a:solidFill>
            <a:srgbClr val="B48706"/>
          </a:solidFill>
          <a:ln/>
        </p:spPr>
      </p:sp>
      <p:sp>
        <p:nvSpPr>
          <p:cNvPr id="47" name="Shape 45"/>
          <p:cNvSpPr/>
          <p:nvPr/>
        </p:nvSpPr>
        <p:spPr>
          <a:xfrm>
            <a:off x="7507635" y="5225058"/>
            <a:ext cx="925264" cy="19050"/>
          </a:xfrm>
          <a:prstGeom prst="rect">
            <a:avLst/>
          </a:prstGeom>
          <a:solidFill>
            <a:srgbClr val="B48706"/>
          </a:solidFill>
          <a:ln/>
        </p:spPr>
      </p:sp>
      <p:sp>
        <p:nvSpPr>
          <p:cNvPr id="48" name="Shape 46"/>
          <p:cNvSpPr/>
          <p:nvPr/>
        </p:nvSpPr>
        <p:spPr>
          <a:xfrm>
            <a:off x="711101" y="7536954"/>
            <a:ext cx="7721798" cy="9525"/>
          </a:xfrm>
          <a:prstGeom prst="rect">
            <a:avLst/>
          </a:prstGeom>
          <a:solidFill>
            <a:srgbClr val="24415C"/>
          </a:solidFill>
          <a:ln/>
        </p:spPr>
      </p:sp>
      <p:sp>
        <p:nvSpPr>
          <p:cNvPr id="49" name="Text 47"/>
          <p:cNvSpPr txBox="1"/>
          <p:nvPr/>
        </p:nvSpPr>
        <p:spPr>
          <a:xfrm>
            <a:off x="711101" y="628346"/>
            <a:ext cx="7749230" cy="264033"/>
          </a:xfrm>
          <a:prstGeom prst="rect">
            <a:avLst/>
          </a:prstGeom>
          <a:noFill/>
          <a:ln/>
        </p:spPr>
        <p:txBody>
          <a:bodyPr wrap="square" lIns="0" tIns="0" rIns="0" bIns="0" rtlCol="0" anchor="t"/>
          <a:lstStyle/>
          <a:p>
            <a:pPr marL="0" indent="0" algn="l">
              <a:lnSpc>
                <a:spcPts val="1560"/>
              </a:lnSpc>
              <a:buNone/>
            </a:pPr>
            <a:r>
              <a:rPr lang="en-US" sz="1300" b="1" kern="0" spc="416" dirty="0">
                <a:solidFill>
                  <a:srgbClr val="E3B341"/>
                </a:solidFill>
                <a:latin typeface="Arial" pitchFamily="34" charset="0"/>
                <a:ea typeface="Arial" pitchFamily="34" charset="-122"/>
                <a:cs typeface="Arial" pitchFamily="34" charset="-120"/>
              </a:rPr>
              <a:t>THE MARKET</a:t>
            </a:r>
            <a:endParaRPr lang="en-US" sz="1300" dirty="0"/>
          </a:p>
        </p:txBody>
      </p:sp>
      <p:sp>
        <p:nvSpPr>
          <p:cNvPr id="50" name="Text 48"/>
          <p:cNvSpPr txBox="1"/>
          <p:nvPr/>
        </p:nvSpPr>
        <p:spPr>
          <a:xfrm>
            <a:off x="711101" y="1031522"/>
            <a:ext cx="7749230" cy="530287"/>
          </a:xfrm>
          <a:prstGeom prst="rect">
            <a:avLst/>
          </a:prstGeom>
          <a:noFill/>
          <a:ln/>
        </p:spPr>
        <p:txBody>
          <a:bodyPr wrap="square" lIns="0" tIns="0" rIns="0" bIns="0" rtlCol="0" anchor="t"/>
          <a:lstStyle/>
          <a:p>
            <a:pPr marL="0" indent="0" algn="l">
              <a:lnSpc>
                <a:spcPts val="3672"/>
              </a:lnSpc>
              <a:buNone/>
            </a:pPr>
            <a:r>
              <a:rPr lang="en-US" sz="3400" b="1" kern="0" spc="-48" dirty="0">
                <a:solidFill>
                  <a:srgbClr val="EDF3F8"/>
                </a:solidFill>
                <a:latin typeface="Arial" pitchFamily="34" charset="0"/>
                <a:ea typeface="Arial" pitchFamily="34" charset="-122"/>
                <a:cs typeface="Arial" pitchFamily="34" charset="-120"/>
              </a:rPr>
              <a:t>Four years, year on year</a:t>
            </a:r>
            <a:endParaRPr lang="en-US" sz="3400" dirty="0"/>
          </a:p>
        </p:txBody>
      </p:sp>
      <p:sp>
        <p:nvSpPr>
          <p:cNvPr id="51" name="Text 49"/>
          <p:cNvSpPr txBox="1"/>
          <p:nvPr/>
        </p:nvSpPr>
        <p:spPr>
          <a:xfrm>
            <a:off x="711101" y="1955000"/>
            <a:ext cx="882003" cy="211596"/>
          </a:xfrm>
          <a:prstGeom prst="rect">
            <a:avLst/>
          </a:prstGeom>
          <a:noFill/>
          <a:ln/>
        </p:spPr>
        <p:txBody>
          <a:bodyPr wrap="square" lIns="0" tIns="0" rIns="0" bIns="0" rtlCol="0" anchor="t"/>
          <a:lstStyle/>
          <a:p>
            <a:pPr marL="0" indent="0" algn="l">
              <a:lnSpc>
                <a:spcPts val="1140"/>
              </a:lnSpc>
              <a:buNone/>
            </a:pPr>
            <a:r>
              <a:rPr lang="en-US" sz="1000" b="1" kern="0" spc="67" dirty="0">
                <a:solidFill>
                  <a:srgbClr val="71909F"/>
                </a:solidFill>
                <a:latin typeface="Arial" pitchFamily="34" charset="0"/>
                <a:ea typeface="Arial" pitchFamily="34" charset="-122"/>
                <a:cs typeface="Arial" pitchFamily="34" charset="-120"/>
              </a:rPr>
              <a:t>YEAR</a:t>
            </a:r>
            <a:endParaRPr lang="en-US" sz="1000" b="1" dirty="0"/>
          </a:p>
        </p:txBody>
      </p:sp>
      <p:sp>
        <p:nvSpPr>
          <p:cNvPr id="52" name="Text 50"/>
          <p:cNvSpPr txBox="1"/>
          <p:nvPr/>
        </p:nvSpPr>
        <p:spPr>
          <a:xfrm>
            <a:off x="1565672" y="1955000"/>
            <a:ext cx="1525883" cy="211596"/>
          </a:xfrm>
          <a:prstGeom prst="rect">
            <a:avLst/>
          </a:prstGeom>
          <a:noFill/>
          <a:ln/>
        </p:spPr>
        <p:txBody>
          <a:bodyPr wrap="square" lIns="0" tIns="0" rIns="0" bIns="0" rtlCol="0" anchor="t"/>
          <a:lstStyle/>
          <a:p>
            <a:pPr marL="0" indent="0" algn="r">
              <a:lnSpc>
                <a:spcPts val="1140"/>
              </a:lnSpc>
              <a:buNone/>
            </a:pPr>
            <a:r>
              <a:rPr lang="en-US" sz="1000" b="1" kern="0" spc="67" dirty="0">
                <a:solidFill>
                  <a:srgbClr val="71909F"/>
                </a:solidFill>
                <a:latin typeface="Arial" pitchFamily="34" charset="0"/>
                <a:ea typeface="Arial" pitchFamily="34" charset="-122"/>
                <a:cs typeface="Arial" pitchFamily="34" charset="-120"/>
              </a:rPr>
              <a:t>APPLICATIONS</a:t>
            </a:r>
            <a:endParaRPr lang="en-US" sz="1000" b="1" dirty="0"/>
          </a:p>
        </p:txBody>
      </p:sp>
      <p:sp>
        <p:nvSpPr>
          <p:cNvPr id="53" name="Text 51"/>
          <p:cNvSpPr txBox="1"/>
          <p:nvPr/>
        </p:nvSpPr>
        <p:spPr>
          <a:xfrm>
            <a:off x="4451449" y="1955000"/>
            <a:ext cx="1021157" cy="211596"/>
          </a:xfrm>
          <a:prstGeom prst="rect">
            <a:avLst/>
          </a:prstGeom>
          <a:noFill/>
          <a:ln/>
        </p:spPr>
        <p:txBody>
          <a:bodyPr wrap="square" lIns="0" tIns="0" rIns="0" bIns="0" rtlCol="0" anchor="t"/>
          <a:lstStyle/>
          <a:p>
            <a:pPr marL="0" indent="0" algn="r">
              <a:lnSpc>
                <a:spcPts val="1140"/>
              </a:lnSpc>
              <a:buNone/>
            </a:pPr>
            <a:r>
              <a:rPr lang="en-US" sz="1000" b="1" kern="0" spc="67" dirty="0">
                <a:solidFill>
                  <a:srgbClr val="71909F"/>
                </a:solidFill>
                <a:latin typeface="Arial" pitchFamily="34" charset="0"/>
                <a:ea typeface="Arial" pitchFamily="34" charset="-122"/>
                <a:cs typeface="Arial" pitchFamily="34" charset="-120"/>
              </a:rPr>
              <a:t>ORIGINATED</a:t>
            </a:r>
            <a:endParaRPr lang="en-US" sz="1000" b="1" dirty="0"/>
          </a:p>
        </p:txBody>
      </p:sp>
      <p:sp>
        <p:nvSpPr>
          <p:cNvPr id="54" name="Text 52"/>
          <p:cNvSpPr txBox="1"/>
          <p:nvPr/>
        </p:nvSpPr>
        <p:spPr>
          <a:xfrm>
            <a:off x="5445175" y="1955000"/>
            <a:ext cx="1165223" cy="211596"/>
          </a:xfrm>
          <a:prstGeom prst="rect">
            <a:avLst/>
          </a:prstGeom>
          <a:noFill/>
          <a:ln/>
        </p:spPr>
        <p:txBody>
          <a:bodyPr wrap="square" lIns="0" tIns="0" rIns="0" bIns="0" rtlCol="0" anchor="t"/>
          <a:lstStyle/>
          <a:p>
            <a:pPr marL="0" indent="0" algn="r">
              <a:lnSpc>
                <a:spcPts val="1140"/>
              </a:lnSpc>
              <a:buNone/>
            </a:pPr>
            <a:r>
              <a:rPr lang="en-US" sz="1000" b="1" kern="0" spc="67" dirty="0">
                <a:solidFill>
                  <a:srgbClr val="71909F"/>
                </a:solidFill>
                <a:latin typeface="Arial" pitchFamily="34" charset="0"/>
                <a:ea typeface="Arial" pitchFamily="34" charset="-122"/>
                <a:cs typeface="Arial" pitchFamily="34" charset="-120"/>
              </a:rPr>
              <a:t>DISBURSED</a:t>
            </a:r>
            <a:endParaRPr lang="en-US" sz="1000" b="1" dirty="0"/>
          </a:p>
        </p:txBody>
      </p:sp>
      <p:sp>
        <p:nvSpPr>
          <p:cNvPr id="55" name="Text 53"/>
          <p:cNvSpPr txBox="1"/>
          <p:nvPr/>
        </p:nvSpPr>
        <p:spPr>
          <a:xfrm>
            <a:off x="6582966" y="1955000"/>
            <a:ext cx="952101" cy="211596"/>
          </a:xfrm>
          <a:prstGeom prst="rect">
            <a:avLst/>
          </a:prstGeom>
          <a:noFill/>
          <a:ln/>
        </p:spPr>
        <p:txBody>
          <a:bodyPr wrap="square" lIns="0" tIns="0" rIns="0" bIns="0" rtlCol="0" anchor="t"/>
          <a:lstStyle/>
          <a:p>
            <a:pPr marL="0" indent="0" algn="r">
              <a:lnSpc>
                <a:spcPts val="1140"/>
              </a:lnSpc>
              <a:buNone/>
            </a:pPr>
            <a:r>
              <a:rPr lang="en-US" sz="1000" b="1" kern="0" spc="67" dirty="0">
                <a:solidFill>
                  <a:srgbClr val="71909F"/>
                </a:solidFill>
                <a:latin typeface="Arial" pitchFamily="34" charset="0"/>
                <a:ea typeface="Arial" pitchFamily="34" charset="-122"/>
                <a:cs typeface="Arial" pitchFamily="34" charset="-120"/>
              </a:rPr>
              <a:t>APPROVAL</a:t>
            </a:r>
            <a:endParaRPr lang="en-US" sz="1000" b="1" dirty="0"/>
          </a:p>
        </p:txBody>
      </p:sp>
      <p:sp>
        <p:nvSpPr>
          <p:cNvPr id="56" name="Text 54"/>
          <p:cNvSpPr txBox="1"/>
          <p:nvPr/>
        </p:nvSpPr>
        <p:spPr>
          <a:xfrm>
            <a:off x="7507635" y="1955000"/>
            <a:ext cx="952696" cy="211596"/>
          </a:xfrm>
          <a:prstGeom prst="rect">
            <a:avLst/>
          </a:prstGeom>
          <a:noFill/>
          <a:ln/>
        </p:spPr>
        <p:txBody>
          <a:bodyPr wrap="square" lIns="0" tIns="0" rIns="0" bIns="0" rtlCol="0" anchor="t"/>
          <a:lstStyle/>
          <a:p>
            <a:pPr marL="0" indent="0" algn="r">
              <a:lnSpc>
                <a:spcPts val="1140"/>
              </a:lnSpc>
              <a:buNone/>
            </a:pPr>
            <a:r>
              <a:rPr lang="en-US" sz="1000" b="1" kern="0" spc="67" dirty="0">
                <a:solidFill>
                  <a:srgbClr val="71909F"/>
                </a:solidFill>
                <a:latin typeface="Arial" pitchFamily="34" charset="0"/>
                <a:ea typeface="Arial" pitchFamily="34" charset="-122"/>
                <a:cs typeface="Arial" pitchFamily="34" charset="-120"/>
              </a:rPr>
              <a:t>DENIAL</a:t>
            </a:r>
            <a:endParaRPr lang="en-US" sz="1000" b="1" dirty="0"/>
          </a:p>
        </p:txBody>
      </p:sp>
      <p:sp>
        <p:nvSpPr>
          <p:cNvPr id="57" name="Text 55"/>
          <p:cNvSpPr txBox="1"/>
          <p:nvPr/>
        </p:nvSpPr>
        <p:spPr>
          <a:xfrm>
            <a:off x="711101" y="2470888"/>
            <a:ext cx="882003" cy="321084"/>
          </a:xfrm>
          <a:prstGeom prst="rect">
            <a:avLst/>
          </a:prstGeom>
          <a:noFill/>
          <a:ln/>
        </p:spPr>
        <p:txBody>
          <a:bodyPr wrap="square" lIns="0" tIns="0" rIns="0" bIns="0" rtlCol="0" anchor="t"/>
          <a:lstStyle/>
          <a:p>
            <a:pPr marL="0" indent="0" algn="l">
              <a:lnSpc>
                <a:spcPts val="1920"/>
              </a:lnSpc>
              <a:buNone/>
            </a:pPr>
            <a:r>
              <a:rPr lang="en-US" sz="1600" b="1" dirty="0">
                <a:solidFill>
                  <a:srgbClr val="EDF3F8"/>
                </a:solidFill>
                <a:latin typeface="Arial" pitchFamily="34" charset="0"/>
                <a:ea typeface="Arial" pitchFamily="34" charset="-122"/>
                <a:cs typeface="Arial" pitchFamily="34" charset="-120"/>
              </a:rPr>
              <a:t>2022</a:t>
            </a:r>
            <a:endParaRPr lang="en-US" sz="1600" dirty="0"/>
          </a:p>
        </p:txBody>
      </p:sp>
      <p:sp>
        <p:nvSpPr>
          <p:cNvPr id="58" name="Text 56"/>
          <p:cNvSpPr txBox="1"/>
          <p:nvPr/>
        </p:nvSpPr>
        <p:spPr>
          <a:xfrm>
            <a:off x="3241923" y="2470888"/>
            <a:ext cx="1236958" cy="321084"/>
          </a:xfrm>
          <a:prstGeom prst="rect">
            <a:avLst/>
          </a:prstGeom>
          <a:noFill/>
          <a:ln/>
        </p:spPr>
        <p:txBody>
          <a:bodyPr wrap="square" lIns="0" tIns="0" rIns="0" bIns="0" rtlCol="0" anchor="t"/>
          <a:lstStyle/>
          <a:p>
            <a:pPr marL="0" indent="0" algn="r">
              <a:lnSpc>
                <a:spcPts val="1920"/>
              </a:lnSpc>
              <a:buNone/>
            </a:pPr>
            <a:r>
              <a:rPr lang="en-US" sz="1600" dirty="0">
                <a:solidFill>
                  <a:srgbClr val="EDF3F8"/>
                </a:solidFill>
                <a:latin typeface="Arial" pitchFamily="34" charset="0"/>
                <a:ea typeface="Arial" pitchFamily="34" charset="-122"/>
                <a:cs typeface="Arial" pitchFamily="34" charset="-120"/>
              </a:rPr>
              <a:t>500,553</a:t>
            </a:r>
            <a:endParaRPr lang="en-US" sz="1600" dirty="0"/>
          </a:p>
        </p:txBody>
      </p:sp>
      <p:sp>
        <p:nvSpPr>
          <p:cNvPr id="59" name="Text 57"/>
          <p:cNvSpPr txBox="1"/>
          <p:nvPr/>
        </p:nvSpPr>
        <p:spPr>
          <a:xfrm>
            <a:off x="4451449" y="2470888"/>
            <a:ext cx="1021157" cy="321084"/>
          </a:xfrm>
          <a:prstGeom prst="rect">
            <a:avLst/>
          </a:prstGeom>
          <a:noFill/>
          <a:ln/>
        </p:spPr>
        <p:txBody>
          <a:bodyPr wrap="square" lIns="0" tIns="0" rIns="0" bIns="0" rtlCol="0" anchor="t"/>
          <a:lstStyle/>
          <a:p>
            <a:pPr marL="0" indent="0" algn="r">
              <a:lnSpc>
                <a:spcPts val="1920"/>
              </a:lnSpc>
              <a:buNone/>
            </a:pPr>
            <a:r>
              <a:rPr lang="en-US" sz="1600" dirty="0">
                <a:solidFill>
                  <a:srgbClr val="EDF3F8"/>
                </a:solidFill>
                <a:latin typeface="Arial" pitchFamily="34" charset="0"/>
                <a:ea typeface="Arial" pitchFamily="34" charset="-122"/>
                <a:cs typeface="Arial" pitchFamily="34" charset="-120"/>
              </a:rPr>
              <a:t>307,252</a:t>
            </a:r>
            <a:endParaRPr lang="en-US" sz="1600" dirty="0"/>
          </a:p>
        </p:txBody>
      </p:sp>
      <p:sp>
        <p:nvSpPr>
          <p:cNvPr id="60" name="Text 58"/>
          <p:cNvSpPr txBox="1"/>
          <p:nvPr/>
        </p:nvSpPr>
        <p:spPr>
          <a:xfrm>
            <a:off x="5445175" y="2470888"/>
            <a:ext cx="1165223" cy="321084"/>
          </a:xfrm>
          <a:prstGeom prst="rect">
            <a:avLst/>
          </a:prstGeom>
          <a:noFill/>
          <a:ln/>
        </p:spPr>
        <p:txBody>
          <a:bodyPr wrap="square" lIns="0" tIns="0" rIns="0" bIns="0" rtlCol="0" anchor="t"/>
          <a:lstStyle/>
          <a:p>
            <a:pPr marL="0" indent="0" algn="r">
              <a:lnSpc>
                <a:spcPts val="1920"/>
              </a:lnSpc>
              <a:buNone/>
            </a:pPr>
            <a:r>
              <a:rPr lang="en-US" sz="1600" dirty="0">
                <a:solidFill>
                  <a:srgbClr val="EDF3F8"/>
                </a:solidFill>
                <a:latin typeface="Arial" pitchFamily="34" charset="0"/>
                <a:ea typeface="Arial" pitchFamily="34" charset="-122"/>
                <a:cs typeface="Arial" pitchFamily="34" charset="-120"/>
              </a:rPr>
              <a:t>$128.5bn</a:t>
            </a:r>
            <a:endParaRPr lang="en-US" sz="1600" dirty="0"/>
          </a:p>
        </p:txBody>
      </p:sp>
      <p:sp>
        <p:nvSpPr>
          <p:cNvPr id="61" name="Text 59"/>
          <p:cNvSpPr txBox="1"/>
          <p:nvPr/>
        </p:nvSpPr>
        <p:spPr>
          <a:xfrm>
            <a:off x="6582966" y="2470888"/>
            <a:ext cx="952101" cy="321084"/>
          </a:xfrm>
          <a:prstGeom prst="rect">
            <a:avLst/>
          </a:prstGeom>
          <a:noFill/>
          <a:ln/>
        </p:spPr>
        <p:txBody>
          <a:bodyPr wrap="square" lIns="0" tIns="0" rIns="0" bIns="0" rtlCol="0" anchor="t"/>
          <a:lstStyle/>
          <a:p>
            <a:pPr marL="0" indent="0" algn="r">
              <a:lnSpc>
                <a:spcPts val="1920"/>
              </a:lnSpc>
              <a:buNone/>
            </a:pPr>
            <a:r>
              <a:rPr lang="en-US" sz="1600" dirty="0">
                <a:solidFill>
                  <a:srgbClr val="EDF3F8"/>
                </a:solidFill>
                <a:latin typeface="Arial" pitchFamily="34" charset="0"/>
                <a:ea typeface="Arial" pitchFamily="34" charset="-122"/>
                <a:cs typeface="Arial" pitchFamily="34" charset="-120"/>
              </a:rPr>
              <a:t>64.39%</a:t>
            </a:r>
            <a:endParaRPr lang="en-US" sz="1600" dirty="0"/>
          </a:p>
        </p:txBody>
      </p:sp>
      <p:sp>
        <p:nvSpPr>
          <p:cNvPr id="62" name="Text 60"/>
          <p:cNvSpPr txBox="1"/>
          <p:nvPr/>
        </p:nvSpPr>
        <p:spPr>
          <a:xfrm>
            <a:off x="7507635" y="2470888"/>
            <a:ext cx="952696" cy="321084"/>
          </a:xfrm>
          <a:prstGeom prst="rect">
            <a:avLst/>
          </a:prstGeom>
          <a:noFill/>
          <a:ln/>
        </p:spPr>
        <p:txBody>
          <a:bodyPr wrap="square" lIns="0" tIns="0" rIns="0" bIns="0" rtlCol="0" anchor="t"/>
          <a:lstStyle/>
          <a:p>
            <a:pPr marL="0" indent="0" algn="r">
              <a:lnSpc>
                <a:spcPts val="1920"/>
              </a:lnSpc>
              <a:buNone/>
            </a:pPr>
            <a:r>
              <a:rPr lang="en-US" sz="1600" dirty="0">
                <a:solidFill>
                  <a:srgbClr val="EDF3F8"/>
                </a:solidFill>
                <a:latin typeface="Arial" pitchFamily="34" charset="0"/>
                <a:ea typeface="Arial" pitchFamily="34" charset="-122"/>
                <a:cs typeface="Arial" pitchFamily="34" charset="-120"/>
              </a:rPr>
              <a:t>18.69%</a:t>
            </a:r>
            <a:endParaRPr lang="en-US" sz="1600" dirty="0"/>
          </a:p>
        </p:txBody>
      </p:sp>
      <p:sp>
        <p:nvSpPr>
          <p:cNvPr id="63" name="Text 61"/>
          <p:cNvSpPr txBox="1"/>
          <p:nvPr/>
        </p:nvSpPr>
        <p:spPr>
          <a:xfrm>
            <a:off x="711101" y="3210564"/>
            <a:ext cx="882003" cy="321084"/>
          </a:xfrm>
          <a:prstGeom prst="rect">
            <a:avLst/>
          </a:prstGeom>
          <a:noFill/>
          <a:ln/>
        </p:spPr>
        <p:txBody>
          <a:bodyPr wrap="square" lIns="0" tIns="0" rIns="0" bIns="0" rtlCol="0" anchor="t"/>
          <a:lstStyle/>
          <a:p>
            <a:pPr marL="0" indent="0" algn="l">
              <a:lnSpc>
                <a:spcPts val="1920"/>
              </a:lnSpc>
              <a:buNone/>
            </a:pPr>
            <a:r>
              <a:rPr lang="en-US" sz="1600" b="1" dirty="0">
                <a:solidFill>
                  <a:srgbClr val="EDF3F8"/>
                </a:solidFill>
                <a:latin typeface="Arial" pitchFamily="34" charset="0"/>
                <a:ea typeface="Arial" pitchFamily="34" charset="-122"/>
                <a:cs typeface="Arial" pitchFamily="34" charset="-120"/>
              </a:rPr>
              <a:t>2023</a:t>
            </a:r>
            <a:endParaRPr lang="en-US" sz="1600" dirty="0"/>
          </a:p>
        </p:txBody>
      </p:sp>
      <p:sp>
        <p:nvSpPr>
          <p:cNvPr id="64" name="Text 62"/>
          <p:cNvSpPr txBox="1"/>
          <p:nvPr/>
        </p:nvSpPr>
        <p:spPr>
          <a:xfrm>
            <a:off x="3241923" y="3210564"/>
            <a:ext cx="1236958" cy="321084"/>
          </a:xfrm>
          <a:prstGeom prst="rect">
            <a:avLst/>
          </a:prstGeom>
          <a:noFill/>
          <a:ln/>
        </p:spPr>
        <p:txBody>
          <a:bodyPr wrap="square" lIns="0" tIns="0" rIns="0" bIns="0" rtlCol="0" anchor="t"/>
          <a:lstStyle/>
          <a:p>
            <a:pPr marL="0" indent="0" algn="r">
              <a:lnSpc>
                <a:spcPts val="1920"/>
              </a:lnSpc>
              <a:buNone/>
            </a:pPr>
            <a:r>
              <a:rPr lang="en-US" sz="1600" dirty="0">
                <a:solidFill>
                  <a:srgbClr val="EDF3F8"/>
                </a:solidFill>
                <a:latin typeface="Arial" pitchFamily="34" charset="0"/>
                <a:ea typeface="Arial" pitchFamily="34" charset="-122"/>
                <a:cs typeface="Arial" pitchFamily="34" charset="-120"/>
              </a:rPr>
              <a:t>346,943</a:t>
            </a:r>
            <a:endParaRPr lang="en-US" sz="1600" dirty="0"/>
          </a:p>
        </p:txBody>
      </p:sp>
      <p:sp>
        <p:nvSpPr>
          <p:cNvPr id="65" name="Text 63"/>
          <p:cNvSpPr txBox="1"/>
          <p:nvPr/>
        </p:nvSpPr>
        <p:spPr>
          <a:xfrm>
            <a:off x="4451449" y="3210564"/>
            <a:ext cx="1021157" cy="321084"/>
          </a:xfrm>
          <a:prstGeom prst="rect">
            <a:avLst/>
          </a:prstGeom>
          <a:noFill/>
          <a:ln/>
        </p:spPr>
        <p:txBody>
          <a:bodyPr wrap="square" lIns="0" tIns="0" rIns="0" bIns="0" rtlCol="0" anchor="t"/>
          <a:lstStyle/>
          <a:p>
            <a:pPr marL="0" indent="0" algn="r">
              <a:lnSpc>
                <a:spcPts val="1920"/>
              </a:lnSpc>
              <a:buNone/>
            </a:pPr>
            <a:r>
              <a:rPr lang="en-US" sz="1600" dirty="0">
                <a:solidFill>
                  <a:srgbClr val="EDF3F8"/>
                </a:solidFill>
                <a:latin typeface="Arial" pitchFamily="34" charset="0"/>
                <a:ea typeface="Arial" pitchFamily="34" charset="-122"/>
                <a:cs typeface="Arial" pitchFamily="34" charset="-120"/>
              </a:rPr>
              <a:t>203,072</a:t>
            </a:r>
            <a:endParaRPr lang="en-US" sz="1600" dirty="0"/>
          </a:p>
        </p:txBody>
      </p:sp>
      <p:sp>
        <p:nvSpPr>
          <p:cNvPr id="66" name="Text 64"/>
          <p:cNvSpPr txBox="1"/>
          <p:nvPr/>
        </p:nvSpPr>
        <p:spPr>
          <a:xfrm>
            <a:off x="5445175" y="3210564"/>
            <a:ext cx="1165223" cy="321084"/>
          </a:xfrm>
          <a:prstGeom prst="rect">
            <a:avLst/>
          </a:prstGeom>
          <a:noFill/>
          <a:ln/>
        </p:spPr>
        <p:txBody>
          <a:bodyPr wrap="square" lIns="0" tIns="0" rIns="0" bIns="0" rtlCol="0" anchor="t"/>
          <a:lstStyle/>
          <a:p>
            <a:pPr marL="0" indent="0" algn="r">
              <a:lnSpc>
                <a:spcPts val="1920"/>
              </a:lnSpc>
              <a:buNone/>
            </a:pPr>
            <a:r>
              <a:rPr lang="en-US" sz="1600" dirty="0">
                <a:solidFill>
                  <a:srgbClr val="EDF3F8"/>
                </a:solidFill>
                <a:latin typeface="Arial" pitchFamily="34" charset="0"/>
                <a:ea typeface="Arial" pitchFamily="34" charset="-122"/>
                <a:cs typeface="Arial" pitchFamily="34" charset="-120"/>
              </a:rPr>
              <a:t>$72.7bn</a:t>
            </a:r>
            <a:endParaRPr lang="en-US" sz="1600" dirty="0"/>
          </a:p>
        </p:txBody>
      </p:sp>
      <p:sp>
        <p:nvSpPr>
          <p:cNvPr id="67" name="Text 65"/>
          <p:cNvSpPr txBox="1"/>
          <p:nvPr/>
        </p:nvSpPr>
        <p:spPr>
          <a:xfrm>
            <a:off x="6582966" y="3210564"/>
            <a:ext cx="952101" cy="321084"/>
          </a:xfrm>
          <a:prstGeom prst="rect">
            <a:avLst/>
          </a:prstGeom>
          <a:noFill/>
          <a:ln/>
        </p:spPr>
        <p:txBody>
          <a:bodyPr wrap="square" lIns="0" tIns="0" rIns="0" bIns="0" rtlCol="0" anchor="t"/>
          <a:lstStyle/>
          <a:p>
            <a:pPr marL="0" indent="0" algn="r">
              <a:lnSpc>
                <a:spcPts val="1920"/>
              </a:lnSpc>
              <a:buNone/>
            </a:pPr>
            <a:r>
              <a:rPr lang="en-US" sz="1600" dirty="0">
                <a:solidFill>
                  <a:srgbClr val="EDF3F8"/>
                </a:solidFill>
                <a:latin typeface="Arial" pitchFamily="34" charset="0"/>
                <a:ea typeface="Arial" pitchFamily="34" charset="-122"/>
                <a:cs typeface="Arial" pitchFamily="34" charset="-120"/>
              </a:rPr>
              <a:t>61.72%</a:t>
            </a:r>
            <a:endParaRPr lang="en-US" sz="1600" dirty="0"/>
          </a:p>
        </p:txBody>
      </p:sp>
      <p:sp>
        <p:nvSpPr>
          <p:cNvPr id="68" name="Text 66"/>
          <p:cNvSpPr txBox="1"/>
          <p:nvPr/>
        </p:nvSpPr>
        <p:spPr>
          <a:xfrm>
            <a:off x="7507635" y="3210564"/>
            <a:ext cx="952696" cy="321084"/>
          </a:xfrm>
          <a:prstGeom prst="rect">
            <a:avLst/>
          </a:prstGeom>
          <a:noFill/>
          <a:ln/>
        </p:spPr>
        <p:txBody>
          <a:bodyPr wrap="square" lIns="0" tIns="0" rIns="0" bIns="0" rtlCol="0" anchor="t"/>
          <a:lstStyle/>
          <a:p>
            <a:pPr marL="0" indent="0" algn="r">
              <a:lnSpc>
                <a:spcPts val="1920"/>
              </a:lnSpc>
              <a:buNone/>
            </a:pPr>
            <a:r>
              <a:rPr lang="en-US" sz="1600" dirty="0">
                <a:solidFill>
                  <a:srgbClr val="EDF3F8"/>
                </a:solidFill>
                <a:latin typeface="Arial" pitchFamily="34" charset="0"/>
                <a:ea typeface="Arial" pitchFamily="34" charset="-122"/>
                <a:cs typeface="Arial" pitchFamily="34" charset="-120"/>
              </a:rPr>
              <a:t>21.68%</a:t>
            </a:r>
            <a:endParaRPr lang="en-US" sz="1600" dirty="0"/>
          </a:p>
        </p:txBody>
      </p:sp>
      <p:sp>
        <p:nvSpPr>
          <p:cNvPr id="69" name="Text 67"/>
          <p:cNvSpPr txBox="1"/>
          <p:nvPr/>
        </p:nvSpPr>
        <p:spPr>
          <a:xfrm>
            <a:off x="711101" y="3950239"/>
            <a:ext cx="882003" cy="321084"/>
          </a:xfrm>
          <a:prstGeom prst="rect">
            <a:avLst/>
          </a:prstGeom>
          <a:noFill/>
          <a:ln/>
        </p:spPr>
        <p:txBody>
          <a:bodyPr wrap="square" lIns="0" tIns="0" rIns="0" bIns="0" rtlCol="0" anchor="t"/>
          <a:lstStyle/>
          <a:p>
            <a:pPr marL="0" indent="0" algn="l">
              <a:lnSpc>
                <a:spcPts val="1920"/>
              </a:lnSpc>
              <a:buNone/>
            </a:pPr>
            <a:r>
              <a:rPr lang="en-US" sz="1600" b="1" dirty="0">
                <a:solidFill>
                  <a:srgbClr val="EDF3F8"/>
                </a:solidFill>
                <a:latin typeface="Arial" pitchFamily="34" charset="0"/>
                <a:ea typeface="Arial" pitchFamily="34" charset="-122"/>
                <a:cs typeface="Arial" pitchFamily="34" charset="-120"/>
              </a:rPr>
              <a:t>2024</a:t>
            </a:r>
            <a:endParaRPr lang="en-US" sz="1600" dirty="0"/>
          </a:p>
        </p:txBody>
      </p:sp>
      <p:sp>
        <p:nvSpPr>
          <p:cNvPr id="70" name="Text 68"/>
          <p:cNvSpPr txBox="1"/>
          <p:nvPr/>
        </p:nvSpPr>
        <p:spPr>
          <a:xfrm>
            <a:off x="3241923" y="3950239"/>
            <a:ext cx="1236958" cy="321084"/>
          </a:xfrm>
          <a:prstGeom prst="rect">
            <a:avLst/>
          </a:prstGeom>
          <a:noFill/>
          <a:ln/>
        </p:spPr>
        <p:txBody>
          <a:bodyPr wrap="square" lIns="0" tIns="0" rIns="0" bIns="0" rtlCol="0" anchor="t"/>
          <a:lstStyle/>
          <a:p>
            <a:pPr marL="0" indent="0" algn="r">
              <a:lnSpc>
                <a:spcPts val="1920"/>
              </a:lnSpc>
              <a:buNone/>
            </a:pPr>
            <a:r>
              <a:rPr lang="en-US" sz="1600" dirty="0">
                <a:solidFill>
                  <a:srgbClr val="EDF3F8"/>
                </a:solidFill>
                <a:latin typeface="Arial" pitchFamily="34" charset="0"/>
                <a:ea typeface="Arial" pitchFamily="34" charset="-122"/>
                <a:cs typeface="Arial" pitchFamily="34" charset="-120"/>
              </a:rPr>
              <a:t>355,249</a:t>
            </a:r>
            <a:endParaRPr lang="en-US" sz="1600" dirty="0"/>
          </a:p>
        </p:txBody>
      </p:sp>
      <p:sp>
        <p:nvSpPr>
          <p:cNvPr id="71" name="Text 69"/>
          <p:cNvSpPr txBox="1"/>
          <p:nvPr/>
        </p:nvSpPr>
        <p:spPr>
          <a:xfrm>
            <a:off x="4451449" y="3950239"/>
            <a:ext cx="1021157" cy="321084"/>
          </a:xfrm>
          <a:prstGeom prst="rect">
            <a:avLst/>
          </a:prstGeom>
          <a:noFill/>
          <a:ln/>
        </p:spPr>
        <p:txBody>
          <a:bodyPr wrap="square" lIns="0" tIns="0" rIns="0" bIns="0" rtlCol="0" anchor="t"/>
          <a:lstStyle/>
          <a:p>
            <a:pPr marL="0" indent="0" algn="r">
              <a:lnSpc>
                <a:spcPts val="1920"/>
              </a:lnSpc>
              <a:buNone/>
            </a:pPr>
            <a:r>
              <a:rPr lang="en-US" sz="1600" dirty="0">
                <a:solidFill>
                  <a:srgbClr val="EDF3F8"/>
                </a:solidFill>
                <a:latin typeface="Arial" pitchFamily="34" charset="0"/>
                <a:ea typeface="Arial" pitchFamily="34" charset="-122"/>
                <a:cs typeface="Arial" pitchFamily="34" charset="-120"/>
              </a:rPr>
              <a:t>208,814</a:t>
            </a:r>
            <a:endParaRPr lang="en-US" sz="1600" dirty="0"/>
          </a:p>
        </p:txBody>
      </p:sp>
      <p:sp>
        <p:nvSpPr>
          <p:cNvPr id="72" name="Text 70"/>
          <p:cNvSpPr txBox="1"/>
          <p:nvPr/>
        </p:nvSpPr>
        <p:spPr>
          <a:xfrm>
            <a:off x="5445175" y="3950239"/>
            <a:ext cx="1165223" cy="321084"/>
          </a:xfrm>
          <a:prstGeom prst="rect">
            <a:avLst/>
          </a:prstGeom>
          <a:noFill/>
          <a:ln/>
        </p:spPr>
        <p:txBody>
          <a:bodyPr wrap="square" lIns="0" tIns="0" rIns="0" bIns="0" rtlCol="0" anchor="t"/>
          <a:lstStyle/>
          <a:p>
            <a:pPr marL="0" indent="0" algn="r">
              <a:lnSpc>
                <a:spcPts val="1920"/>
              </a:lnSpc>
              <a:buNone/>
            </a:pPr>
            <a:r>
              <a:rPr lang="en-US" sz="1600" dirty="0">
                <a:solidFill>
                  <a:srgbClr val="EDF3F8"/>
                </a:solidFill>
                <a:latin typeface="Arial" pitchFamily="34" charset="0"/>
                <a:ea typeface="Arial" pitchFamily="34" charset="-122"/>
                <a:cs typeface="Arial" pitchFamily="34" charset="-120"/>
              </a:rPr>
              <a:t>$76.9bn</a:t>
            </a:r>
            <a:endParaRPr lang="en-US" sz="1600" dirty="0"/>
          </a:p>
        </p:txBody>
      </p:sp>
      <p:sp>
        <p:nvSpPr>
          <p:cNvPr id="73" name="Text 71"/>
          <p:cNvSpPr txBox="1"/>
          <p:nvPr/>
        </p:nvSpPr>
        <p:spPr>
          <a:xfrm>
            <a:off x="6582966" y="3950239"/>
            <a:ext cx="952101" cy="321084"/>
          </a:xfrm>
          <a:prstGeom prst="rect">
            <a:avLst/>
          </a:prstGeom>
          <a:noFill/>
          <a:ln/>
        </p:spPr>
        <p:txBody>
          <a:bodyPr wrap="square" lIns="0" tIns="0" rIns="0" bIns="0" rtlCol="0" anchor="t"/>
          <a:lstStyle/>
          <a:p>
            <a:pPr marL="0" indent="0" algn="r">
              <a:lnSpc>
                <a:spcPts val="1920"/>
              </a:lnSpc>
              <a:buNone/>
            </a:pPr>
            <a:r>
              <a:rPr lang="en-US" sz="1600" dirty="0">
                <a:solidFill>
                  <a:srgbClr val="EDF3F8"/>
                </a:solidFill>
                <a:latin typeface="Arial" pitchFamily="34" charset="0"/>
                <a:ea typeface="Arial" pitchFamily="34" charset="-122"/>
                <a:cs typeface="Arial" pitchFamily="34" charset="-120"/>
              </a:rPr>
              <a:t>61.94%</a:t>
            </a:r>
            <a:endParaRPr lang="en-US" sz="1600" dirty="0"/>
          </a:p>
        </p:txBody>
      </p:sp>
      <p:sp>
        <p:nvSpPr>
          <p:cNvPr id="74" name="Text 72"/>
          <p:cNvSpPr txBox="1"/>
          <p:nvPr/>
        </p:nvSpPr>
        <p:spPr>
          <a:xfrm>
            <a:off x="7507635" y="3950239"/>
            <a:ext cx="952696" cy="321084"/>
          </a:xfrm>
          <a:prstGeom prst="rect">
            <a:avLst/>
          </a:prstGeom>
          <a:noFill/>
          <a:ln/>
        </p:spPr>
        <p:txBody>
          <a:bodyPr wrap="square" lIns="0" tIns="0" rIns="0" bIns="0" rtlCol="0" anchor="t"/>
          <a:lstStyle/>
          <a:p>
            <a:pPr marL="0" indent="0" algn="r">
              <a:lnSpc>
                <a:spcPts val="1920"/>
              </a:lnSpc>
              <a:buNone/>
            </a:pPr>
            <a:r>
              <a:rPr lang="en-US" sz="1600" dirty="0">
                <a:solidFill>
                  <a:srgbClr val="EDF3F8"/>
                </a:solidFill>
                <a:latin typeface="Arial" pitchFamily="34" charset="0"/>
                <a:ea typeface="Arial" pitchFamily="34" charset="-122"/>
                <a:cs typeface="Arial" pitchFamily="34" charset="-120"/>
              </a:rPr>
              <a:t>21.02%</a:t>
            </a:r>
            <a:endParaRPr lang="en-US" sz="1600" dirty="0"/>
          </a:p>
        </p:txBody>
      </p:sp>
      <p:sp>
        <p:nvSpPr>
          <p:cNvPr id="75" name="Text 73"/>
          <p:cNvSpPr txBox="1"/>
          <p:nvPr/>
        </p:nvSpPr>
        <p:spPr>
          <a:xfrm>
            <a:off x="711101" y="4689915"/>
            <a:ext cx="882003" cy="325847"/>
          </a:xfrm>
          <a:prstGeom prst="rect">
            <a:avLst/>
          </a:prstGeom>
          <a:noFill/>
          <a:ln/>
        </p:spPr>
        <p:txBody>
          <a:bodyPr wrap="square" lIns="0" tIns="0" rIns="0" bIns="0" rtlCol="0" anchor="t"/>
          <a:lstStyle/>
          <a:p>
            <a:pPr marL="0" indent="0" algn="l">
              <a:lnSpc>
                <a:spcPts val="1920"/>
              </a:lnSpc>
              <a:buNone/>
            </a:pPr>
            <a:r>
              <a:rPr lang="en-US" sz="1600" b="1" dirty="0">
                <a:solidFill>
                  <a:srgbClr val="EDF3F8"/>
                </a:solidFill>
                <a:latin typeface="Arial" pitchFamily="34" charset="0"/>
                <a:ea typeface="Arial" pitchFamily="34" charset="-122"/>
                <a:cs typeface="Arial" pitchFamily="34" charset="-120"/>
              </a:rPr>
              <a:t>2025</a:t>
            </a:r>
            <a:endParaRPr lang="en-US" sz="1600" dirty="0"/>
          </a:p>
        </p:txBody>
      </p:sp>
      <p:sp>
        <p:nvSpPr>
          <p:cNvPr id="76" name="Text 74"/>
          <p:cNvSpPr txBox="1"/>
          <p:nvPr/>
        </p:nvSpPr>
        <p:spPr>
          <a:xfrm>
            <a:off x="3241923" y="4689915"/>
            <a:ext cx="1236958" cy="325847"/>
          </a:xfrm>
          <a:prstGeom prst="rect">
            <a:avLst/>
          </a:prstGeom>
          <a:noFill/>
          <a:ln/>
        </p:spPr>
        <p:txBody>
          <a:bodyPr wrap="square" lIns="0" tIns="0" rIns="0" bIns="0" rtlCol="0" anchor="t"/>
          <a:lstStyle/>
          <a:p>
            <a:pPr marL="0" indent="0" algn="r">
              <a:lnSpc>
                <a:spcPts val="1920"/>
              </a:lnSpc>
              <a:buNone/>
            </a:pPr>
            <a:r>
              <a:rPr lang="en-US" sz="1600" dirty="0">
                <a:solidFill>
                  <a:srgbClr val="EDF3F8"/>
                </a:solidFill>
                <a:latin typeface="Arial" pitchFamily="34" charset="0"/>
                <a:ea typeface="Arial" pitchFamily="34" charset="-122"/>
                <a:cs typeface="Arial" pitchFamily="34" charset="-120"/>
              </a:rPr>
              <a:t>393,931</a:t>
            </a:r>
            <a:endParaRPr lang="en-US" sz="1600" dirty="0"/>
          </a:p>
        </p:txBody>
      </p:sp>
      <p:sp>
        <p:nvSpPr>
          <p:cNvPr id="77" name="Text 75"/>
          <p:cNvSpPr txBox="1"/>
          <p:nvPr/>
        </p:nvSpPr>
        <p:spPr>
          <a:xfrm>
            <a:off x="4451449" y="4689915"/>
            <a:ext cx="1021157" cy="325847"/>
          </a:xfrm>
          <a:prstGeom prst="rect">
            <a:avLst/>
          </a:prstGeom>
          <a:noFill/>
          <a:ln/>
        </p:spPr>
        <p:txBody>
          <a:bodyPr wrap="square" lIns="0" tIns="0" rIns="0" bIns="0" rtlCol="0" anchor="t"/>
          <a:lstStyle/>
          <a:p>
            <a:pPr marL="0" indent="0" algn="r">
              <a:lnSpc>
                <a:spcPts val="1920"/>
              </a:lnSpc>
              <a:buNone/>
            </a:pPr>
            <a:r>
              <a:rPr lang="en-US" sz="1600" dirty="0">
                <a:solidFill>
                  <a:srgbClr val="EDF3F8"/>
                </a:solidFill>
                <a:latin typeface="Arial" pitchFamily="34" charset="0"/>
                <a:ea typeface="Arial" pitchFamily="34" charset="-122"/>
                <a:cs typeface="Arial" pitchFamily="34" charset="-120"/>
              </a:rPr>
              <a:t>232,233</a:t>
            </a:r>
            <a:endParaRPr lang="en-US" sz="1600" dirty="0"/>
          </a:p>
        </p:txBody>
      </p:sp>
      <p:sp>
        <p:nvSpPr>
          <p:cNvPr id="78" name="Text 76"/>
          <p:cNvSpPr txBox="1"/>
          <p:nvPr/>
        </p:nvSpPr>
        <p:spPr>
          <a:xfrm>
            <a:off x="5445175" y="4689915"/>
            <a:ext cx="1165223" cy="325847"/>
          </a:xfrm>
          <a:prstGeom prst="rect">
            <a:avLst/>
          </a:prstGeom>
          <a:noFill/>
          <a:ln/>
        </p:spPr>
        <p:txBody>
          <a:bodyPr wrap="square" lIns="0" tIns="0" rIns="0" bIns="0" rtlCol="0" anchor="t"/>
          <a:lstStyle/>
          <a:p>
            <a:pPr marL="0" indent="0" algn="r">
              <a:lnSpc>
                <a:spcPts val="1920"/>
              </a:lnSpc>
              <a:buNone/>
            </a:pPr>
            <a:r>
              <a:rPr lang="en-US" sz="1600" dirty="0">
                <a:solidFill>
                  <a:srgbClr val="EDF3F8"/>
                </a:solidFill>
                <a:latin typeface="Arial" pitchFamily="34" charset="0"/>
                <a:ea typeface="Arial" pitchFamily="34" charset="-122"/>
                <a:cs typeface="Arial" pitchFamily="34" charset="-120"/>
              </a:rPr>
              <a:t>$93.3bn</a:t>
            </a:r>
            <a:endParaRPr lang="en-US" sz="1600" dirty="0"/>
          </a:p>
        </p:txBody>
      </p:sp>
      <p:sp>
        <p:nvSpPr>
          <p:cNvPr id="79" name="Text 77"/>
          <p:cNvSpPr txBox="1"/>
          <p:nvPr/>
        </p:nvSpPr>
        <p:spPr>
          <a:xfrm>
            <a:off x="6582966" y="4689915"/>
            <a:ext cx="952101" cy="325847"/>
          </a:xfrm>
          <a:prstGeom prst="rect">
            <a:avLst/>
          </a:prstGeom>
          <a:noFill/>
          <a:ln/>
        </p:spPr>
        <p:txBody>
          <a:bodyPr wrap="square" lIns="0" tIns="0" rIns="0" bIns="0" rtlCol="0" anchor="t"/>
          <a:lstStyle/>
          <a:p>
            <a:pPr marL="0" indent="0" algn="r">
              <a:lnSpc>
                <a:spcPts val="1920"/>
              </a:lnSpc>
              <a:buNone/>
            </a:pPr>
            <a:r>
              <a:rPr lang="en-US" sz="1600" dirty="0">
                <a:solidFill>
                  <a:srgbClr val="EDF3F8"/>
                </a:solidFill>
                <a:latin typeface="Arial" pitchFamily="34" charset="0"/>
                <a:ea typeface="Arial" pitchFamily="34" charset="-122"/>
                <a:cs typeface="Arial" pitchFamily="34" charset="-120"/>
              </a:rPr>
              <a:t>62.71%</a:t>
            </a:r>
            <a:endParaRPr lang="en-US" sz="1600" dirty="0"/>
          </a:p>
        </p:txBody>
      </p:sp>
      <p:sp>
        <p:nvSpPr>
          <p:cNvPr id="80" name="Text 78"/>
          <p:cNvSpPr txBox="1"/>
          <p:nvPr/>
        </p:nvSpPr>
        <p:spPr>
          <a:xfrm>
            <a:off x="7507635" y="4689915"/>
            <a:ext cx="952696" cy="325847"/>
          </a:xfrm>
          <a:prstGeom prst="rect">
            <a:avLst/>
          </a:prstGeom>
          <a:noFill/>
          <a:ln/>
        </p:spPr>
        <p:txBody>
          <a:bodyPr wrap="square" lIns="0" tIns="0" rIns="0" bIns="0" rtlCol="0" anchor="t"/>
          <a:lstStyle/>
          <a:p>
            <a:pPr marL="0" indent="0" algn="r">
              <a:lnSpc>
                <a:spcPts val="1920"/>
              </a:lnSpc>
              <a:buNone/>
            </a:pPr>
            <a:r>
              <a:rPr lang="en-US" sz="1600" dirty="0">
                <a:solidFill>
                  <a:srgbClr val="EDF3F8"/>
                </a:solidFill>
                <a:latin typeface="Arial" pitchFamily="34" charset="0"/>
                <a:ea typeface="Arial" pitchFamily="34" charset="-122"/>
                <a:cs typeface="Arial" pitchFamily="34" charset="-120"/>
              </a:rPr>
              <a:t>19.63%</a:t>
            </a:r>
            <a:endParaRPr lang="en-US" sz="1600" dirty="0"/>
          </a:p>
        </p:txBody>
      </p:sp>
      <p:sp>
        <p:nvSpPr>
          <p:cNvPr id="81" name="Text 79"/>
          <p:cNvSpPr txBox="1"/>
          <p:nvPr/>
        </p:nvSpPr>
        <p:spPr>
          <a:xfrm>
            <a:off x="711101" y="5358153"/>
            <a:ext cx="882003" cy="321084"/>
          </a:xfrm>
          <a:prstGeom prst="rect">
            <a:avLst/>
          </a:prstGeom>
          <a:noFill/>
          <a:ln/>
        </p:spPr>
        <p:txBody>
          <a:bodyPr wrap="square" lIns="0" tIns="0" rIns="0" bIns="0" rtlCol="0" anchor="t"/>
          <a:lstStyle/>
          <a:p>
            <a:pPr marL="0" indent="0" algn="l">
              <a:lnSpc>
                <a:spcPts val="1920"/>
              </a:lnSpc>
              <a:buNone/>
            </a:pPr>
            <a:r>
              <a:rPr lang="en-US" sz="1600" b="1" dirty="0">
                <a:solidFill>
                  <a:srgbClr val="E3B341"/>
                </a:solidFill>
                <a:latin typeface="Arial" pitchFamily="34" charset="0"/>
                <a:ea typeface="Arial" pitchFamily="34" charset="-122"/>
                <a:cs typeface="Arial" pitchFamily="34" charset="-120"/>
              </a:rPr>
              <a:t>All four</a:t>
            </a:r>
            <a:endParaRPr lang="en-US" sz="1600" dirty="0"/>
          </a:p>
        </p:txBody>
      </p:sp>
      <p:sp>
        <p:nvSpPr>
          <p:cNvPr id="82" name="Text 80"/>
          <p:cNvSpPr txBox="1"/>
          <p:nvPr/>
        </p:nvSpPr>
        <p:spPr>
          <a:xfrm>
            <a:off x="3241923" y="5358153"/>
            <a:ext cx="1236958" cy="321084"/>
          </a:xfrm>
          <a:prstGeom prst="rect">
            <a:avLst/>
          </a:prstGeom>
          <a:noFill/>
          <a:ln/>
        </p:spPr>
        <p:txBody>
          <a:bodyPr wrap="square" lIns="0" tIns="0" rIns="0" bIns="0" rtlCol="0" anchor="t"/>
          <a:lstStyle/>
          <a:p>
            <a:pPr marL="0" indent="0" algn="r">
              <a:lnSpc>
                <a:spcPts val="1920"/>
              </a:lnSpc>
              <a:buNone/>
            </a:pPr>
            <a:r>
              <a:rPr lang="en-US" sz="1600" b="1" dirty="0">
                <a:solidFill>
                  <a:srgbClr val="E3B341"/>
                </a:solidFill>
                <a:latin typeface="Arial" pitchFamily="34" charset="0"/>
                <a:ea typeface="Arial" pitchFamily="34" charset="-122"/>
                <a:cs typeface="Arial" pitchFamily="34" charset="-120"/>
              </a:rPr>
              <a:t>1,596,676</a:t>
            </a:r>
            <a:endParaRPr lang="en-US" sz="1600" dirty="0"/>
          </a:p>
        </p:txBody>
      </p:sp>
      <p:sp>
        <p:nvSpPr>
          <p:cNvPr id="83" name="Text 81"/>
          <p:cNvSpPr txBox="1"/>
          <p:nvPr/>
        </p:nvSpPr>
        <p:spPr>
          <a:xfrm>
            <a:off x="4451449" y="5358153"/>
            <a:ext cx="1021157" cy="321084"/>
          </a:xfrm>
          <a:prstGeom prst="rect">
            <a:avLst/>
          </a:prstGeom>
          <a:noFill/>
          <a:ln/>
        </p:spPr>
        <p:txBody>
          <a:bodyPr wrap="square" lIns="0" tIns="0" rIns="0" bIns="0" rtlCol="0" anchor="t"/>
          <a:lstStyle/>
          <a:p>
            <a:pPr marL="0" indent="0" algn="r">
              <a:lnSpc>
                <a:spcPts val="1920"/>
              </a:lnSpc>
              <a:buNone/>
            </a:pPr>
            <a:r>
              <a:rPr lang="en-US" sz="1600" b="1" dirty="0">
                <a:solidFill>
                  <a:srgbClr val="E3B341"/>
                </a:solidFill>
                <a:latin typeface="Arial" pitchFamily="34" charset="0"/>
                <a:ea typeface="Arial" pitchFamily="34" charset="-122"/>
                <a:cs typeface="Arial" pitchFamily="34" charset="-120"/>
              </a:rPr>
              <a:t>951,371</a:t>
            </a:r>
            <a:endParaRPr lang="en-US" sz="1600" dirty="0"/>
          </a:p>
        </p:txBody>
      </p:sp>
      <p:sp>
        <p:nvSpPr>
          <p:cNvPr id="84" name="Text 82"/>
          <p:cNvSpPr txBox="1"/>
          <p:nvPr/>
        </p:nvSpPr>
        <p:spPr>
          <a:xfrm>
            <a:off x="5445175" y="5358153"/>
            <a:ext cx="1165223" cy="321084"/>
          </a:xfrm>
          <a:prstGeom prst="rect">
            <a:avLst/>
          </a:prstGeom>
          <a:noFill/>
          <a:ln/>
        </p:spPr>
        <p:txBody>
          <a:bodyPr wrap="square" lIns="0" tIns="0" rIns="0" bIns="0" rtlCol="0" anchor="t"/>
          <a:lstStyle/>
          <a:p>
            <a:pPr marL="0" indent="0" algn="r">
              <a:lnSpc>
                <a:spcPts val="1920"/>
              </a:lnSpc>
              <a:buNone/>
            </a:pPr>
            <a:r>
              <a:rPr lang="en-US" sz="1600" b="1" dirty="0">
                <a:solidFill>
                  <a:srgbClr val="E3B341"/>
                </a:solidFill>
                <a:latin typeface="Arial" pitchFamily="34" charset="0"/>
                <a:ea typeface="Arial" pitchFamily="34" charset="-122"/>
                <a:cs typeface="Arial" pitchFamily="34" charset="-120"/>
              </a:rPr>
              <a:t>$371.4bn</a:t>
            </a:r>
            <a:endParaRPr lang="en-US" sz="1600" dirty="0"/>
          </a:p>
        </p:txBody>
      </p:sp>
      <p:sp>
        <p:nvSpPr>
          <p:cNvPr id="85" name="Text 83"/>
          <p:cNvSpPr txBox="1"/>
          <p:nvPr/>
        </p:nvSpPr>
        <p:spPr>
          <a:xfrm>
            <a:off x="6582966" y="5358153"/>
            <a:ext cx="952101" cy="321084"/>
          </a:xfrm>
          <a:prstGeom prst="rect">
            <a:avLst/>
          </a:prstGeom>
          <a:noFill/>
          <a:ln/>
        </p:spPr>
        <p:txBody>
          <a:bodyPr wrap="square" lIns="0" tIns="0" rIns="0" bIns="0" rtlCol="0" anchor="t"/>
          <a:lstStyle/>
          <a:p>
            <a:pPr marL="0" indent="0" algn="r">
              <a:lnSpc>
                <a:spcPts val="1920"/>
              </a:lnSpc>
              <a:buNone/>
            </a:pPr>
            <a:r>
              <a:rPr lang="en-US" sz="1600" b="1" dirty="0">
                <a:solidFill>
                  <a:srgbClr val="E3B341"/>
                </a:solidFill>
                <a:latin typeface="Arial" pitchFamily="34" charset="0"/>
                <a:ea typeface="Arial" pitchFamily="34" charset="-122"/>
                <a:cs typeface="Arial" pitchFamily="34" charset="-120"/>
              </a:rPr>
              <a:t>62.85%</a:t>
            </a:r>
            <a:endParaRPr lang="en-US" sz="1600" dirty="0"/>
          </a:p>
        </p:txBody>
      </p:sp>
      <p:sp>
        <p:nvSpPr>
          <p:cNvPr id="86" name="Text 84"/>
          <p:cNvSpPr txBox="1"/>
          <p:nvPr/>
        </p:nvSpPr>
        <p:spPr>
          <a:xfrm>
            <a:off x="7507635" y="5358153"/>
            <a:ext cx="952696" cy="321084"/>
          </a:xfrm>
          <a:prstGeom prst="rect">
            <a:avLst/>
          </a:prstGeom>
          <a:noFill/>
          <a:ln/>
        </p:spPr>
        <p:txBody>
          <a:bodyPr wrap="square" lIns="0" tIns="0" rIns="0" bIns="0" rtlCol="0" anchor="t"/>
          <a:lstStyle/>
          <a:p>
            <a:pPr marL="0" indent="0" algn="r">
              <a:lnSpc>
                <a:spcPts val="1920"/>
              </a:lnSpc>
              <a:buNone/>
            </a:pPr>
            <a:r>
              <a:rPr lang="en-US" sz="1600" b="1" dirty="0">
                <a:solidFill>
                  <a:srgbClr val="E3B341"/>
                </a:solidFill>
                <a:latin typeface="Arial" pitchFamily="34" charset="0"/>
                <a:ea typeface="Arial" pitchFamily="34" charset="-122"/>
                <a:cs typeface="Arial" pitchFamily="34" charset="-120"/>
              </a:rPr>
              <a:t>20.09%</a:t>
            </a:r>
            <a:endParaRPr lang="en-US" sz="1600" dirty="0"/>
          </a:p>
        </p:txBody>
      </p:sp>
      <p:sp>
        <p:nvSpPr>
          <p:cNvPr id="87" name="Text 85"/>
          <p:cNvSpPr txBox="1"/>
          <p:nvPr/>
        </p:nvSpPr>
        <p:spPr>
          <a:xfrm>
            <a:off x="711101" y="7733550"/>
            <a:ext cx="7749230" cy="782104"/>
          </a:xfrm>
          <a:prstGeom prst="rect">
            <a:avLst/>
          </a:prstGeom>
          <a:noFill/>
          <a:ln/>
        </p:spPr>
        <p:txBody>
          <a:bodyPr wrap="square" lIns="0" tIns="0" rIns="0" bIns="0" rtlCol="0" anchor="t"/>
          <a:lstStyle/>
          <a:p>
            <a:pPr marL="0" indent="0" algn="l">
              <a:lnSpc>
                <a:spcPts val="1860"/>
              </a:lnSpc>
              <a:buNone/>
            </a:pPr>
            <a:r>
              <a:rPr lang="en-US" sz="1400" b="1" dirty="0">
                <a:solidFill>
                  <a:srgbClr val="EDF3F8"/>
                </a:solidFill>
                <a:latin typeface="Arial" pitchFamily="34" charset="0"/>
                <a:ea typeface="Arial" pitchFamily="34" charset="-122"/>
                <a:cs typeface="Arial" pitchFamily="34" charset="-120"/>
              </a:rPr>
              <a:t>Applications fell 30.7 percent from 2022 to 2023 and have recovered 13.5 percent since.</a:t>
            </a:r>
            <a:r>
              <a:rPr lang="en-US" sz="1400" dirty="0">
                <a:solidFill>
                  <a:srgbClr val="A8BECF"/>
                </a:solidFill>
                <a:latin typeface="Arial" pitchFamily="34" charset="0"/>
                <a:ea typeface="Arial" pitchFamily="34" charset="-122"/>
                <a:cs typeface="Arial" pitchFamily="34" charset="-120"/>
              </a:rPr>
              <a:t> Approval bottomed in 2023 at 61.72 percent and denial peaked the same year at 21.68. 2022 is a three-year file and 2025 is provisional, so the four vintages are not equally complete.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11101" y="2427833"/>
            <a:ext cx="2455366" cy="1509117"/>
          </a:xfrm>
          <a:prstGeom prst="roundRect">
            <a:avLst>
              <a:gd name="adj" fmla="val 4079"/>
            </a:avLst>
          </a:prstGeom>
          <a:solidFill>
            <a:srgbClr val="122738"/>
          </a:solidFill>
          <a:ln/>
        </p:spPr>
      </p:sp>
      <p:sp>
        <p:nvSpPr>
          <p:cNvPr id="3" name="Shape 1"/>
          <p:cNvSpPr/>
          <p:nvPr/>
        </p:nvSpPr>
        <p:spPr>
          <a:xfrm>
            <a:off x="711101" y="2427833"/>
            <a:ext cx="38100" cy="1509117"/>
          </a:xfrm>
          <a:prstGeom prst="rect">
            <a:avLst/>
          </a:prstGeom>
          <a:solidFill>
            <a:srgbClr val="B48706"/>
          </a:solidFill>
          <a:ln/>
        </p:spPr>
      </p:sp>
      <p:sp>
        <p:nvSpPr>
          <p:cNvPr id="4" name="Shape 2"/>
          <p:cNvSpPr/>
          <p:nvPr/>
        </p:nvSpPr>
        <p:spPr>
          <a:xfrm>
            <a:off x="3344168" y="2427833"/>
            <a:ext cx="2455515" cy="1509117"/>
          </a:xfrm>
          <a:prstGeom prst="roundRect">
            <a:avLst>
              <a:gd name="adj" fmla="val 4079"/>
            </a:avLst>
          </a:prstGeom>
          <a:solidFill>
            <a:srgbClr val="122738"/>
          </a:solidFill>
          <a:ln/>
        </p:spPr>
      </p:sp>
      <p:sp>
        <p:nvSpPr>
          <p:cNvPr id="5" name="Shape 3"/>
          <p:cNvSpPr/>
          <p:nvPr/>
        </p:nvSpPr>
        <p:spPr>
          <a:xfrm>
            <a:off x="3344168" y="2427833"/>
            <a:ext cx="38100" cy="1509117"/>
          </a:xfrm>
          <a:prstGeom prst="rect">
            <a:avLst/>
          </a:prstGeom>
          <a:solidFill>
            <a:srgbClr val="B48706"/>
          </a:solidFill>
          <a:ln/>
        </p:spPr>
      </p:sp>
      <p:sp>
        <p:nvSpPr>
          <p:cNvPr id="6" name="Shape 4"/>
          <p:cNvSpPr/>
          <p:nvPr/>
        </p:nvSpPr>
        <p:spPr>
          <a:xfrm>
            <a:off x="5977384" y="2427833"/>
            <a:ext cx="2455366" cy="1509117"/>
          </a:xfrm>
          <a:prstGeom prst="roundRect">
            <a:avLst>
              <a:gd name="adj" fmla="val 4079"/>
            </a:avLst>
          </a:prstGeom>
          <a:solidFill>
            <a:srgbClr val="122738"/>
          </a:solidFill>
          <a:ln/>
        </p:spPr>
      </p:sp>
      <p:sp>
        <p:nvSpPr>
          <p:cNvPr id="7" name="Shape 5"/>
          <p:cNvSpPr/>
          <p:nvPr/>
        </p:nvSpPr>
        <p:spPr>
          <a:xfrm>
            <a:off x="5977384" y="2427833"/>
            <a:ext cx="38100" cy="1509117"/>
          </a:xfrm>
          <a:prstGeom prst="rect">
            <a:avLst/>
          </a:prstGeom>
          <a:solidFill>
            <a:srgbClr val="B48706"/>
          </a:solidFill>
          <a:ln/>
        </p:spPr>
      </p:sp>
      <p:sp>
        <p:nvSpPr>
          <p:cNvPr id="8" name="Shape 6"/>
          <p:cNvSpPr/>
          <p:nvPr/>
        </p:nvSpPr>
        <p:spPr>
          <a:xfrm>
            <a:off x="711101" y="4114651"/>
            <a:ext cx="2455366" cy="1329184"/>
          </a:xfrm>
          <a:prstGeom prst="roundRect">
            <a:avLst>
              <a:gd name="adj" fmla="val 5258"/>
            </a:avLst>
          </a:prstGeom>
          <a:solidFill>
            <a:srgbClr val="122738"/>
          </a:solidFill>
          <a:ln/>
        </p:spPr>
      </p:sp>
      <p:sp>
        <p:nvSpPr>
          <p:cNvPr id="9" name="Shape 7"/>
          <p:cNvSpPr/>
          <p:nvPr/>
        </p:nvSpPr>
        <p:spPr>
          <a:xfrm>
            <a:off x="711101" y="4114651"/>
            <a:ext cx="38100" cy="1329184"/>
          </a:xfrm>
          <a:prstGeom prst="rect">
            <a:avLst/>
          </a:prstGeom>
          <a:solidFill>
            <a:srgbClr val="3E84C8"/>
          </a:solidFill>
          <a:ln/>
        </p:spPr>
      </p:sp>
      <p:sp>
        <p:nvSpPr>
          <p:cNvPr id="10" name="Shape 8"/>
          <p:cNvSpPr/>
          <p:nvPr/>
        </p:nvSpPr>
        <p:spPr>
          <a:xfrm>
            <a:off x="3344168" y="4114651"/>
            <a:ext cx="2455515" cy="1329184"/>
          </a:xfrm>
          <a:prstGeom prst="roundRect">
            <a:avLst>
              <a:gd name="adj" fmla="val 5258"/>
            </a:avLst>
          </a:prstGeom>
          <a:solidFill>
            <a:srgbClr val="122738"/>
          </a:solidFill>
          <a:ln/>
        </p:spPr>
      </p:sp>
      <p:sp>
        <p:nvSpPr>
          <p:cNvPr id="11" name="Shape 9"/>
          <p:cNvSpPr/>
          <p:nvPr/>
        </p:nvSpPr>
        <p:spPr>
          <a:xfrm>
            <a:off x="3344168" y="4114651"/>
            <a:ext cx="38100" cy="1329184"/>
          </a:xfrm>
          <a:prstGeom prst="rect">
            <a:avLst/>
          </a:prstGeom>
          <a:solidFill>
            <a:srgbClr val="3E84C8"/>
          </a:solidFill>
          <a:ln/>
        </p:spPr>
      </p:sp>
      <p:sp>
        <p:nvSpPr>
          <p:cNvPr id="12" name="Shape 10"/>
          <p:cNvSpPr/>
          <p:nvPr/>
        </p:nvSpPr>
        <p:spPr>
          <a:xfrm>
            <a:off x="5977384" y="4114651"/>
            <a:ext cx="2455366" cy="1329184"/>
          </a:xfrm>
          <a:prstGeom prst="roundRect">
            <a:avLst>
              <a:gd name="adj" fmla="val 5258"/>
            </a:avLst>
          </a:prstGeom>
          <a:solidFill>
            <a:srgbClr val="122738"/>
          </a:solidFill>
          <a:ln/>
        </p:spPr>
      </p:sp>
      <p:sp>
        <p:nvSpPr>
          <p:cNvPr id="13" name="Shape 11"/>
          <p:cNvSpPr/>
          <p:nvPr/>
        </p:nvSpPr>
        <p:spPr>
          <a:xfrm>
            <a:off x="5977384" y="4114651"/>
            <a:ext cx="38100" cy="1329184"/>
          </a:xfrm>
          <a:prstGeom prst="rect">
            <a:avLst/>
          </a:prstGeom>
          <a:solidFill>
            <a:srgbClr val="3E84C8"/>
          </a:solidFill>
          <a:ln/>
        </p:spPr>
      </p:sp>
      <p:sp>
        <p:nvSpPr>
          <p:cNvPr id="14" name="Shape 12"/>
          <p:cNvSpPr/>
          <p:nvPr/>
        </p:nvSpPr>
        <p:spPr>
          <a:xfrm>
            <a:off x="711101" y="7300615"/>
            <a:ext cx="7721798" cy="9525"/>
          </a:xfrm>
          <a:prstGeom prst="rect">
            <a:avLst/>
          </a:prstGeom>
          <a:solidFill>
            <a:srgbClr val="24415C"/>
          </a:solidFill>
          <a:ln/>
        </p:spPr>
      </p:sp>
      <p:sp>
        <p:nvSpPr>
          <p:cNvPr id="15" name="Text 13"/>
          <p:cNvSpPr txBox="1"/>
          <p:nvPr/>
        </p:nvSpPr>
        <p:spPr>
          <a:xfrm>
            <a:off x="711101" y="628346"/>
            <a:ext cx="7749230" cy="264033"/>
          </a:xfrm>
          <a:prstGeom prst="rect">
            <a:avLst/>
          </a:prstGeom>
          <a:noFill/>
          <a:ln/>
        </p:spPr>
        <p:txBody>
          <a:bodyPr wrap="square" lIns="0" tIns="0" rIns="0" bIns="0" rtlCol="0" anchor="t"/>
          <a:lstStyle/>
          <a:p>
            <a:pPr marL="0" indent="0" algn="l">
              <a:lnSpc>
                <a:spcPts val="1560"/>
              </a:lnSpc>
              <a:buNone/>
            </a:pPr>
            <a:r>
              <a:rPr lang="en-US" sz="1300" b="1" kern="0" spc="416" dirty="0">
                <a:solidFill>
                  <a:srgbClr val="E3B341"/>
                </a:solidFill>
                <a:latin typeface="Arial" pitchFamily="34" charset="0"/>
                <a:ea typeface="Arial" pitchFamily="34" charset="-122"/>
                <a:cs typeface="Arial" pitchFamily="34" charset="-120"/>
              </a:rPr>
              <a:t>THE TYPICAL LOAN</a:t>
            </a:r>
            <a:endParaRPr lang="en-US" sz="1300" dirty="0"/>
          </a:p>
        </p:txBody>
      </p:sp>
      <p:sp>
        <p:nvSpPr>
          <p:cNvPr id="16" name="Text 14"/>
          <p:cNvSpPr txBox="1"/>
          <p:nvPr/>
        </p:nvSpPr>
        <p:spPr>
          <a:xfrm>
            <a:off x="711101" y="1031522"/>
            <a:ext cx="7749230" cy="996565"/>
          </a:xfrm>
          <a:prstGeom prst="rect">
            <a:avLst/>
          </a:prstGeom>
          <a:noFill/>
          <a:ln/>
        </p:spPr>
        <p:txBody>
          <a:bodyPr wrap="square" lIns="0" tIns="0" rIns="0" bIns="0" rtlCol="0" anchor="t"/>
          <a:lstStyle/>
          <a:p>
            <a:pPr marL="0" indent="0" algn="l">
              <a:lnSpc>
                <a:spcPts val="3672"/>
              </a:lnSpc>
              <a:buNone/>
            </a:pPr>
            <a:r>
              <a:rPr lang="en-US" sz="3400" b="1" kern="0" spc="-48" dirty="0">
                <a:solidFill>
                  <a:srgbClr val="EDF3F8"/>
                </a:solidFill>
                <a:latin typeface="Arial" pitchFamily="34" charset="0"/>
                <a:ea typeface="Arial" pitchFamily="34" charset="-122"/>
                <a:cs typeface="Arial" pitchFamily="34" charset="-120"/>
              </a:rPr>
              <a:t>What a New York mortgage</a:t>
            </a:r>
            <a:endParaRPr lang="en-US" sz="3400" dirty="0"/>
          </a:p>
          <a:p>
            <a:pPr marL="0" indent="0" algn="l">
              <a:lnSpc>
                <a:spcPts val="3672"/>
              </a:lnSpc>
              <a:buNone/>
            </a:pPr>
            <a:r>
              <a:rPr lang="en-US" sz="3400" b="1" kern="0" spc="-48" dirty="0">
                <a:solidFill>
                  <a:srgbClr val="EDF3F8"/>
                </a:solidFill>
                <a:latin typeface="Arial" pitchFamily="34" charset="0"/>
                <a:ea typeface="Arial" pitchFamily="34" charset="-122"/>
                <a:cs typeface="Arial" pitchFamily="34" charset="-120"/>
              </a:rPr>
              <a:t>actually looks like</a:t>
            </a:r>
            <a:endParaRPr lang="en-US" sz="3400" dirty="0"/>
          </a:p>
        </p:txBody>
      </p:sp>
      <p:sp>
        <p:nvSpPr>
          <p:cNvPr id="17" name="Text 15"/>
          <p:cNvSpPr txBox="1"/>
          <p:nvPr/>
        </p:nvSpPr>
        <p:spPr>
          <a:xfrm>
            <a:off x="1028551" y="2725930"/>
            <a:ext cx="1885998" cy="464058"/>
          </a:xfrm>
          <a:prstGeom prst="rect">
            <a:avLst/>
          </a:prstGeom>
          <a:noFill/>
          <a:ln/>
        </p:spPr>
        <p:txBody>
          <a:bodyPr wrap="square" lIns="0" tIns="0" rIns="0" bIns="0" rtlCol="0" anchor="t"/>
          <a:lstStyle/>
          <a:p>
            <a:pPr marL="0" indent="0" algn="l">
              <a:lnSpc>
                <a:spcPts val="3150"/>
              </a:lnSpc>
              <a:buNone/>
            </a:pPr>
            <a:r>
              <a:rPr lang="en-US" sz="3000" b="1" kern="0" spc="-60" dirty="0">
                <a:solidFill>
                  <a:srgbClr val="EDF3F8"/>
                </a:solidFill>
                <a:latin typeface="Arial" pitchFamily="34" charset="0"/>
                <a:ea typeface="Arial" pitchFamily="34" charset="-122"/>
                <a:cs typeface="Arial" pitchFamily="34" charset="-120"/>
              </a:rPr>
              <a:t>$127,000</a:t>
            </a:r>
            <a:endParaRPr lang="en-US" sz="3000" dirty="0"/>
          </a:p>
        </p:txBody>
      </p:sp>
      <p:sp>
        <p:nvSpPr>
          <p:cNvPr id="18" name="Text 16"/>
          <p:cNvSpPr txBox="1"/>
          <p:nvPr/>
        </p:nvSpPr>
        <p:spPr>
          <a:xfrm>
            <a:off x="1028551" y="3240280"/>
            <a:ext cx="1885998" cy="423874"/>
          </a:xfrm>
          <a:prstGeom prst="rect">
            <a:avLst/>
          </a:prstGeom>
          <a:noFill/>
          <a:ln/>
        </p:spPr>
        <p:txBody>
          <a:bodyPr wrap="square" lIns="0" tIns="0" rIns="0" bIns="0" rtlCol="0" anchor="t"/>
          <a:lstStyle/>
          <a:p>
            <a:pPr marL="0" indent="0" algn="l">
              <a:lnSpc>
                <a:spcPts val="1418"/>
              </a:lnSpc>
              <a:buNone/>
            </a:pPr>
            <a:r>
              <a:rPr lang="en-US" sz="1050" kern="0" spc="42" dirty="0">
                <a:solidFill>
                  <a:srgbClr val="71909F"/>
                </a:solidFill>
                <a:latin typeface="Arial" pitchFamily="34" charset="0"/>
                <a:ea typeface="Arial" pitchFamily="34" charset="-122"/>
                <a:cs typeface="Arial" pitchFamily="34" charset="-120"/>
              </a:rPr>
              <a:t>MEDIAN APPLICANT INCOME</a:t>
            </a:r>
            <a:endParaRPr lang="en-US" sz="1050" dirty="0"/>
          </a:p>
        </p:txBody>
      </p:sp>
      <p:sp>
        <p:nvSpPr>
          <p:cNvPr id="19" name="Text 17"/>
          <p:cNvSpPr txBox="1"/>
          <p:nvPr/>
        </p:nvSpPr>
        <p:spPr>
          <a:xfrm>
            <a:off x="3661618" y="2725930"/>
            <a:ext cx="1886146" cy="464058"/>
          </a:xfrm>
          <a:prstGeom prst="rect">
            <a:avLst/>
          </a:prstGeom>
          <a:noFill/>
          <a:ln/>
        </p:spPr>
        <p:txBody>
          <a:bodyPr wrap="square" lIns="0" tIns="0" rIns="0" bIns="0" rtlCol="0" anchor="t"/>
          <a:lstStyle/>
          <a:p>
            <a:pPr marL="0" indent="0" algn="l">
              <a:lnSpc>
                <a:spcPts val="3150"/>
              </a:lnSpc>
              <a:buNone/>
            </a:pPr>
            <a:r>
              <a:rPr lang="en-US" sz="3000" b="1" kern="0" spc="-60" dirty="0">
                <a:solidFill>
                  <a:srgbClr val="EDF3F8"/>
                </a:solidFill>
                <a:latin typeface="Arial" pitchFamily="34" charset="0"/>
                <a:ea typeface="Arial" pitchFamily="34" charset="-122"/>
                <a:cs typeface="Arial" pitchFamily="34" charset="-120"/>
              </a:rPr>
              <a:t>$475,000</a:t>
            </a:r>
            <a:endParaRPr lang="en-US" sz="3000" dirty="0"/>
          </a:p>
        </p:txBody>
      </p:sp>
      <p:sp>
        <p:nvSpPr>
          <p:cNvPr id="20" name="Text 18"/>
          <p:cNvSpPr txBox="1"/>
          <p:nvPr/>
        </p:nvSpPr>
        <p:spPr>
          <a:xfrm>
            <a:off x="3661618" y="3240280"/>
            <a:ext cx="1886146" cy="243941"/>
          </a:xfrm>
          <a:prstGeom prst="rect">
            <a:avLst/>
          </a:prstGeom>
          <a:noFill/>
          <a:ln/>
        </p:spPr>
        <p:txBody>
          <a:bodyPr wrap="square" lIns="0" tIns="0" rIns="0" bIns="0" rtlCol="0" anchor="t"/>
          <a:lstStyle/>
          <a:p>
            <a:pPr marL="0" indent="0" algn="l">
              <a:lnSpc>
                <a:spcPts val="1418"/>
              </a:lnSpc>
              <a:buNone/>
            </a:pPr>
            <a:r>
              <a:rPr lang="en-US" sz="1050" kern="0" spc="42" dirty="0">
                <a:solidFill>
                  <a:srgbClr val="71909F"/>
                </a:solidFill>
                <a:latin typeface="Arial" pitchFamily="34" charset="0"/>
                <a:ea typeface="Arial" pitchFamily="34" charset="-122"/>
                <a:cs typeface="Arial" pitchFamily="34" charset="-120"/>
              </a:rPr>
              <a:t>MEDIAN PROPERTY VALUE</a:t>
            </a:r>
            <a:endParaRPr lang="en-US" sz="1050" dirty="0"/>
          </a:p>
        </p:txBody>
      </p:sp>
      <p:sp>
        <p:nvSpPr>
          <p:cNvPr id="21" name="Text 19"/>
          <p:cNvSpPr txBox="1"/>
          <p:nvPr/>
        </p:nvSpPr>
        <p:spPr>
          <a:xfrm>
            <a:off x="6294834" y="2725930"/>
            <a:ext cx="1885998" cy="464058"/>
          </a:xfrm>
          <a:prstGeom prst="rect">
            <a:avLst/>
          </a:prstGeom>
          <a:noFill/>
          <a:ln/>
        </p:spPr>
        <p:txBody>
          <a:bodyPr wrap="square" lIns="0" tIns="0" rIns="0" bIns="0" rtlCol="0" anchor="t"/>
          <a:lstStyle/>
          <a:p>
            <a:pPr marL="0" indent="0" algn="l">
              <a:lnSpc>
                <a:spcPts val="3150"/>
              </a:lnSpc>
              <a:buNone/>
            </a:pPr>
            <a:r>
              <a:rPr lang="en-US" sz="3000" b="1" kern="0" spc="-60" dirty="0">
                <a:solidFill>
                  <a:srgbClr val="EDF3F8"/>
                </a:solidFill>
                <a:latin typeface="Arial" pitchFamily="34" charset="0"/>
                <a:ea typeface="Arial" pitchFamily="34" charset="-122"/>
                <a:cs typeface="Arial" pitchFamily="34" charset="-120"/>
              </a:rPr>
              <a:t>$245,000</a:t>
            </a:r>
            <a:endParaRPr lang="en-US" sz="3000" dirty="0"/>
          </a:p>
        </p:txBody>
      </p:sp>
      <p:sp>
        <p:nvSpPr>
          <p:cNvPr id="22" name="Text 20"/>
          <p:cNvSpPr txBox="1"/>
          <p:nvPr/>
        </p:nvSpPr>
        <p:spPr>
          <a:xfrm>
            <a:off x="6294834" y="3240280"/>
            <a:ext cx="1885998" cy="243941"/>
          </a:xfrm>
          <a:prstGeom prst="rect">
            <a:avLst/>
          </a:prstGeom>
          <a:noFill/>
          <a:ln/>
        </p:spPr>
        <p:txBody>
          <a:bodyPr wrap="square" lIns="0" tIns="0" rIns="0" bIns="0" rtlCol="0" anchor="t"/>
          <a:lstStyle/>
          <a:p>
            <a:pPr marL="0" indent="0" algn="l">
              <a:lnSpc>
                <a:spcPts val="1418"/>
              </a:lnSpc>
              <a:buNone/>
            </a:pPr>
            <a:r>
              <a:rPr lang="en-US" sz="1050" kern="0" spc="42" dirty="0">
                <a:solidFill>
                  <a:srgbClr val="71909F"/>
                </a:solidFill>
                <a:latin typeface="Arial" pitchFamily="34" charset="0"/>
                <a:ea typeface="Arial" pitchFamily="34" charset="-122"/>
                <a:cs typeface="Arial" pitchFamily="34" charset="-120"/>
              </a:rPr>
              <a:t>MEDIAN LOAN AMOUNT</a:t>
            </a:r>
            <a:endParaRPr lang="en-US" sz="1050" dirty="0"/>
          </a:p>
        </p:txBody>
      </p:sp>
      <p:sp>
        <p:nvSpPr>
          <p:cNvPr id="23" name="Text 21"/>
          <p:cNvSpPr txBox="1"/>
          <p:nvPr/>
        </p:nvSpPr>
        <p:spPr>
          <a:xfrm>
            <a:off x="1028551" y="4412748"/>
            <a:ext cx="1885998" cy="464058"/>
          </a:xfrm>
          <a:prstGeom prst="rect">
            <a:avLst/>
          </a:prstGeom>
          <a:noFill/>
          <a:ln/>
        </p:spPr>
        <p:txBody>
          <a:bodyPr wrap="square" lIns="0" tIns="0" rIns="0" bIns="0" rtlCol="0" anchor="t"/>
          <a:lstStyle/>
          <a:p>
            <a:pPr marL="0" indent="0" algn="l">
              <a:lnSpc>
                <a:spcPts val="3150"/>
              </a:lnSpc>
              <a:buNone/>
            </a:pPr>
            <a:r>
              <a:rPr lang="en-US" sz="3000" b="1" kern="0" spc="-60" dirty="0">
                <a:solidFill>
                  <a:srgbClr val="EDF3F8"/>
                </a:solidFill>
                <a:latin typeface="Arial" pitchFamily="34" charset="0"/>
                <a:ea typeface="Arial" pitchFamily="34" charset="-122"/>
                <a:cs typeface="Arial" pitchFamily="34" charset="-120"/>
              </a:rPr>
              <a:t>75.00</a:t>
            </a:r>
            <a:r>
              <a:rPr lang="en-US" sz="1700" b="1" kern="0" spc="-60" dirty="0">
                <a:solidFill>
                  <a:srgbClr val="A8BECF"/>
                </a:solidFill>
                <a:latin typeface="Arial" pitchFamily="34" charset="0"/>
                <a:ea typeface="Arial" pitchFamily="34" charset="-122"/>
                <a:cs typeface="Arial" pitchFamily="34" charset="-120"/>
              </a:rPr>
              <a:t>%</a:t>
            </a:r>
            <a:endParaRPr lang="en-US" sz="3000" dirty="0"/>
          </a:p>
        </p:txBody>
      </p:sp>
      <p:sp>
        <p:nvSpPr>
          <p:cNvPr id="24" name="Text 22"/>
          <p:cNvSpPr txBox="1"/>
          <p:nvPr/>
        </p:nvSpPr>
        <p:spPr>
          <a:xfrm>
            <a:off x="1028551" y="4927098"/>
            <a:ext cx="1885998" cy="243941"/>
          </a:xfrm>
          <a:prstGeom prst="rect">
            <a:avLst/>
          </a:prstGeom>
          <a:noFill/>
          <a:ln/>
        </p:spPr>
        <p:txBody>
          <a:bodyPr wrap="square" lIns="0" tIns="0" rIns="0" bIns="0" rtlCol="0" anchor="t"/>
          <a:lstStyle/>
          <a:p>
            <a:pPr marL="0" indent="0" algn="l">
              <a:lnSpc>
                <a:spcPts val="1418"/>
              </a:lnSpc>
              <a:buNone/>
            </a:pPr>
            <a:r>
              <a:rPr lang="en-US" sz="1050" kern="0" spc="42" dirty="0">
                <a:solidFill>
                  <a:srgbClr val="71909F"/>
                </a:solidFill>
                <a:latin typeface="Arial" pitchFamily="34" charset="0"/>
                <a:ea typeface="Arial" pitchFamily="34" charset="-122"/>
                <a:cs typeface="Arial" pitchFamily="34" charset="-120"/>
              </a:rPr>
              <a:t>MEDIAN LOAN TO VALUE</a:t>
            </a:r>
            <a:endParaRPr lang="en-US" sz="1050" dirty="0"/>
          </a:p>
        </p:txBody>
      </p:sp>
      <p:sp>
        <p:nvSpPr>
          <p:cNvPr id="25" name="Text 23"/>
          <p:cNvSpPr txBox="1"/>
          <p:nvPr/>
        </p:nvSpPr>
        <p:spPr>
          <a:xfrm>
            <a:off x="3661618" y="4412748"/>
            <a:ext cx="1886146" cy="464058"/>
          </a:xfrm>
          <a:prstGeom prst="rect">
            <a:avLst/>
          </a:prstGeom>
          <a:noFill/>
          <a:ln/>
        </p:spPr>
        <p:txBody>
          <a:bodyPr wrap="square" lIns="0" tIns="0" rIns="0" bIns="0" rtlCol="0" anchor="t"/>
          <a:lstStyle/>
          <a:p>
            <a:pPr marL="0" indent="0" algn="l">
              <a:lnSpc>
                <a:spcPts val="3150"/>
              </a:lnSpc>
              <a:buNone/>
            </a:pPr>
            <a:r>
              <a:rPr lang="en-US" sz="3000" b="1" kern="0" spc="-60" dirty="0">
                <a:solidFill>
                  <a:srgbClr val="EDF3F8"/>
                </a:solidFill>
                <a:latin typeface="Arial" pitchFamily="34" charset="0"/>
                <a:ea typeface="Arial" pitchFamily="34" charset="-122"/>
                <a:cs typeface="Arial" pitchFamily="34" charset="-120"/>
              </a:rPr>
              <a:t>1.96</a:t>
            </a:r>
            <a:r>
              <a:rPr lang="en-US" sz="1700" b="1" kern="0" spc="-60" dirty="0">
                <a:solidFill>
                  <a:srgbClr val="A8BECF"/>
                </a:solidFill>
                <a:latin typeface="Arial" pitchFamily="34" charset="0"/>
                <a:ea typeface="Arial" pitchFamily="34" charset="-122"/>
                <a:cs typeface="Arial" pitchFamily="34" charset="-120"/>
              </a:rPr>
              <a:t>×</a:t>
            </a:r>
            <a:endParaRPr lang="en-US" sz="3000" dirty="0"/>
          </a:p>
        </p:txBody>
      </p:sp>
      <p:sp>
        <p:nvSpPr>
          <p:cNvPr id="26" name="Text 24"/>
          <p:cNvSpPr txBox="1"/>
          <p:nvPr/>
        </p:nvSpPr>
        <p:spPr>
          <a:xfrm>
            <a:off x="3661618" y="4927098"/>
            <a:ext cx="1886146" cy="243941"/>
          </a:xfrm>
          <a:prstGeom prst="rect">
            <a:avLst/>
          </a:prstGeom>
          <a:noFill/>
          <a:ln/>
        </p:spPr>
        <p:txBody>
          <a:bodyPr wrap="square" lIns="0" tIns="0" rIns="0" bIns="0" rtlCol="0" anchor="t"/>
          <a:lstStyle/>
          <a:p>
            <a:pPr marL="0" indent="0" algn="l">
              <a:lnSpc>
                <a:spcPts val="1418"/>
              </a:lnSpc>
              <a:buNone/>
            </a:pPr>
            <a:r>
              <a:rPr lang="en-US" sz="1050" kern="0" spc="42" dirty="0">
                <a:solidFill>
                  <a:srgbClr val="71909F"/>
                </a:solidFill>
                <a:latin typeface="Arial" pitchFamily="34" charset="0"/>
                <a:ea typeface="Arial" pitchFamily="34" charset="-122"/>
                <a:cs typeface="Arial" pitchFamily="34" charset="-120"/>
              </a:rPr>
              <a:t>MEDIAN LOAN TO INCOME</a:t>
            </a:r>
            <a:endParaRPr lang="en-US" sz="1050" dirty="0"/>
          </a:p>
        </p:txBody>
      </p:sp>
      <p:sp>
        <p:nvSpPr>
          <p:cNvPr id="27" name="Text 25"/>
          <p:cNvSpPr txBox="1"/>
          <p:nvPr/>
        </p:nvSpPr>
        <p:spPr>
          <a:xfrm>
            <a:off x="6294834" y="4412748"/>
            <a:ext cx="1885998" cy="464058"/>
          </a:xfrm>
          <a:prstGeom prst="rect">
            <a:avLst/>
          </a:prstGeom>
          <a:noFill/>
          <a:ln/>
        </p:spPr>
        <p:txBody>
          <a:bodyPr wrap="square" lIns="0" tIns="0" rIns="0" bIns="0" rtlCol="0" anchor="t"/>
          <a:lstStyle/>
          <a:p>
            <a:pPr marL="0" indent="0" algn="l">
              <a:lnSpc>
                <a:spcPts val="3150"/>
              </a:lnSpc>
              <a:buNone/>
            </a:pPr>
            <a:r>
              <a:rPr lang="en-US" sz="3000" b="1" kern="0" spc="-60" dirty="0">
                <a:solidFill>
                  <a:srgbClr val="EDF3F8"/>
                </a:solidFill>
                <a:latin typeface="Arial" pitchFamily="34" charset="0"/>
                <a:ea typeface="Arial" pitchFamily="34" charset="-122"/>
                <a:cs typeface="Arial" pitchFamily="34" charset="-120"/>
              </a:rPr>
              <a:t>6.281</a:t>
            </a:r>
            <a:r>
              <a:rPr lang="en-US" sz="1700" b="1" kern="0" spc="-60" dirty="0">
                <a:solidFill>
                  <a:srgbClr val="A8BECF"/>
                </a:solidFill>
                <a:latin typeface="Arial" pitchFamily="34" charset="0"/>
                <a:ea typeface="Arial" pitchFamily="34" charset="-122"/>
                <a:cs typeface="Arial" pitchFamily="34" charset="-120"/>
              </a:rPr>
              <a:t>%</a:t>
            </a:r>
            <a:endParaRPr lang="en-US" sz="3000" dirty="0"/>
          </a:p>
        </p:txBody>
      </p:sp>
      <p:sp>
        <p:nvSpPr>
          <p:cNvPr id="28" name="Text 26"/>
          <p:cNvSpPr txBox="1"/>
          <p:nvPr/>
        </p:nvSpPr>
        <p:spPr>
          <a:xfrm>
            <a:off x="6294834" y="4927098"/>
            <a:ext cx="1885998" cy="243941"/>
          </a:xfrm>
          <a:prstGeom prst="rect">
            <a:avLst/>
          </a:prstGeom>
          <a:noFill/>
          <a:ln/>
        </p:spPr>
        <p:txBody>
          <a:bodyPr wrap="square" lIns="0" tIns="0" rIns="0" bIns="0" rtlCol="0" anchor="t"/>
          <a:lstStyle/>
          <a:p>
            <a:pPr marL="0" indent="0" algn="l">
              <a:lnSpc>
                <a:spcPts val="1418"/>
              </a:lnSpc>
              <a:buNone/>
            </a:pPr>
            <a:r>
              <a:rPr lang="en-US" sz="1050" kern="0" spc="42" dirty="0">
                <a:solidFill>
                  <a:srgbClr val="71909F"/>
                </a:solidFill>
                <a:latin typeface="Arial" pitchFamily="34" charset="0"/>
                <a:ea typeface="Arial" pitchFamily="34" charset="-122"/>
                <a:cs typeface="Arial" pitchFamily="34" charset="-120"/>
              </a:rPr>
              <a:t>MEDIAN INTEREST RATE</a:t>
            </a:r>
            <a:endParaRPr lang="en-US" sz="1050" dirty="0"/>
          </a:p>
        </p:txBody>
      </p:sp>
      <p:sp>
        <p:nvSpPr>
          <p:cNvPr id="29" name="Text 27"/>
          <p:cNvSpPr txBox="1"/>
          <p:nvPr/>
        </p:nvSpPr>
        <p:spPr>
          <a:xfrm>
            <a:off x="711101" y="7497211"/>
            <a:ext cx="7749230" cy="1018294"/>
          </a:xfrm>
          <a:prstGeom prst="rect">
            <a:avLst/>
          </a:prstGeom>
          <a:noFill/>
          <a:ln/>
        </p:spPr>
        <p:txBody>
          <a:bodyPr wrap="square" lIns="0" tIns="0" rIns="0" bIns="0" rtlCol="0" anchor="t"/>
          <a:lstStyle/>
          <a:p>
            <a:pPr marL="0" indent="0" algn="l">
              <a:lnSpc>
                <a:spcPts val="1860"/>
              </a:lnSpc>
              <a:buNone/>
            </a:pPr>
            <a:r>
              <a:rPr lang="en-US" sz="1400" b="1" dirty="0">
                <a:solidFill>
                  <a:srgbClr val="EDF3F8"/>
                </a:solidFill>
                <a:latin typeface="Arial" pitchFamily="34" charset="0"/>
                <a:ea typeface="Arial" pitchFamily="34" charset="-122"/>
                <a:cs typeface="Arial" pitchFamily="34" charset="-120"/>
              </a:rPr>
              <a:t>Across the 951,371 loans that were actually made.</a:t>
            </a:r>
            <a:r>
              <a:rPr lang="en-US" sz="1400" dirty="0">
                <a:solidFill>
                  <a:srgbClr val="A8BECF"/>
                </a:solidFill>
                <a:latin typeface="Arial" pitchFamily="34" charset="0"/>
                <a:ea typeface="Arial" pitchFamily="34" charset="-122"/>
                <a:cs typeface="Arial" pitchFamily="34" charset="-120"/>
              </a:rPr>
              <a:t> Every median uses </a:t>
            </a:r>
            <a:r>
              <a:rPr lang="en-US" sz="1400" b="1" dirty="0">
                <a:solidFill>
                  <a:srgbClr val="EDF3F8"/>
                </a:solidFill>
                <a:latin typeface="Arial" pitchFamily="34" charset="0"/>
                <a:ea typeface="Arial" pitchFamily="34" charset="-122"/>
                <a:cs typeface="Arial" pitchFamily="34" charset="-120"/>
              </a:rPr>
              <a:t>percentile_disc</a:t>
            </a:r>
            <a:r>
              <a:rPr lang="en-US" sz="1400" dirty="0">
                <a:solidFill>
                  <a:srgbClr val="A8BECF"/>
                </a:solidFill>
                <a:latin typeface="Arial" pitchFamily="34" charset="0"/>
                <a:ea typeface="Arial" pitchFamily="34" charset="-122"/>
                <a:cs typeface="Arial" pitchFamily="34" charset="-120"/>
              </a:rPr>
              <a:t>, which returns a value some borrower really had, rather than interpolating between the two middle rows and reporting a figure nobody was charged. That choice is also what makes these numbers identical in PostgreSQL and in the browser.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11101" y="1885355"/>
            <a:ext cx="1401217" cy="965002"/>
          </a:xfrm>
          <a:prstGeom prst="roundRect">
            <a:avLst>
              <a:gd name="adj" fmla="val 7482"/>
            </a:avLst>
          </a:prstGeom>
          <a:solidFill>
            <a:srgbClr val="122738"/>
          </a:solidFill>
          <a:ln/>
        </p:spPr>
      </p:sp>
      <p:sp>
        <p:nvSpPr>
          <p:cNvPr id="3" name="Shape 1"/>
          <p:cNvSpPr/>
          <p:nvPr/>
        </p:nvSpPr>
        <p:spPr>
          <a:xfrm>
            <a:off x="2239268" y="1885355"/>
            <a:ext cx="1812131" cy="965002"/>
          </a:xfrm>
          <a:prstGeom prst="roundRect">
            <a:avLst>
              <a:gd name="adj" fmla="val 7482"/>
            </a:avLst>
          </a:prstGeom>
          <a:solidFill>
            <a:srgbClr val="122738"/>
          </a:solidFill>
          <a:ln/>
        </p:spPr>
      </p:sp>
      <p:sp>
        <p:nvSpPr>
          <p:cNvPr id="4" name="Shape 2"/>
          <p:cNvSpPr/>
          <p:nvPr/>
        </p:nvSpPr>
        <p:spPr>
          <a:xfrm>
            <a:off x="4178350" y="1885355"/>
            <a:ext cx="2063204" cy="965002"/>
          </a:xfrm>
          <a:prstGeom prst="roundRect">
            <a:avLst>
              <a:gd name="adj" fmla="val 7482"/>
            </a:avLst>
          </a:prstGeom>
          <a:solidFill>
            <a:srgbClr val="122738"/>
          </a:solidFill>
          <a:ln/>
        </p:spPr>
      </p:sp>
      <p:sp>
        <p:nvSpPr>
          <p:cNvPr id="5" name="Shape 3"/>
          <p:cNvSpPr/>
          <p:nvPr/>
        </p:nvSpPr>
        <p:spPr>
          <a:xfrm>
            <a:off x="6368504" y="1885355"/>
            <a:ext cx="2064395" cy="965002"/>
          </a:xfrm>
          <a:prstGeom prst="roundRect">
            <a:avLst>
              <a:gd name="adj" fmla="val 7482"/>
            </a:avLst>
          </a:prstGeom>
          <a:solidFill>
            <a:srgbClr val="122738"/>
          </a:solidFill>
          <a:ln/>
        </p:spPr>
      </p:sp>
      <p:sp>
        <p:nvSpPr>
          <p:cNvPr id="6" name="Shape 4"/>
          <p:cNvSpPr/>
          <p:nvPr/>
        </p:nvSpPr>
        <p:spPr>
          <a:xfrm>
            <a:off x="711101" y="3129707"/>
            <a:ext cx="1753939" cy="965002"/>
          </a:xfrm>
          <a:prstGeom prst="roundRect">
            <a:avLst>
              <a:gd name="adj" fmla="val 7482"/>
            </a:avLst>
          </a:prstGeom>
          <a:solidFill>
            <a:srgbClr val="122738"/>
          </a:solidFill>
          <a:ln/>
        </p:spPr>
      </p:sp>
      <p:sp>
        <p:nvSpPr>
          <p:cNvPr id="7" name="Shape 5"/>
          <p:cNvSpPr/>
          <p:nvPr/>
        </p:nvSpPr>
        <p:spPr>
          <a:xfrm>
            <a:off x="2591991" y="3129707"/>
            <a:ext cx="2023765" cy="965002"/>
          </a:xfrm>
          <a:prstGeom prst="roundRect">
            <a:avLst>
              <a:gd name="adj" fmla="val 7482"/>
            </a:avLst>
          </a:prstGeom>
          <a:solidFill>
            <a:srgbClr val="122738"/>
          </a:solidFill>
          <a:ln/>
        </p:spPr>
      </p:sp>
      <p:sp>
        <p:nvSpPr>
          <p:cNvPr id="8" name="Shape 6"/>
          <p:cNvSpPr/>
          <p:nvPr/>
        </p:nvSpPr>
        <p:spPr>
          <a:xfrm>
            <a:off x="4742706" y="3129707"/>
            <a:ext cx="1736080" cy="965002"/>
          </a:xfrm>
          <a:prstGeom prst="roundRect">
            <a:avLst>
              <a:gd name="adj" fmla="val 7482"/>
            </a:avLst>
          </a:prstGeom>
          <a:solidFill>
            <a:srgbClr val="122738"/>
          </a:solidFill>
          <a:ln/>
        </p:spPr>
      </p:sp>
      <p:sp>
        <p:nvSpPr>
          <p:cNvPr id="9" name="Shape 7"/>
          <p:cNvSpPr/>
          <p:nvPr/>
        </p:nvSpPr>
        <p:spPr>
          <a:xfrm>
            <a:off x="6605736" y="3129707"/>
            <a:ext cx="1827312" cy="965002"/>
          </a:xfrm>
          <a:prstGeom prst="roundRect">
            <a:avLst>
              <a:gd name="adj" fmla="val 7482"/>
            </a:avLst>
          </a:prstGeom>
          <a:solidFill>
            <a:srgbClr val="122738"/>
          </a:solidFill>
          <a:ln/>
        </p:spPr>
      </p:sp>
      <p:sp>
        <p:nvSpPr>
          <p:cNvPr id="10" name="Shape 8"/>
          <p:cNvSpPr/>
          <p:nvPr/>
        </p:nvSpPr>
        <p:spPr>
          <a:xfrm>
            <a:off x="711101" y="5075019"/>
            <a:ext cx="7721798" cy="9525"/>
          </a:xfrm>
          <a:prstGeom prst="rect">
            <a:avLst/>
          </a:prstGeom>
          <a:solidFill>
            <a:srgbClr val="24415C"/>
          </a:solidFill>
          <a:ln/>
        </p:spPr>
      </p:sp>
      <p:sp>
        <p:nvSpPr>
          <p:cNvPr id="11" name="Shape 9"/>
          <p:cNvSpPr/>
          <p:nvPr/>
        </p:nvSpPr>
        <p:spPr>
          <a:xfrm>
            <a:off x="3251002" y="5453955"/>
            <a:ext cx="2210395" cy="355550"/>
          </a:xfrm>
          <a:prstGeom prst="roundRect">
            <a:avLst>
              <a:gd name="adj" fmla="val 27559"/>
            </a:avLst>
          </a:prstGeom>
          <a:solidFill>
            <a:srgbClr val="16293C"/>
          </a:solidFill>
          <a:ln/>
        </p:spPr>
      </p:sp>
      <p:sp>
        <p:nvSpPr>
          <p:cNvPr id="12" name="Shape 10"/>
          <p:cNvSpPr/>
          <p:nvPr/>
        </p:nvSpPr>
        <p:spPr>
          <a:xfrm>
            <a:off x="3251002" y="5453955"/>
            <a:ext cx="2210395" cy="355550"/>
          </a:xfrm>
          <a:prstGeom prst="roundRect">
            <a:avLst>
              <a:gd name="adj" fmla="val 27559"/>
            </a:avLst>
          </a:prstGeom>
          <a:solidFill>
            <a:srgbClr val="B48706"/>
          </a:solidFill>
          <a:ln/>
        </p:spPr>
      </p:sp>
      <p:sp>
        <p:nvSpPr>
          <p:cNvPr id="13" name="Shape 11"/>
          <p:cNvSpPr/>
          <p:nvPr/>
        </p:nvSpPr>
        <p:spPr>
          <a:xfrm>
            <a:off x="3251002" y="6012656"/>
            <a:ext cx="2210395" cy="355550"/>
          </a:xfrm>
          <a:prstGeom prst="roundRect">
            <a:avLst>
              <a:gd name="adj" fmla="val 27559"/>
            </a:avLst>
          </a:prstGeom>
          <a:solidFill>
            <a:srgbClr val="16293C"/>
          </a:solidFill>
          <a:ln/>
        </p:spPr>
      </p:sp>
      <p:sp>
        <p:nvSpPr>
          <p:cNvPr id="14" name="Shape 12"/>
          <p:cNvSpPr/>
          <p:nvPr/>
        </p:nvSpPr>
        <p:spPr>
          <a:xfrm>
            <a:off x="3251002" y="6012656"/>
            <a:ext cx="1900386" cy="355550"/>
          </a:xfrm>
          <a:prstGeom prst="roundRect">
            <a:avLst>
              <a:gd name="adj" fmla="val 27559"/>
            </a:avLst>
          </a:prstGeom>
          <a:solidFill>
            <a:srgbClr val="B48706"/>
          </a:solidFill>
          <a:ln/>
        </p:spPr>
      </p:sp>
      <p:sp>
        <p:nvSpPr>
          <p:cNvPr id="15" name="Shape 13"/>
          <p:cNvSpPr/>
          <p:nvPr/>
        </p:nvSpPr>
        <p:spPr>
          <a:xfrm>
            <a:off x="3251002" y="6571357"/>
            <a:ext cx="2210395" cy="355550"/>
          </a:xfrm>
          <a:prstGeom prst="roundRect">
            <a:avLst>
              <a:gd name="adj" fmla="val 27559"/>
            </a:avLst>
          </a:prstGeom>
          <a:solidFill>
            <a:srgbClr val="16293C"/>
          </a:solidFill>
          <a:ln/>
        </p:spPr>
      </p:sp>
      <p:sp>
        <p:nvSpPr>
          <p:cNvPr id="16" name="Shape 14"/>
          <p:cNvSpPr/>
          <p:nvPr/>
        </p:nvSpPr>
        <p:spPr>
          <a:xfrm>
            <a:off x="3251002" y="6571357"/>
            <a:ext cx="1313111" cy="355550"/>
          </a:xfrm>
          <a:prstGeom prst="roundRect">
            <a:avLst>
              <a:gd name="adj" fmla="val 27559"/>
            </a:avLst>
          </a:prstGeom>
          <a:solidFill>
            <a:srgbClr val="B48706"/>
          </a:solidFill>
          <a:ln/>
        </p:spPr>
      </p:sp>
      <p:sp>
        <p:nvSpPr>
          <p:cNvPr id="17" name="Shape 15"/>
          <p:cNvSpPr/>
          <p:nvPr/>
        </p:nvSpPr>
        <p:spPr>
          <a:xfrm>
            <a:off x="711101" y="7536954"/>
            <a:ext cx="7721798" cy="9525"/>
          </a:xfrm>
          <a:prstGeom prst="rect">
            <a:avLst/>
          </a:prstGeom>
          <a:solidFill>
            <a:srgbClr val="24415C"/>
          </a:solidFill>
          <a:ln/>
        </p:spPr>
      </p:sp>
      <p:sp>
        <p:nvSpPr>
          <p:cNvPr id="18" name="Text 16"/>
          <p:cNvSpPr txBox="1"/>
          <p:nvPr/>
        </p:nvSpPr>
        <p:spPr>
          <a:xfrm>
            <a:off x="711101" y="628346"/>
            <a:ext cx="7749230" cy="264033"/>
          </a:xfrm>
          <a:prstGeom prst="rect">
            <a:avLst/>
          </a:prstGeom>
          <a:noFill/>
          <a:ln/>
        </p:spPr>
        <p:txBody>
          <a:bodyPr wrap="square" lIns="0" tIns="0" rIns="0" bIns="0" rtlCol="0" anchor="t"/>
          <a:lstStyle/>
          <a:p>
            <a:pPr marL="0" indent="0" algn="l">
              <a:lnSpc>
                <a:spcPts val="1560"/>
              </a:lnSpc>
              <a:buNone/>
            </a:pPr>
            <a:r>
              <a:rPr lang="en-US" sz="1300" b="1" kern="0" spc="416" dirty="0">
                <a:solidFill>
                  <a:srgbClr val="E3B341"/>
                </a:solidFill>
                <a:latin typeface="Arial" pitchFamily="34" charset="0"/>
                <a:ea typeface="Arial" pitchFamily="34" charset="-122"/>
                <a:cs typeface="Arial" pitchFamily="34" charset="-120"/>
              </a:rPr>
              <a:t>COVERAGE</a:t>
            </a:r>
            <a:endParaRPr lang="en-US" sz="1300" dirty="0"/>
          </a:p>
        </p:txBody>
      </p:sp>
      <p:sp>
        <p:nvSpPr>
          <p:cNvPr id="19" name="Text 17"/>
          <p:cNvSpPr txBox="1"/>
          <p:nvPr/>
        </p:nvSpPr>
        <p:spPr>
          <a:xfrm>
            <a:off x="711101" y="1031522"/>
            <a:ext cx="7749230" cy="530287"/>
          </a:xfrm>
          <a:prstGeom prst="rect">
            <a:avLst/>
          </a:prstGeom>
          <a:noFill/>
          <a:ln/>
        </p:spPr>
        <p:txBody>
          <a:bodyPr wrap="square" lIns="0" tIns="0" rIns="0" bIns="0" rtlCol="0" anchor="t"/>
          <a:lstStyle/>
          <a:p>
            <a:pPr marL="0" indent="0" algn="l">
              <a:lnSpc>
                <a:spcPts val="3672"/>
              </a:lnSpc>
              <a:buNone/>
            </a:pPr>
            <a:r>
              <a:rPr lang="en-US" sz="3400" b="1" kern="0" spc="-48" dirty="0">
                <a:solidFill>
                  <a:srgbClr val="EDF3F8"/>
                </a:solidFill>
                <a:latin typeface="Arial" pitchFamily="34" charset="0"/>
                <a:ea typeface="Arial" pitchFamily="34" charset="-122"/>
                <a:cs typeface="Arial" pitchFamily="34" charset="-120"/>
              </a:rPr>
              <a:t>What the register covers</a:t>
            </a:r>
            <a:endParaRPr lang="en-US" sz="3400" dirty="0"/>
          </a:p>
        </p:txBody>
      </p:sp>
      <p:sp>
        <p:nvSpPr>
          <p:cNvPr id="20" name="Text 18"/>
          <p:cNvSpPr txBox="1"/>
          <p:nvPr/>
        </p:nvSpPr>
        <p:spPr>
          <a:xfrm>
            <a:off x="939701" y="2056501"/>
            <a:ext cx="971449" cy="416433"/>
          </a:xfrm>
          <a:prstGeom prst="rect">
            <a:avLst/>
          </a:prstGeom>
          <a:noFill/>
          <a:ln/>
        </p:spPr>
        <p:txBody>
          <a:bodyPr wrap="square" lIns="0" tIns="0" rIns="0" bIns="0" rtlCol="0" anchor="t"/>
          <a:lstStyle/>
          <a:p>
            <a:pPr marL="0" indent="0" algn="l">
              <a:lnSpc>
                <a:spcPts val="2760"/>
              </a:lnSpc>
              <a:buNone/>
            </a:pPr>
            <a:r>
              <a:rPr lang="en-US" sz="2300" b="1" dirty="0">
                <a:solidFill>
                  <a:srgbClr val="E3B341"/>
                </a:solidFill>
                <a:latin typeface="Arial" pitchFamily="34" charset="0"/>
                <a:ea typeface="Arial" pitchFamily="34" charset="-122"/>
                <a:cs typeface="Arial" pitchFamily="34" charset="-120"/>
              </a:rPr>
              <a:t>4</a:t>
            </a:r>
            <a:endParaRPr lang="en-US" sz="2300" dirty="0"/>
          </a:p>
        </p:txBody>
      </p:sp>
      <p:sp>
        <p:nvSpPr>
          <p:cNvPr id="21" name="Text 19"/>
          <p:cNvSpPr txBox="1"/>
          <p:nvPr/>
        </p:nvSpPr>
        <p:spPr>
          <a:xfrm>
            <a:off x="939701" y="2472327"/>
            <a:ext cx="971449" cy="206883"/>
          </a:xfrm>
          <a:prstGeom prst="rect">
            <a:avLst/>
          </a:prstGeom>
          <a:noFill/>
          <a:ln/>
        </p:spPr>
        <p:txBody>
          <a:bodyPr wrap="square" lIns="0" tIns="0" rIns="0" bIns="0" rtlCol="0" anchor="t"/>
          <a:lstStyle/>
          <a:p>
            <a:pPr marL="0" indent="0" algn="l">
              <a:lnSpc>
                <a:spcPts val="1140"/>
              </a:lnSpc>
              <a:buNone/>
            </a:pPr>
            <a:r>
              <a:rPr lang="en-US" sz="1000" kern="0" spc="47" dirty="0">
                <a:solidFill>
                  <a:srgbClr val="71909F"/>
                </a:solidFill>
                <a:latin typeface="Arial" pitchFamily="34" charset="0"/>
                <a:ea typeface="Arial" pitchFamily="34" charset="-122"/>
                <a:cs typeface="Arial" pitchFamily="34" charset="-120"/>
              </a:rPr>
              <a:t>YEARS</a:t>
            </a:r>
            <a:endParaRPr lang="en-US" sz="1000" dirty="0"/>
          </a:p>
        </p:txBody>
      </p:sp>
      <p:sp>
        <p:nvSpPr>
          <p:cNvPr id="22" name="Text 20"/>
          <p:cNvSpPr txBox="1"/>
          <p:nvPr/>
        </p:nvSpPr>
        <p:spPr>
          <a:xfrm>
            <a:off x="2467868" y="2056501"/>
            <a:ext cx="1382363" cy="416433"/>
          </a:xfrm>
          <a:prstGeom prst="rect">
            <a:avLst/>
          </a:prstGeom>
          <a:noFill/>
          <a:ln/>
        </p:spPr>
        <p:txBody>
          <a:bodyPr wrap="square" lIns="0" tIns="0" rIns="0" bIns="0" rtlCol="0" anchor="t"/>
          <a:lstStyle/>
          <a:p>
            <a:pPr marL="0" indent="0" algn="l">
              <a:lnSpc>
                <a:spcPts val="2760"/>
              </a:lnSpc>
              <a:buNone/>
            </a:pPr>
            <a:r>
              <a:rPr lang="en-US" sz="2300" b="1" dirty="0">
                <a:solidFill>
                  <a:srgbClr val="E3B341"/>
                </a:solidFill>
                <a:latin typeface="Arial" pitchFamily="34" charset="0"/>
                <a:ea typeface="Arial" pitchFamily="34" charset="-122"/>
                <a:cs typeface="Arial" pitchFamily="34" charset="-120"/>
              </a:rPr>
              <a:t>1,168</a:t>
            </a:r>
            <a:endParaRPr lang="en-US" sz="2300" dirty="0"/>
          </a:p>
        </p:txBody>
      </p:sp>
      <p:sp>
        <p:nvSpPr>
          <p:cNvPr id="23" name="Text 21"/>
          <p:cNvSpPr txBox="1"/>
          <p:nvPr/>
        </p:nvSpPr>
        <p:spPr>
          <a:xfrm>
            <a:off x="2467868" y="2472327"/>
            <a:ext cx="1382363" cy="206883"/>
          </a:xfrm>
          <a:prstGeom prst="rect">
            <a:avLst/>
          </a:prstGeom>
          <a:noFill/>
          <a:ln/>
        </p:spPr>
        <p:txBody>
          <a:bodyPr wrap="square" lIns="0" tIns="0" rIns="0" bIns="0" rtlCol="0" anchor="t"/>
          <a:lstStyle/>
          <a:p>
            <a:pPr marL="0" indent="0" algn="l">
              <a:lnSpc>
                <a:spcPts val="1140"/>
              </a:lnSpc>
              <a:buNone/>
            </a:pPr>
            <a:r>
              <a:rPr lang="en-US" sz="1000" kern="0" spc="47" dirty="0">
                <a:solidFill>
                  <a:srgbClr val="71909F"/>
                </a:solidFill>
                <a:latin typeface="Arial" pitchFamily="34" charset="0"/>
                <a:ea typeface="Arial" pitchFamily="34" charset="-122"/>
                <a:cs typeface="Arial" pitchFamily="34" charset="-120"/>
              </a:rPr>
              <a:t>LENDERS</a:t>
            </a:r>
            <a:endParaRPr lang="en-US" sz="1000" dirty="0"/>
          </a:p>
        </p:txBody>
      </p:sp>
      <p:sp>
        <p:nvSpPr>
          <p:cNvPr id="24" name="Text 22"/>
          <p:cNvSpPr txBox="1"/>
          <p:nvPr/>
        </p:nvSpPr>
        <p:spPr>
          <a:xfrm>
            <a:off x="4406950" y="2056501"/>
            <a:ext cx="1633436" cy="416433"/>
          </a:xfrm>
          <a:prstGeom prst="rect">
            <a:avLst/>
          </a:prstGeom>
          <a:noFill/>
          <a:ln/>
        </p:spPr>
        <p:txBody>
          <a:bodyPr wrap="square" lIns="0" tIns="0" rIns="0" bIns="0" rtlCol="0" anchor="t"/>
          <a:lstStyle/>
          <a:p>
            <a:pPr marL="0" indent="0" algn="l">
              <a:lnSpc>
                <a:spcPts val="2760"/>
              </a:lnSpc>
              <a:buNone/>
            </a:pPr>
            <a:r>
              <a:rPr lang="en-US" sz="2300" b="1" dirty="0">
                <a:solidFill>
                  <a:srgbClr val="E3B341"/>
                </a:solidFill>
                <a:latin typeface="Arial" pitchFamily="34" charset="0"/>
                <a:ea typeface="Arial" pitchFamily="34" charset="-122"/>
                <a:cs typeface="Arial" pitchFamily="34" charset="-120"/>
              </a:rPr>
              <a:t>62</a:t>
            </a:r>
            <a:endParaRPr lang="en-US" sz="2300" dirty="0"/>
          </a:p>
        </p:txBody>
      </p:sp>
      <p:sp>
        <p:nvSpPr>
          <p:cNvPr id="25" name="Text 23"/>
          <p:cNvSpPr txBox="1"/>
          <p:nvPr/>
        </p:nvSpPr>
        <p:spPr>
          <a:xfrm>
            <a:off x="4406950" y="2472327"/>
            <a:ext cx="1633436" cy="206883"/>
          </a:xfrm>
          <a:prstGeom prst="rect">
            <a:avLst/>
          </a:prstGeom>
          <a:noFill/>
          <a:ln/>
        </p:spPr>
        <p:txBody>
          <a:bodyPr wrap="square" lIns="0" tIns="0" rIns="0" bIns="0" rtlCol="0" anchor="t"/>
          <a:lstStyle/>
          <a:p>
            <a:pPr marL="0" indent="0" algn="l">
              <a:lnSpc>
                <a:spcPts val="1140"/>
              </a:lnSpc>
              <a:buNone/>
            </a:pPr>
            <a:r>
              <a:rPr lang="en-US" sz="1000" kern="0" spc="47" dirty="0">
                <a:solidFill>
                  <a:srgbClr val="71909F"/>
                </a:solidFill>
                <a:latin typeface="Arial" pitchFamily="34" charset="0"/>
                <a:ea typeface="Arial" pitchFamily="34" charset="-122"/>
                <a:cs typeface="Arial" pitchFamily="34" charset="-120"/>
              </a:rPr>
              <a:t>OF 62 COUNTIES</a:t>
            </a:r>
            <a:endParaRPr lang="en-US" sz="1000" dirty="0"/>
          </a:p>
        </p:txBody>
      </p:sp>
      <p:sp>
        <p:nvSpPr>
          <p:cNvPr id="26" name="Text 24"/>
          <p:cNvSpPr txBox="1"/>
          <p:nvPr/>
        </p:nvSpPr>
        <p:spPr>
          <a:xfrm>
            <a:off x="6597104" y="2056501"/>
            <a:ext cx="1634627" cy="416433"/>
          </a:xfrm>
          <a:prstGeom prst="rect">
            <a:avLst/>
          </a:prstGeom>
          <a:noFill/>
          <a:ln/>
        </p:spPr>
        <p:txBody>
          <a:bodyPr wrap="square" lIns="0" tIns="0" rIns="0" bIns="0" rtlCol="0" anchor="t"/>
          <a:lstStyle/>
          <a:p>
            <a:pPr marL="0" indent="0" algn="l">
              <a:lnSpc>
                <a:spcPts val="2760"/>
              </a:lnSpc>
              <a:buNone/>
            </a:pPr>
            <a:r>
              <a:rPr lang="en-US" sz="2300" b="1" dirty="0">
                <a:solidFill>
                  <a:srgbClr val="E3B341"/>
                </a:solidFill>
                <a:latin typeface="Arial" pitchFamily="34" charset="0"/>
                <a:ea typeface="Arial" pitchFamily="34" charset="-122"/>
                <a:cs typeface="Arial" pitchFamily="34" charset="-120"/>
              </a:rPr>
              <a:t>5,281</a:t>
            </a:r>
            <a:endParaRPr lang="en-US" sz="2300" dirty="0"/>
          </a:p>
        </p:txBody>
      </p:sp>
      <p:sp>
        <p:nvSpPr>
          <p:cNvPr id="27" name="Text 25"/>
          <p:cNvSpPr txBox="1"/>
          <p:nvPr/>
        </p:nvSpPr>
        <p:spPr>
          <a:xfrm>
            <a:off x="6597104" y="2472327"/>
            <a:ext cx="1634627" cy="206883"/>
          </a:xfrm>
          <a:prstGeom prst="rect">
            <a:avLst/>
          </a:prstGeom>
          <a:noFill/>
          <a:ln/>
        </p:spPr>
        <p:txBody>
          <a:bodyPr wrap="square" lIns="0" tIns="0" rIns="0" bIns="0" rtlCol="0" anchor="t"/>
          <a:lstStyle/>
          <a:p>
            <a:pPr marL="0" indent="0" algn="l">
              <a:lnSpc>
                <a:spcPts val="1140"/>
              </a:lnSpc>
              <a:buNone/>
            </a:pPr>
            <a:r>
              <a:rPr lang="en-US" sz="1000" kern="0" spc="47" dirty="0">
                <a:solidFill>
                  <a:srgbClr val="71909F"/>
                </a:solidFill>
                <a:latin typeface="Arial" pitchFamily="34" charset="0"/>
                <a:ea typeface="Arial" pitchFamily="34" charset="-122"/>
                <a:cs typeface="Arial" pitchFamily="34" charset="-120"/>
              </a:rPr>
              <a:t>CENSUS TRACTS</a:t>
            </a:r>
            <a:endParaRPr lang="en-US" sz="1000" dirty="0"/>
          </a:p>
        </p:txBody>
      </p:sp>
      <p:sp>
        <p:nvSpPr>
          <p:cNvPr id="28" name="Text 26"/>
          <p:cNvSpPr txBox="1"/>
          <p:nvPr/>
        </p:nvSpPr>
        <p:spPr>
          <a:xfrm>
            <a:off x="939701" y="3300853"/>
            <a:ext cx="1324171" cy="416433"/>
          </a:xfrm>
          <a:prstGeom prst="rect">
            <a:avLst/>
          </a:prstGeom>
          <a:noFill/>
          <a:ln/>
        </p:spPr>
        <p:txBody>
          <a:bodyPr wrap="square" lIns="0" tIns="0" rIns="0" bIns="0" rtlCol="0" anchor="t"/>
          <a:lstStyle/>
          <a:p>
            <a:pPr marL="0" indent="0" algn="l">
              <a:lnSpc>
                <a:spcPts val="2760"/>
              </a:lnSpc>
              <a:buNone/>
            </a:pPr>
            <a:r>
              <a:rPr lang="en-US" sz="2300" b="1" dirty="0">
                <a:solidFill>
                  <a:srgbClr val="E3B341"/>
                </a:solidFill>
                <a:latin typeface="Arial" pitchFamily="34" charset="0"/>
                <a:ea typeface="Arial" pitchFamily="34" charset="-122"/>
                <a:cs typeface="Arial" pitchFamily="34" charset="-120"/>
              </a:rPr>
              <a:t>4</a:t>
            </a:r>
            <a:endParaRPr lang="en-US" sz="2300" dirty="0"/>
          </a:p>
        </p:txBody>
      </p:sp>
      <p:sp>
        <p:nvSpPr>
          <p:cNvPr id="29" name="Text 27"/>
          <p:cNvSpPr txBox="1"/>
          <p:nvPr/>
        </p:nvSpPr>
        <p:spPr>
          <a:xfrm>
            <a:off x="939701" y="3716679"/>
            <a:ext cx="1324171" cy="206883"/>
          </a:xfrm>
          <a:prstGeom prst="rect">
            <a:avLst/>
          </a:prstGeom>
          <a:noFill/>
          <a:ln/>
        </p:spPr>
        <p:txBody>
          <a:bodyPr wrap="square" lIns="0" tIns="0" rIns="0" bIns="0" rtlCol="0" anchor="t"/>
          <a:lstStyle/>
          <a:p>
            <a:pPr marL="0" indent="0" algn="l">
              <a:lnSpc>
                <a:spcPts val="1140"/>
              </a:lnSpc>
              <a:buNone/>
            </a:pPr>
            <a:r>
              <a:rPr lang="en-US" sz="1000" kern="0" spc="47" dirty="0">
                <a:solidFill>
                  <a:srgbClr val="71909F"/>
                </a:solidFill>
                <a:latin typeface="Arial" pitchFamily="34" charset="0"/>
                <a:ea typeface="Arial" pitchFamily="34" charset="-122"/>
                <a:cs typeface="Arial" pitchFamily="34" charset="-120"/>
              </a:rPr>
              <a:t>LOAN TYPES</a:t>
            </a:r>
            <a:endParaRPr lang="en-US" sz="1000" dirty="0"/>
          </a:p>
        </p:txBody>
      </p:sp>
      <p:sp>
        <p:nvSpPr>
          <p:cNvPr id="30" name="Text 28"/>
          <p:cNvSpPr txBox="1"/>
          <p:nvPr/>
        </p:nvSpPr>
        <p:spPr>
          <a:xfrm>
            <a:off x="2820591" y="3300853"/>
            <a:ext cx="1593997" cy="416433"/>
          </a:xfrm>
          <a:prstGeom prst="rect">
            <a:avLst/>
          </a:prstGeom>
          <a:noFill/>
          <a:ln/>
        </p:spPr>
        <p:txBody>
          <a:bodyPr wrap="square" lIns="0" tIns="0" rIns="0" bIns="0" rtlCol="0" anchor="t"/>
          <a:lstStyle/>
          <a:p>
            <a:pPr marL="0" indent="0" algn="l">
              <a:lnSpc>
                <a:spcPts val="2760"/>
              </a:lnSpc>
              <a:buNone/>
            </a:pPr>
            <a:r>
              <a:rPr lang="en-US" sz="2300" b="1" dirty="0">
                <a:solidFill>
                  <a:srgbClr val="E3B341"/>
                </a:solidFill>
                <a:latin typeface="Arial" pitchFamily="34" charset="0"/>
                <a:ea typeface="Arial" pitchFamily="34" charset="-122"/>
                <a:cs typeface="Arial" pitchFamily="34" charset="-120"/>
              </a:rPr>
              <a:t>6</a:t>
            </a:r>
            <a:endParaRPr lang="en-US" sz="2300" dirty="0"/>
          </a:p>
        </p:txBody>
      </p:sp>
      <p:sp>
        <p:nvSpPr>
          <p:cNvPr id="31" name="Text 29"/>
          <p:cNvSpPr txBox="1"/>
          <p:nvPr/>
        </p:nvSpPr>
        <p:spPr>
          <a:xfrm>
            <a:off x="2820591" y="3716679"/>
            <a:ext cx="1593997" cy="206883"/>
          </a:xfrm>
          <a:prstGeom prst="rect">
            <a:avLst/>
          </a:prstGeom>
          <a:noFill/>
          <a:ln/>
        </p:spPr>
        <p:txBody>
          <a:bodyPr wrap="square" lIns="0" tIns="0" rIns="0" bIns="0" rtlCol="0" anchor="t"/>
          <a:lstStyle/>
          <a:p>
            <a:pPr marL="0" indent="0" algn="l">
              <a:lnSpc>
                <a:spcPts val="1140"/>
              </a:lnSpc>
              <a:buNone/>
            </a:pPr>
            <a:r>
              <a:rPr lang="en-US" sz="1000" kern="0" spc="47" dirty="0">
                <a:solidFill>
                  <a:srgbClr val="71909F"/>
                </a:solidFill>
                <a:latin typeface="Arial" pitchFamily="34" charset="0"/>
                <a:ea typeface="Arial" pitchFamily="34" charset="-122"/>
                <a:cs typeface="Arial" pitchFamily="34" charset="-120"/>
              </a:rPr>
              <a:t>LOAN PURPOSES</a:t>
            </a:r>
            <a:endParaRPr lang="en-US" sz="1000" dirty="0"/>
          </a:p>
        </p:txBody>
      </p:sp>
      <p:sp>
        <p:nvSpPr>
          <p:cNvPr id="32" name="Text 30"/>
          <p:cNvSpPr txBox="1"/>
          <p:nvPr/>
        </p:nvSpPr>
        <p:spPr>
          <a:xfrm>
            <a:off x="4971306" y="3300853"/>
            <a:ext cx="1306312" cy="416433"/>
          </a:xfrm>
          <a:prstGeom prst="rect">
            <a:avLst/>
          </a:prstGeom>
          <a:noFill/>
          <a:ln/>
        </p:spPr>
        <p:txBody>
          <a:bodyPr wrap="square" lIns="0" tIns="0" rIns="0" bIns="0" rtlCol="0" anchor="t"/>
          <a:lstStyle/>
          <a:p>
            <a:pPr marL="0" indent="0" algn="l">
              <a:lnSpc>
                <a:spcPts val="2760"/>
              </a:lnSpc>
              <a:buNone/>
            </a:pPr>
            <a:r>
              <a:rPr lang="en-US" sz="2300" b="1" dirty="0">
                <a:solidFill>
                  <a:srgbClr val="E3B341"/>
                </a:solidFill>
                <a:latin typeface="Arial" pitchFamily="34" charset="0"/>
                <a:ea typeface="Arial" pitchFamily="34" charset="-122"/>
                <a:cs typeface="Arial" pitchFamily="34" charset="-120"/>
              </a:rPr>
              <a:t>4</a:t>
            </a:r>
            <a:endParaRPr lang="en-US" sz="2300" dirty="0"/>
          </a:p>
        </p:txBody>
      </p:sp>
      <p:sp>
        <p:nvSpPr>
          <p:cNvPr id="33" name="Text 31"/>
          <p:cNvSpPr txBox="1"/>
          <p:nvPr/>
        </p:nvSpPr>
        <p:spPr>
          <a:xfrm>
            <a:off x="4971306" y="3716679"/>
            <a:ext cx="1306312" cy="206883"/>
          </a:xfrm>
          <a:prstGeom prst="rect">
            <a:avLst/>
          </a:prstGeom>
          <a:noFill/>
          <a:ln/>
        </p:spPr>
        <p:txBody>
          <a:bodyPr wrap="square" lIns="0" tIns="0" rIns="0" bIns="0" rtlCol="0" anchor="t"/>
          <a:lstStyle/>
          <a:p>
            <a:pPr marL="0" indent="0" algn="l">
              <a:lnSpc>
                <a:spcPts val="1140"/>
              </a:lnSpc>
              <a:buNone/>
            </a:pPr>
            <a:r>
              <a:rPr lang="en-US" sz="1000" kern="0" spc="47" dirty="0">
                <a:solidFill>
                  <a:srgbClr val="71909F"/>
                </a:solidFill>
                <a:latin typeface="Arial" pitchFamily="34" charset="0"/>
                <a:ea typeface="Arial" pitchFamily="34" charset="-122"/>
                <a:cs typeface="Arial" pitchFamily="34" charset="-120"/>
              </a:rPr>
              <a:t>SEX VALUES</a:t>
            </a:r>
            <a:endParaRPr lang="en-US" sz="1000" dirty="0"/>
          </a:p>
        </p:txBody>
      </p:sp>
      <p:sp>
        <p:nvSpPr>
          <p:cNvPr id="34" name="Text 32"/>
          <p:cNvSpPr txBox="1"/>
          <p:nvPr/>
        </p:nvSpPr>
        <p:spPr>
          <a:xfrm>
            <a:off x="6834336" y="3300853"/>
            <a:ext cx="1397544" cy="416433"/>
          </a:xfrm>
          <a:prstGeom prst="rect">
            <a:avLst/>
          </a:prstGeom>
          <a:noFill/>
          <a:ln/>
        </p:spPr>
        <p:txBody>
          <a:bodyPr wrap="square" lIns="0" tIns="0" rIns="0" bIns="0" rtlCol="0" anchor="t"/>
          <a:lstStyle/>
          <a:p>
            <a:pPr marL="0" indent="0" algn="l">
              <a:lnSpc>
                <a:spcPts val="2760"/>
              </a:lnSpc>
              <a:buNone/>
            </a:pPr>
            <a:r>
              <a:rPr lang="en-US" sz="2300" b="1" dirty="0">
                <a:solidFill>
                  <a:srgbClr val="E3B341"/>
                </a:solidFill>
                <a:latin typeface="Arial" pitchFamily="34" charset="0"/>
                <a:ea typeface="Arial" pitchFamily="34" charset="-122"/>
                <a:cs typeface="Arial" pitchFamily="34" charset="-120"/>
              </a:rPr>
              <a:t>9</a:t>
            </a:r>
            <a:endParaRPr lang="en-US" sz="2300" dirty="0"/>
          </a:p>
        </p:txBody>
      </p:sp>
      <p:sp>
        <p:nvSpPr>
          <p:cNvPr id="35" name="Text 33"/>
          <p:cNvSpPr txBox="1"/>
          <p:nvPr/>
        </p:nvSpPr>
        <p:spPr>
          <a:xfrm>
            <a:off x="6834336" y="3716679"/>
            <a:ext cx="1397544" cy="206883"/>
          </a:xfrm>
          <a:prstGeom prst="rect">
            <a:avLst/>
          </a:prstGeom>
          <a:noFill/>
          <a:ln/>
        </p:spPr>
        <p:txBody>
          <a:bodyPr wrap="square" lIns="0" tIns="0" rIns="0" bIns="0" rtlCol="0" anchor="t"/>
          <a:lstStyle/>
          <a:p>
            <a:pPr marL="0" indent="0" algn="l">
              <a:lnSpc>
                <a:spcPts val="1140"/>
              </a:lnSpc>
              <a:buNone/>
            </a:pPr>
            <a:r>
              <a:rPr lang="en-US" sz="1000" kern="0" spc="47" dirty="0">
                <a:solidFill>
                  <a:srgbClr val="71909F"/>
                </a:solidFill>
                <a:latin typeface="Arial" pitchFamily="34" charset="0"/>
                <a:ea typeface="Arial" pitchFamily="34" charset="-122"/>
                <a:cs typeface="Arial" pitchFamily="34" charset="-120"/>
              </a:rPr>
              <a:t>RACE VALUES</a:t>
            </a:r>
            <a:endParaRPr lang="en-US" sz="1000" dirty="0"/>
          </a:p>
        </p:txBody>
      </p:sp>
      <p:sp>
        <p:nvSpPr>
          <p:cNvPr id="36" name="Text 34"/>
          <p:cNvSpPr txBox="1"/>
          <p:nvPr/>
        </p:nvSpPr>
        <p:spPr>
          <a:xfrm>
            <a:off x="711101" y="4797872"/>
            <a:ext cx="2389632" cy="206883"/>
          </a:xfrm>
          <a:prstGeom prst="rect">
            <a:avLst/>
          </a:prstGeom>
          <a:noFill/>
          <a:ln/>
        </p:spPr>
        <p:txBody>
          <a:bodyPr wrap="square" lIns="0" tIns="0" rIns="0" bIns="0" rtlCol="0" anchor="t"/>
          <a:lstStyle/>
          <a:p>
            <a:pPr marL="0" indent="0" algn="l">
              <a:lnSpc>
                <a:spcPts val="1140"/>
              </a:lnSpc>
              <a:buNone/>
            </a:pPr>
            <a:r>
              <a:rPr lang="en-US" sz="1000" b="1" kern="0" spc="67" dirty="0">
                <a:solidFill>
                  <a:srgbClr val="71909F"/>
                </a:solidFill>
                <a:latin typeface="Arial" pitchFamily="34" charset="0"/>
                <a:ea typeface="Arial" pitchFamily="34" charset="-122"/>
                <a:cs typeface="Arial" pitchFamily="34" charset="-120"/>
              </a:rPr>
              <a:t>MOST EXPENSIVE COUNTY</a:t>
            </a:r>
            <a:endParaRPr lang="en-US" sz="1000" dirty="0"/>
          </a:p>
        </p:txBody>
      </p:sp>
      <p:sp>
        <p:nvSpPr>
          <p:cNvPr id="37" name="Text 35"/>
          <p:cNvSpPr txBox="1"/>
          <p:nvPr/>
        </p:nvSpPr>
        <p:spPr>
          <a:xfrm>
            <a:off x="5639098" y="4797872"/>
            <a:ext cx="1525982" cy="206883"/>
          </a:xfrm>
          <a:prstGeom prst="rect">
            <a:avLst/>
          </a:prstGeom>
          <a:noFill/>
          <a:ln/>
        </p:spPr>
        <p:txBody>
          <a:bodyPr wrap="square" lIns="0" tIns="0" rIns="0" bIns="0" rtlCol="0" anchor="t"/>
          <a:lstStyle/>
          <a:p>
            <a:pPr marL="0" indent="0" algn="r">
              <a:lnSpc>
                <a:spcPts val="1140"/>
              </a:lnSpc>
              <a:buNone/>
            </a:pPr>
            <a:r>
              <a:rPr lang="en-US" sz="1000" b="1" kern="0" spc="67" dirty="0">
                <a:solidFill>
                  <a:srgbClr val="71909F"/>
                </a:solidFill>
                <a:latin typeface="Arial" pitchFamily="34" charset="0"/>
                <a:ea typeface="Arial" pitchFamily="34" charset="-122"/>
                <a:cs typeface="Arial" pitchFamily="34" charset="-120"/>
              </a:rPr>
              <a:t>MEDIAN VALUE</a:t>
            </a:r>
            <a:endParaRPr lang="en-US" sz="1000" dirty="0"/>
          </a:p>
        </p:txBody>
      </p:sp>
      <p:sp>
        <p:nvSpPr>
          <p:cNvPr id="38" name="Text 36"/>
          <p:cNvSpPr txBox="1"/>
          <p:nvPr/>
        </p:nvSpPr>
        <p:spPr>
          <a:xfrm>
            <a:off x="7315349" y="4797872"/>
            <a:ext cx="1144982" cy="206883"/>
          </a:xfrm>
          <a:prstGeom prst="rect">
            <a:avLst/>
          </a:prstGeom>
          <a:noFill/>
          <a:ln/>
        </p:spPr>
        <p:txBody>
          <a:bodyPr wrap="square" lIns="0" tIns="0" rIns="0" bIns="0" rtlCol="0" anchor="t"/>
          <a:lstStyle/>
          <a:p>
            <a:pPr marL="0" indent="0" algn="r">
              <a:lnSpc>
                <a:spcPts val="1140"/>
              </a:lnSpc>
              <a:buNone/>
            </a:pPr>
            <a:r>
              <a:rPr lang="en-US" sz="1000" b="1" kern="0" spc="67" dirty="0">
                <a:solidFill>
                  <a:srgbClr val="71909F"/>
                </a:solidFill>
                <a:latin typeface="Arial" pitchFamily="34" charset="0"/>
                <a:ea typeface="Arial" pitchFamily="34" charset="-122"/>
                <a:cs typeface="Arial" pitchFamily="34" charset="-120"/>
              </a:rPr>
              <a:t>LOANS</a:t>
            </a:r>
            <a:endParaRPr lang="en-US" sz="1000" dirty="0"/>
          </a:p>
        </p:txBody>
      </p:sp>
      <p:sp>
        <p:nvSpPr>
          <p:cNvPr id="39" name="Text 37"/>
          <p:cNvSpPr txBox="1"/>
          <p:nvPr/>
        </p:nvSpPr>
        <p:spPr>
          <a:xfrm>
            <a:off x="711101" y="5492496"/>
            <a:ext cx="2389632" cy="278321"/>
          </a:xfrm>
          <a:prstGeom prst="rect">
            <a:avLst/>
          </a:prstGeom>
          <a:noFill/>
          <a:ln/>
        </p:spPr>
        <p:txBody>
          <a:bodyPr wrap="square" lIns="0" tIns="0" rIns="0" bIns="0" rtlCol="0" anchor="t"/>
          <a:lstStyle/>
          <a:p>
            <a:pPr marL="0" indent="0" algn="l">
              <a:lnSpc>
                <a:spcPts val="1688"/>
              </a:lnSpc>
              <a:buNone/>
            </a:pPr>
            <a:r>
              <a:rPr lang="en-US" sz="1350" b="1" dirty="0">
                <a:solidFill>
                  <a:srgbClr val="EDF3F8"/>
                </a:solidFill>
                <a:latin typeface="Arial" pitchFamily="34" charset="0"/>
                <a:ea typeface="Arial" pitchFamily="34" charset="-122"/>
                <a:cs typeface="Arial" pitchFamily="34" charset="-120"/>
              </a:rPr>
              <a:t>New York County</a:t>
            </a:r>
            <a:endParaRPr lang="en-US" sz="1350" dirty="0"/>
          </a:p>
        </p:txBody>
      </p:sp>
      <p:sp>
        <p:nvSpPr>
          <p:cNvPr id="40" name="Text 38"/>
          <p:cNvSpPr txBox="1"/>
          <p:nvPr/>
        </p:nvSpPr>
        <p:spPr>
          <a:xfrm>
            <a:off x="5639098" y="5485352"/>
            <a:ext cx="1525982" cy="292608"/>
          </a:xfrm>
          <a:prstGeom prst="rect">
            <a:avLst/>
          </a:prstGeom>
          <a:noFill/>
          <a:ln/>
        </p:spPr>
        <p:txBody>
          <a:bodyPr wrap="square" lIns="0" tIns="0" rIns="0" bIns="0" rtlCol="0" anchor="t"/>
          <a:lstStyle/>
          <a:p>
            <a:pPr marL="0" indent="0" algn="r">
              <a:lnSpc>
                <a:spcPts val="1800"/>
              </a:lnSpc>
              <a:buNone/>
            </a:pPr>
            <a:r>
              <a:rPr lang="en-US" sz="1500" b="1" dirty="0">
                <a:solidFill>
                  <a:srgbClr val="EDF3F8"/>
                </a:solidFill>
                <a:latin typeface="Arial" pitchFamily="34" charset="0"/>
                <a:ea typeface="Arial" pitchFamily="34" charset="-122"/>
                <a:cs typeface="Arial" pitchFamily="34" charset="-120"/>
              </a:rPr>
              <a:t>$1,355,000</a:t>
            </a:r>
            <a:endParaRPr lang="en-US" sz="1500" dirty="0"/>
          </a:p>
        </p:txBody>
      </p:sp>
      <p:sp>
        <p:nvSpPr>
          <p:cNvPr id="41" name="Text 39"/>
          <p:cNvSpPr txBox="1"/>
          <p:nvPr/>
        </p:nvSpPr>
        <p:spPr>
          <a:xfrm>
            <a:off x="7315349" y="5499640"/>
            <a:ext cx="1144982" cy="264033"/>
          </a:xfrm>
          <a:prstGeom prst="rect">
            <a:avLst/>
          </a:prstGeom>
          <a:noFill/>
          <a:ln/>
        </p:spPr>
        <p:txBody>
          <a:bodyPr wrap="square" lIns="0" tIns="0" rIns="0" bIns="0" rtlCol="0" anchor="t"/>
          <a:lstStyle/>
          <a:p>
            <a:pPr marL="0" indent="0" algn="r">
              <a:lnSpc>
                <a:spcPts val="1560"/>
              </a:lnSpc>
              <a:buNone/>
            </a:pPr>
            <a:r>
              <a:rPr lang="en-US" sz="1300" dirty="0">
                <a:solidFill>
                  <a:srgbClr val="A8BECF"/>
                </a:solidFill>
                <a:latin typeface="Arial" pitchFamily="34" charset="0"/>
                <a:ea typeface="Arial" pitchFamily="34" charset="-122"/>
                <a:cs typeface="Arial" pitchFamily="34" charset="-120"/>
              </a:rPr>
              <a:t>35,463</a:t>
            </a:r>
            <a:endParaRPr lang="en-US" sz="1300" dirty="0"/>
          </a:p>
        </p:txBody>
      </p:sp>
      <p:sp>
        <p:nvSpPr>
          <p:cNvPr id="42" name="Text 40"/>
          <p:cNvSpPr txBox="1"/>
          <p:nvPr/>
        </p:nvSpPr>
        <p:spPr>
          <a:xfrm>
            <a:off x="711101" y="6051197"/>
            <a:ext cx="2389632" cy="278321"/>
          </a:xfrm>
          <a:prstGeom prst="rect">
            <a:avLst/>
          </a:prstGeom>
          <a:noFill/>
          <a:ln/>
        </p:spPr>
        <p:txBody>
          <a:bodyPr wrap="square" lIns="0" tIns="0" rIns="0" bIns="0" rtlCol="0" anchor="t"/>
          <a:lstStyle/>
          <a:p>
            <a:pPr marL="0" indent="0" algn="l">
              <a:lnSpc>
                <a:spcPts val="1688"/>
              </a:lnSpc>
              <a:buNone/>
            </a:pPr>
            <a:r>
              <a:rPr lang="en-US" sz="1350" b="1" dirty="0">
                <a:solidFill>
                  <a:srgbClr val="EDF3F8"/>
                </a:solidFill>
                <a:latin typeface="Arial" pitchFamily="34" charset="0"/>
                <a:ea typeface="Arial" pitchFamily="34" charset="-122"/>
                <a:cs typeface="Arial" pitchFamily="34" charset="-120"/>
              </a:rPr>
              <a:t>Kings County</a:t>
            </a:r>
            <a:endParaRPr lang="en-US" sz="1350" dirty="0"/>
          </a:p>
        </p:txBody>
      </p:sp>
      <p:sp>
        <p:nvSpPr>
          <p:cNvPr id="43" name="Text 41"/>
          <p:cNvSpPr txBox="1"/>
          <p:nvPr/>
        </p:nvSpPr>
        <p:spPr>
          <a:xfrm>
            <a:off x="5639098" y="6044053"/>
            <a:ext cx="1525982" cy="292608"/>
          </a:xfrm>
          <a:prstGeom prst="rect">
            <a:avLst/>
          </a:prstGeom>
          <a:noFill/>
          <a:ln/>
        </p:spPr>
        <p:txBody>
          <a:bodyPr wrap="square" lIns="0" tIns="0" rIns="0" bIns="0" rtlCol="0" anchor="t"/>
          <a:lstStyle/>
          <a:p>
            <a:pPr marL="0" indent="0" algn="r">
              <a:lnSpc>
                <a:spcPts val="1800"/>
              </a:lnSpc>
              <a:buNone/>
            </a:pPr>
            <a:r>
              <a:rPr lang="en-US" sz="1500" b="1" dirty="0">
                <a:solidFill>
                  <a:srgbClr val="EDF3F8"/>
                </a:solidFill>
                <a:latin typeface="Arial" pitchFamily="34" charset="0"/>
                <a:ea typeface="Arial" pitchFamily="34" charset="-122"/>
                <a:cs typeface="Arial" pitchFamily="34" charset="-120"/>
              </a:rPr>
              <a:t>$1,165,000</a:t>
            </a:r>
            <a:endParaRPr lang="en-US" sz="1500" dirty="0"/>
          </a:p>
        </p:txBody>
      </p:sp>
      <p:sp>
        <p:nvSpPr>
          <p:cNvPr id="44" name="Text 42"/>
          <p:cNvSpPr txBox="1"/>
          <p:nvPr/>
        </p:nvSpPr>
        <p:spPr>
          <a:xfrm>
            <a:off x="7315349" y="6058341"/>
            <a:ext cx="1144982" cy="264033"/>
          </a:xfrm>
          <a:prstGeom prst="rect">
            <a:avLst/>
          </a:prstGeom>
          <a:noFill/>
          <a:ln/>
        </p:spPr>
        <p:txBody>
          <a:bodyPr wrap="square" lIns="0" tIns="0" rIns="0" bIns="0" rtlCol="0" anchor="t"/>
          <a:lstStyle/>
          <a:p>
            <a:pPr marL="0" indent="0" algn="r">
              <a:lnSpc>
                <a:spcPts val="1560"/>
              </a:lnSpc>
              <a:buNone/>
            </a:pPr>
            <a:r>
              <a:rPr lang="en-US" sz="1300" dirty="0">
                <a:solidFill>
                  <a:srgbClr val="A8BECF"/>
                </a:solidFill>
                <a:latin typeface="Arial" pitchFamily="34" charset="0"/>
                <a:ea typeface="Arial" pitchFamily="34" charset="-122"/>
                <a:cs typeface="Arial" pitchFamily="34" charset="-120"/>
              </a:rPr>
              <a:t>53,975</a:t>
            </a:r>
            <a:endParaRPr lang="en-US" sz="1300" dirty="0"/>
          </a:p>
        </p:txBody>
      </p:sp>
      <p:sp>
        <p:nvSpPr>
          <p:cNvPr id="45" name="Text 43"/>
          <p:cNvSpPr txBox="1"/>
          <p:nvPr/>
        </p:nvSpPr>
        <p:spPr>
          <a:xfrm>
            <a:off x="711101" y="6609898"/>
            <a:ext cx="2389632" cy="278321"/>
          </a:xfrm>
          <a:prstGeom prst="rect">
            <a:avLst/>
          </a:prstGeom>
          <a:noFill/>
          <a:ln/>
        </p:spPr>
        <p:txBody>
          <a:bodyPr wrap="square" lIns="0" tIns="0" rIns="0" bIns="0" rtlCol="0" anchor="t"/>
          <a:lstStyle/>
          <a:p>
            <a:pPr marL="0" indent="0" algn="l">
              <a:lnSpc>
                <a:spcPts val="1688"/>
              </a:lnSpc>
              <a:buNone/>
            </a:pPr>
            <a:r>
              <a:rPr lang="en-US" sz="1350" b="1" dirty="0">
                <a:solidFill>
                  <a:srgbClr val="EDF3F8"/>
                </a:solidFill>
                <a:latin typeface="Arial" pitchFamily="34" charset="0"/>
                <a:ea typeface="Arial" pitchFamily="34" charset="-122"/>
                <a:cs typeface="Arial" pitchFamily="34" charset="-120"/>
              </a:rPr>
              <a:t>Queens County</a:t>
            </a:r>
            <a:endParaRPr lang="en-US" sz="1350" dirty="0"/>
          </a:p>
        </p:txBody>
      </p:sp>
      <p:sp>
        <p:nvSpPr>
          <p:cNvPr id="46" name="Text 44"/>
          <p:cNvSpPr txBox="1"/>
          <p:nvPr/>
        </p:nvSpPr>
        <p:spPr>
          <a:xfrm>
            <a:off x="5639098" y="6602754"/>
            <a:ext cx="1525982" cy="292608"/>
          </a:xfrm>
          <a:prstGeom prst="rect">
            <a:avLst/>
          </a:prstGeom>
          <a:noFill/>
          <a:ln/>
        </p:spPr>
        <p:txBody>
          <a:bodyPr wrap="square" lIns="0" tIns="0" rIns="0" bIns="0" rtlCol="0" anchor="t"/>
          <a:lstStyle/>
          <a:p>
            <a:pPr marL="0" indent="0" algn="r">
              <a:lnSpc>
                <a:spcPts val="1800"/>
              </a:lnSpc>
              <a:buNone/>
            </a:pPr>
            <a:r>
              <a:rPr lang="en-US" sz="1500" b="1" dirty="0">
                <a:solidFill>
                  <a:srgbClr val="EDF3F8"/>
                </a:solidFill>
                <a:latin typeface="Arial" pitchFamily="34" charset="0"/>
                <a:ea typeface="Arial" pitchFamily="34" charset="-122"/>
                <a:cs typeface="Arial" pitchFamily="34" charset="-120"/>
              </a:rPr>
              <a:t>$805,000</a:t>
            </a:r>
            <a:endParaRPr lang="en-US" sz="1500" dirty="0"/>
          </a:p>
        </p:txBody>
      </p:sp>
      <p:sp>
        <p:nvSpPr>
          <p:cNvPr id="47" name="Text 45"/>
          <p:cNvSpPr txBox="1"/>
          <p:nvPr/>
        </p:nvSpPr>
        <p:spPr>
          <a:xfrm>
            <a:off x="7315349" y="6617041"/>
            <a:ext cx="1144982" cy="264033"/>
          </a:xfrm>
          <a:prstGeom prst="rect">
            <a:avLst/>
          </a:prstGeom>
          <a:noFill/>
          <a:ln/>
        </p:spPr>
        <p:txBody>
          <a:bodyPr wrap="square" lIns="0" tIns="0" rIns="0" bIns="0" rtlCol="0" anchor="t"/>
          <a:lstStyle/>
          <a:p>
            <a:pPr marL="0" indent="0" algn="r">
              <a:lnSpc>
                <a:spcPts val="1560"/>
              </a:lnSpc>
              <a:buNone/>
            </a:pPr>
            <a:r>
              <a:rPr lang="en-US" sz="1300" dirty="0">
                <a:solidFill>
                  <a:srgbClr val="A8BECF"/>
                </a:solidFill>
                <a:latin typeface="Arial" pitchFamily="34" charset="0"/>
                <a:ea typeface="Arial" pitchFamily="34" charset="-122"/>
                <a:cs typeface="Arial" pitchFamily="34" charset="-120"/>
              </a:rPr>
              <a:t>57,169</a:t>
            </a:r>
            <a:endParaRPr lang="en-US" sz="1300" dirty="0"/>
          </a:p>
        </p:txBody>
      </p:sp>
      <p:sp>
        <p:nvSpPr>
          <p:cNvPr id="48" name="Text 46"/>
          <p:cNvSpPr txBox="1"/>
          <p:nvPr/>
        </p:nvSpPr>
        <p:spPr>
          <a:xfrm>
            <a:off x="675005" y="7733550"/>
            <a:ext cx="7879446" cy="782104"/>
          </a:xfrm>
          <a:prstGeom prst="rect">
            <a:avLst/>
          </a:prstGeom>
          <a:noFill/>
          <a:ln/>
        </p:spPr>
        <p:txBody>
          <a:bodyPr wrap="square" lIns="0" tIns="0" rIns="0" bIns="0" rtlCol="0" anchor="t"/>
          <a:lstStyle/>
          <a:p>
            <a:pPr marL="0" indent="0" algn="l">
              <a:lnSpc>
                <a:spcPts val="1860"/>
              </a:lnSpc>
              <a:buNone/>
            </a:pPr>
            <a:r>
              <a:rPr lang="en-US" sz="1400" dirty="0">
                <a:solidFill>
                  <a:srgbClr val="A8BECF"/>
                </a:solidFill>
                <a:latin typeface="Arial" pitchFamily="34" charset="0"/>
                <a:ea typeface="Arial" pitchFamily="34" charset="-122"/>
                <a:cs typeface="Arial" pitchFamily="34" charset="-120"/>
              </a:rPr>
              <a:t>All 62 New York counties appear. The raw column returns 66, because it also carries an </a:t>
            </a:r>
            <a:r>
              <a:rPr lang="en-US" sz="1400" b="1" dirty="0">
                <a:solidFill>
                  <a:srgbClr val="EDF3F8"/>
                </a:solidFill>
                <a:latin typeface="Arial" pitchFamily="34" charset="0"/>
                <a:ea typeface="Arial" pitchFamily="34" charset="-122"/>
                <a:cs typeface="Arial" pitchFamily="34" charset="-120"/>
              </a:rPr>
              <a:t>UNKNOWN</a:t>
            </a:r>
            <a:r>
              <a:rPr lang="en-US" sz="1400" dirty="0">
                <a:solidFill>
                  <a:srgbClr val="A8BECF"/>
                </a:solidFill>
                <a:latin typeface="Arial" pitchFamily="34" charset="0"/>
                <a:ea typeface="Arial" pitchFamily="34" charset="-122"/>
                <a:cs typeface="Arial" pitchFamily="34" charset="-120"/>
              </a:rPr>
              <a:t> value and three out-of-state codes filed against New York property. Counting those would have claimed four counties that do not exist.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11101" y="2908211"/>
            <a:ext cx="7721798" cy="9525"/>
          </a:xfrm>
          <a:prstGeom prst="rect">
            <a:avLst/>
          </a:prstGeom>
          <a:solidFill>
            <a:srgbClr val="24415C"/>
          </a:solidFill>
          <a:ln/>
        </p:spPr>
      </p:sp>
      <p:sp>
        <p:nvSpPr>
          <p:cNvPr id="3" name="Shape 1"/>
          <p:cNvSpPr/>
          <p:nvPr/>
        </p:nvSpPr>
        <p:spPr>
          <a:xfrm>
            <a:off x="3555802" y="3445669"/>
            <a:ext cx="2235696" cy="355550"/>
          </a:xfrm>
          <a:prstGeom prst="roundRect">
            <a:avLst>
              <a:gd name="adj" fmla="val 27559"/>
            </a:avLst>
          </a:prstGeom>
          <a:solidFill>
            <a:srgbClr val="16293C"/>
          </a:solidFill>
          <a:ln/>
        </p:spPr>
      </p:sp>
      <p:sp>
        <p:nvSpPr>
          <p:cNvPr id="4" name="Shape 2"/>
          <p:cNvSpPr/>
          <p:nvPr/>
        </p:nvSpPr>
        <p:spPr>
          <a:xfrm>
            <a:off x="3555802" y="3445669"/>
            <a:ext cx="2235696" cy="355550"/>
          </a:xfrm>
          <a:prstGeom prst="roundRect">
            <a:avLst>
              <a:gd name="adj" fmla="val 27559"/>
            </a:avLst>
          </a:prstGeom>
          <a:solidFill>
            <a:srgbClr val="B48706"/>
          </a:solidFill>
          <a:ln/>
        </p:spPr>
      </p:sp>
      <p:sp>
        <p:nvSpPr>
          <p:cNvPr id="5" name="Shape 3"/>
          <p:cNvSpPr/>
          <p:nvPr/>
        </p:nvSpPr>
        <p:spPr>
          <a:xfrm>
            <a:off x="3555802" y="4067919"/>
            <a:ext cx="2235696" cy="355550"/>
          </a:xfrm>
          <a:prstGeom prst="roundRect">
            <a:avLst>
              <a:gd name="adj" fmla="val 27559"/>
            </a:avLst>
          </a:prstGeom>
          <a:solidFill>
            <a:srgbClr val="16293C"/>
          </a:solidFill>
          <a:ln/>
        </p:spPr>
      </p:sp>
      <p:sp>
        <p:nvSpPr>
          <p:cNvPr id="6" name="Shape 4"/>
          <p:cNvSpPr/>
          <p:nvPr/>
        </p:nvSpPr>
        <p:spPr>
          <a:xfrm>
            <a:off x="3555802" y="4067919"/>
            <a:ext cx="579686" cy="355550"/>
          </a:xfrm>
          <a:prstGeom prst="roundRect">
            <a:avLst>
              <a:gd name="adj" fmla="val 27559"/>
            </a:avLst>
          </a:prstGeom>
          <a:solidFill>
            <a:srgbClr val="71909F"/>
          </a:solidFill>
          <a:ln/>
        </p:spPr>
      </p:sp>
      <p:sp>
        <p:nvSpPr>
          <p:cNvPr id="7" name="Shape 5"/>
          <p:cNvSpPr/>
          <p:nvPr/>
        </p:nvSpPr>
        <p:spPr>
          <a:xfrm>
            <a:off x="3555802" y="4690170"/>
            <a:ext cx="2235696" cy="355550"/>
          </a:xfrm>
          <a:prstGeom prst="roundRect">
            <a:avLst>
              <a:gd name="adj" fmla="val 27559"/>
            </a:avLst>
          </a:prstGeom>
          <a:solidFill>
            <a:srgbClr val="16293C"/>
          </a:solidFill>
          <a:ln/>
        </p:spPr>
      </p:sp>
      <p:sp>
        <p:nvSpPr>
          <p:cNvPr id="8" name="Shape 6"/>
          <p:cNvSpPr/>
          <p:nvPr/>
        </p:nvSpPr>
        <p:spPr>
          <a:xfrm>
            <a:off x="3555802" y="4690170"/>
            <a:ext cx="313134" cy="355550"/>
          </a:xfrm>
          <a:prstGeom prst="roundRect">
            <a:avLst>
              <a:gd name="adj" fmla="val 35530"/>
            </a:avLst>
          </a:prstGeom>
          <a:solidFill>
            <a:srgbClr val="B48706"/>
          </a:solidFill>
          <a:ln/>
        </p:spPr>
      </p:sp>
      <p:sp>
        <p:nvSpPr>
          <p:cNvPr id="9" name="Shape 7"/>
          <p:cNvSpPr/>
          <p:nvPr/>
        </p:nvSpPr>
        <p:spPr>
          <a:xfrm>
            <a:off x="3555802" y="5312420"/>
            <a:ext cx="2235696" cy="355550"/>
          </a:xfrm>
          <a:prstGeom prst="roundRect">
            <a:avLst>
              <a:gd name="adj" fmla="val 27559"/>
            </a:avLst>
          </a:prstGeom>
          <a:solidFill>
            <a:srgbClr val="16293C"/>
          </a:solidFill>
          <a:ln/>
        </p:spPr>
      </p:sp>
      <p:sp>
        <p:nvSpPr>
          <p:cNvPr id="10" name="Shape 8"/>
          <p:cNvSpPr/>
          <p:nvPr/>
        </p:nvSpPr>
        <p:spPr>
          <a:xfrm>
            <a:off x="3555802" y="5312420"/>
            <a:ext cx="208955" cy="355550"/>
          </a:xfrm>
          <a:prstGeom prst="roundRect">
            <a:avLst>
              <a:gd name="adj" fmla="val 79791"/>
            </a:avLst>
          </a:prstGeom>
          <a:solidFill>
            <a:srgbClr val="B48706"/>
          </a:solidFill>
          <a:ln/>
        </p:spPr>
      </p:sp>
      <p:sp>
        <p:nvSpPr>
          <p:cNvPr id="11" name="Shape 9"/>
          <p:cNvSpPr/>
          <p:nvPr/>
        </p:nvSpPr>
        <p:spPr>
          <a:xfrm>
            <a:off x="3555802" y="5934670"/>
            <a:ext cx="2235696" cy="355550"/>
          </a:xfrm>
          <a:prstGeom prst="roundRect">
            <a:avLst>
              <a:gd name="adj" fmla="val 27559"/>
            </a:avLst>
          </a:prstGeom>
          <a:solidFill>
            <a:srgbClr val="16293C"/>
          </a:solidFill>
          <a:ln/>
        </p:spPr>
      </p:sp>
      <p:sp>
        <p:nvSpPr>
          <p:cNvPr id="12" name="Shape 10"/>
          <p:cNvSpPr/>
          <p:nvPr/>
        </p:nvSpPr>
        <p:spPr>
          <a:xfrm>
            <a:off x="3555802" y="5934670"/>
            <a:ext cx="64294" cy="355550"/>
          </a:xfrm>
          <a:prstGeom prst="roundRect">
            <a:avLst>
              <a:gd name="adj" fmla="val 711108"/>
            </a:avLst>
          </a:prstGeom>
          <a:solidFill>
            <a:srgbClr val="B48706"/>
          </a:solidFill>
          <a:ln/>
        </p:spPr>
      </p:sp>
      <p:sp>
        <p:nvSpPr>
          <p:cNvPr id="13" name="Shape 11"/>
          <p:cNvSpPr/>
          <p:nvPr/>
        </p:nvSpPr>
        <p:spPr>
          <a:xfrm>
            <a:off x="3555802" y="6556921"/>
            <a:ext cx="2235696" cy="355550"/>
          </a:xfrm>
          <a:prstGeom prst="roundRect">
            <a:avLst>
              <a:gd name="adj" fmla="val 27559"/>
            </a:avLst>
          </a:prstGeom>
          <a:solidFill>
            <a:srgbClr val="16293C"/>
          </a:solidFill>
          <a:ln/>
        </p:spPr>
      </p:sp>
      <p:sp>
        <p:nvSpPr>
          <p:cNvPr id="14" name="Shape 12"/>
          <p:cNvSpPr/>
          <p:nvPr/>
        </p:nvSpPr>
        <p:spPr>
          <a:xfrm>
            <a:off x="3555802" y="6556921"/>
            <a:ext cx="20538" cy="355550"/>
          </a:xfrm>
          <a:prstGeom prst="roundRect">
            <a:avLst>
              <a:gd name="adj" fmla="val 2226117"/>
            </a:avLst>
          </a:prstGeom>
          <a:solidFill>
            <a:srgbClr val="71909F"/>
          </a:solidFill>
          <a:ln/>
        </p:spPr>
      </p:sp>
      <p:sp>
        <p:nvSpPr>
          <p:cNvPr id="15" name="Shape 13"/>
          <p:cNvSpPr/>
          <p:nvPr/>
        </p:nvSpPr>
        <p:spPr>
          <a:xfrm>
            <a:off x="711101" y="7536954"/>
            <a:ext cx="7721798" cy="9525"/>
          </a:xfrm>
          <a:prstGeom prst="rect">
            <a:avLst/>
          </a:prstGeom>
          <a:solidFill>
            <a:srgbClr val="24415C"/>
          </a:solidFill>
          <a:ln/>
        </p:spPr>
      </p:sp>
      <p:sp>
        <p:nvSpPr>
          <p:cNvPr id="16" name="Text 14"/>
          <p:cNvSpPr txBox="1"/>
          <p:nvPr/>
        </p:nvSpPr>
        <p:spPr>
          <a:xfrm>
            <a:off x="711101" y="628346"/>
            <a:ext cx="7749230" cy="264033"/>
          </a:xfrm>
          <a:prstGeom prst="rect">
            <a:avLst/>
          </a:prstGeom>
          <a:noFill/>
          <a:ln/>
        </p:spPr>
        <p:txBody>
          <a:bodyPr wrap="square" lIns="0" tIns="0" rIns="0" bIns="0" rtlCol="0" anchor="t"/>
          <a:lstStyle/>
          <a:p>
            <a:pPr marL="0" indent="0" algn="l">
              <a:lnSpc>
                <a:spcPts val="1560"/>
              </a:lnSpc>
              <a:buNone/>
            </a:pPr>
            <a:r>
              <a:rPr lang="en-US" sz="1300" b="1" kern="0" spc="416" dirty="0">
                <a:solidFill>
                  <a:srgbClr val="E3B341"/>
                </a:solidFill>
                <a:latin typeface="Arial" pitchFamily="34" charset="0"/>
                <a:ea typeface="Arial" pitchFamily="34" charset="-122"/>
                <a:cs typeface="Arial" pitchFamily="34" charset="-120"/>
              </a:rPr>
              <a:t>APPLICANT DEMOGRAPHICS</a:t>
            </a:r>
            <a:endParaRPr lang="en-US" sz="1300" dirty="0"/>
          </a:p>
        </p:txBody>
      </p:sp>
      <p:sp>
        <p:nvSpPr>
          <p:cNvPr id="17" name="Text 15"/>
          <p:cNvSpPr txBox="1"/>
          <p:nvPr/>
        </p:nvSpPr>
        <p:spPr>
          <a:xfrm>
            <a:off x="711101" y="1031522"/>
            <a:ext cx="7749230" cy="996565"/>
          </a:xfrm>
          <a:prstGeom prst="rect">
            <a:avLst/>
          </a:prstGeom>
          <a:noFill/>
          <a:ln/>
        </p:spPr>
        <p:txBody>
          <a:bodyPr wrap="square" lIns="0" tIns="0" rIns="0" bIns="0" rtlCol="0" anchor="t"/>
          <a:lstStyle/>
          <a:p>
            <a:pPr marL="0" indent="0" algn="l">
              <a:lnSpc>
                <a:spcPts val="3672"/>
              </a:lnSpc>
              <a:buNone/>
            </a:pPr>
            <a:r>
              <a:rPr lang="en-US" sz="3400" b="1" kern="0" spc="-48" dirty="0">
                <a:solidFill>
                  <a:srgbClr val="EDF3F8"/>
                </a:solidFill>
                <a:latin typeface="Arial" pitchFamily="34" charset="0"/>
                <a:ea typeface="Arial" pitchFamily="34" charset="-122"/>
                <a:cs typeface="Arial" pitchFamily="34" charset="-120"/>
              </a:rPr>
              <a:t>Originated loans by</a:t>
            </a:r>
            <a:endParaRPr lang="en-US" sz="3400" dirty="0"/>
          </a:p>
          <a:p>
            <a:pPr marL="0" indent="0" algn="l">
              <a:lnSpc>
                <a:spcPts val="3672"/>
              </a:lnSpc>
              <a:buNone/>
            </a:pPr>
            <a:r>
              <a:rPr lang="en-US" sz="3400" b="1" kern="0" spc="-48" dirty="0">
                <a:solidFill>
                  <a:srgbClr val="EDF3F8"/>
                </a:solidFill>
                <a:latin typeface="Arial" pitchFamily="34" charset="0"/>
                <a:ea typeface="Arial" pitchFamily="34" charset="-122"/>
                <a:cs typeface="Arial" pitchFamily="34" charset="-120"/>
              </a:rPr>
              <a:t>applicant race</a:t>
            </a:r>
            <a:endParaRPr lang="en-US" sz="3400" dirty="0"/>
          </a:p>
        </p:txBody>
      </p:sp>
      <p:sp>
        <p:nvSpPr>
          <p:cNvPr id="18" name="Text 16"/>
          <p:cNvSpPr txBox="1"/>
          <p:nvPr/>
        </p:nvSpPr>
        <p:spPr>
          <a:xfrm>
            <a:off x="711101" y="2667164"/>
            <a:ext cx="2694432" cy="206883"/>
          </a:xfrm>
          <a:prstGeom prst="rect">
            <a:avLst/>
          </a:prstGeom>
          <a:noFill/>
          <a:ln/>
        </p:spPr>
        <p:txBody>
          <a:bodyPr wrap="square" lIns="0" tIns="0" rIns="0" bIns="0" rtlCol="0" anchor="t"/>
          <a:lstStyle/>
          <a:p>
            <a:pPr marL="0" indent="0" algn="l">
              <a:lnSpc>
                <a:spcPts val="1140"/>
              </a:lnSpc>
              <a:buNone/>
            </a:pPr>
            <a:r>
              <a:rPr lang="en-US" sz="1000" b="1" kern="0" spc="67" dirty="0">
                <a:solidFill>
                  <a:srgbClr val="71909F"/>
                </a:solidFill>
                <a:latin typeface="Arial" pitchFamily="34" charset="0"/>
                <a:ea typeface="Arial" pitchFamily="34" charset="-122"/>
                <a:cs typeface="Arial" pitchFamily="34" charset="-120"/>
              </a:rPr>
              <a:t>RACE</a:t>
            </a:r>
            <a:endParaRPr lang="en-US" sz="1000" dirty="0"/>
          </a:p>
        </p:txBody>
      </p:sp>
      <p:sp>
        <p:nvSpPr>
          <p:cNvPr id="19" name="Text 17"/>
          <p:cNvSpPr txBox="1"/>
          <p:nvPr/>
        </p:nvSpPr>
        <p:spPr>
          <a:xfrm>
            <a:off x="3555802" y="2667164"/>
            <a:ext cx="2263128" cy="206883"/>
          </a:xfrm>
          <a:prstGeom prst="rect">
            <a:avLst/>
          </a:prstGeom>
          <a:noFill/>
          <a:ln/>
        </p:spPr>
        <p:txBody>
          <a:bodyPr wrap="square" lIns="0" tIns="0" rIns="0" bIns="0" rtlCol="0" anchor="t"/>
          <a:lstStyle/>
          <a:p>
            <a:pPr marL="0" indent="0" algn="l">
              <a:lnSpc>
                <a:spcPts val="1140"/>
              </a:lnSpc>
              <a:buNone/>
            </a:pPr>
            <a:r>
              <a:rPr lang="en-US" sz="1000" b="1" kern="0" spc="67" dirty="0">
                <a:solidFill>
                  <a:srgbClr val="71909F"/>
                </a:solidFill>
                <a:latin typeface="Arial" pitchFamily="34" charset="0"/>
                <a:ea typeface="Arial" pitchFamily="34" charset="-122"/>
                <a:cs typeface="Arial" pitchFamily="34" charset="-120"/>
              </a:rPr>
              <a:t>SHARE OF ORIGINATIONS</a:t>
            </a:r>
            <a:endParaRPr lang="en-US" sz="1000" dirty="0"/>
          </a:p>
        </p:txBody>
      </p:sp>
      <p:sp>
        <p:nvSpPr>
          <p:cNvPr id="20" name="Text 18"/>
          <p:cNvSpPr txBox="1"/>
          <p:nvPr/>
        </p:nvSpPr>
        <p:spPr>
          <a:xfrm>
            <a:off x="5969198" y="2667164"/>
            <a:ext cx="1094232" cy="206883"/>
          </a:xfrm>
          <a:prstGeom prst="rect">
            <a:avLst/>
          </a:prstGeom>
          <a:noFill/>
          <a:ln/>
        </p:spPr>
        <p:txBody>
          <a:bodyPr wrap="square" lIns="0" tIns="0" rIns="0" bIns="0" rtlCol="0" anchor="t"/>
          <a:lstStyle/>
          <a:p>
            <a:pPr marL="0" indent="0" algn="r">
              <a:lnSpc>
                <a:spcPts val="1140"/>
              </a:lnSpc>
              <a:buNone/>
            </a:pPr>
            <a:r>
              <a:rPr lang="en-US" sz="1000" b="1" kern="0" spc="67" dirty="0">
                <a:solidFill>
                  <a:srgbClr val="71909F"/>
                </a:solidFill>
                <a:latin typeface="Arial" pitchFamily="34" charset="0"/>
                <a:ea typeface="Arial" pitchFamily="34" charset="-122"/>
                <a:cs typeface="Arial" pitchFamily="34" charset="-120"/>
              </a:rPr>
              <a:t>SHARE</a:t>
            </a:r>
            <a:endParaRPr lang="en-US" sz="1000" dirty="0"/>
          </a:p>
        </p:txBody>
      </p:sp>
      <p:sp>
        <p:nvSpPr>
          <p:cNvPr id="21" name="Text 19"/>
          <p:cNvSpPr txBox="1"/>
          <p:nvPr/>
        </p:nvSpPr>
        <p:spPr>
          <a:xfrm>
            <a:off x="7213699" y="2667164"/>
            <a:ext cx="1246632" cy="206883"/>
          </a:xfrm>
          <a:prstGeom prst="rect">
            <a:avLst/>
          </a:prstGeom>
          <a:noFill/>
          <a:ln/>
        </p:spPr>
        <p:txBody>
          <a:bodyPr wrap="square" lIns="0" tIns="0" rIns="0" bIns="0" rtlCol="0" anchor="t"/>
          <a:lstStyle/>
          <a:p>
            <a:pPr marL="0" indent="0" algn="r">
              <a:lnSpc>
                <a:spcPts val="1140"/>
              </a:lnSpc>
              <a:buNone/>
            </a:pPr>
            <a:r>
              <a:rPr lang="en-US" sz="1000" b="1" kern="0" spc="67" dirty="0">
                <a:solidFill>
                  <a:srgbClr val="71909F"/>
                </a:solidFill>
                <a:latin typeface="Arial" pitchFamily="34" charset="0"/>
                <a:ea typeface="Arial" pitchFamily="34" charset="-122"/>
                <a:cs typeface="Arial" pitchFamily="34" charset="-120"/>
              </a:rPr>
              <a:t>DISBURSED</a:t>
            </a:r>
            <a:endParaRPr lang="en-US" sz="1000" dirty="0"/>
          </a:p>
        </p:txBody>
      </p:sp>
      <p:sp>
        <p:nvSpPr>
          <p:cNvPr id="22" name="Text 20"/>
          <p:cNvSpPr txBox="1"/>
          <p:nvPr/>
        </p:nvSpPr>
        <p:spPr>
          <a:xfrm>
            <a:off x="711101" y="3381964"/>
            <a:ext cx="512463" cy="264033"/>
          </a:xfrm>
          <a:prstGeom prst="rect">
            <a:avLst/>
          </a:prstGeom>
          <a:noFill/>
          <a:ln/>
        </p:spPr>
        <p:txBody>
          <a:bodyPr wrap="square" lIns="0" tIns="0" rIns="0" bIns="0" rtlCol="0" anchor="t"/>
          <a:lstStyle/>
          <a:p>
            <a:pPr marL="0" indent="0" algn="l">
              <a:lnSpc>
                <a:spcPts val="1688"/>
              </a:lnSpc>
              <a:buNone/>
            </a:pPr>
            <a:r>
              <a:rPr lang="en-US" sz="1350" b="1" dirty="0">
                <a:solidFill>
                  <a:srgbClr val="EDF3F8"/>
                </a:solidFill>
                <a:latin typeface="Arial" pitchFamily="34" charset="0"/>
                <a:ea typeface="Arial" pitchFamily="34" charset="-122"/>
                <a:cs typeface="Arial" pitchFamily="34" charset="-120"/>
              </a:rPr>
              <a:t>White</a:t>
            </a:r>
            <a:endParaRPr lang="en-US" sz="1350" dirty="0"/>
          </a:p>
        </p:txBody>
      </p:sp>
      <p:sp>
        <p:nvSpPr>
          <p:cNvPr id="23" name="Text 21"/>
          <p:cNvSpPr txBox="1"/>
          <p:nvPr/>
        </p:nvSpPr>
        <p:spPr>
          <a:xfrm>
            <a:off x="711101" y="3634377"/>
            <a:ext cx="2694432" cy="230696"/>
          </a:xfrm>
          <a:prstGeom prst="rect">
            <a:avLst/>
          </a:prstGeom>
          <a:noFill/>
          <a:ln/>
        </p:spPr>
        <p:txBody>
          <a:bodyPr wrap="square" lIns="0" tIns="0" rIns="0" bIns="0" rtlCol="0" anchor="t"/>
          <a:lstStyle/>
          <a:p>
            <a:pPr marL="0" indent="0" algn="l">
              <a:lnSpc>
                <a:spcPts val="1313"/>
              </a:lnSpc>
              <a:buNone/>
            </a:pPr>
            <a:r>
              <a:rPr lang="en-US" sz="1200" dirty="0">
                <a:solidFill>
                  <a:srgbClr val="71909F"/>
                </a:solidFill>
                <a:latin typeface="Arial" pitchFamily="34" charset="0"/>
                <a:ea typeface="Arial" pitchFamily="34" charset="-122"/>
                <a:cs typeface="Arial" pitchFamily="34" charset="-120"/>
              </a:rPr>
              <a:t>621,461 loans</a:t>
            </a:r>
            <a:endParaRPr lang="en-US" sz="1200" dirty="0"/>
          </a:p>
        </p:txBody>
      </p:sp>
      <p:sp>
        <p:nvSpPr>
          <p:cNvPr id="24" name="Text 22"/>
          <p:cNvSpPr txBox="1"/>
          <p:nvPr/>
        </p:nvSpPr>
        <p:spPr>
          <a:xfrm>
            <a:off x="5969198" y="3477214"/>
            <a:ext cx="1094232" cy="292608"/>
          </a:xfrm>
          <a:prstGeom prst="rect">
            <a:avLst/>
          </a:prstGeom>
          <a:noFill/>
          <a:ln/>
        </p:spPr>
        <p:txBody>
          <a:bodyPr wrap="square" lIns="0" tIns="0" rIns="0" bIns="0" rtlCol="0" anchor="t"/>
          <a:lstStyle/>
          <a:p>
            <a:pPr marL="0" indent="0" algn="r">
              <a:lnSpc>
                <a:spcPts val="1800"/>
              </a:lnSpc>
              <a:buNone/>
            </a:pPr>
            <a:r>
              <a:rPr lang="en-US" sz="1500" b="1" dirty="0">
                <a:solidFill>
                  <a:srgbClr val="EDF3F8"/>
                </a:solidFill>
                <a:latin typeface="Arial" pitchFamily="34" charset="0"/>
                <a:ea typeface="Arial" pitchFamily="34" charset="-122"/>
                <a:cs typeface="Arial" pitchFamily="34" charset="-120"/>
              </a:rPr>
              <a:t>65.32%</a:t>
            </a:r>
            <a:endParaRPr lang="en-US" sz="1500" dirty="0"/>
          </a:p>
        </p:txBody>
      </p:sp>
      <p:sp>
        <p:nvSpPr>
          <p:cNvPr id="25" name="Text 23"/>
          <p:cNvSpPr txBox="1"/>
          <p:nvPr/>
        </p:nvSpPr>
        <p:spPr>
          <a:xfrm>
            <a:off x="7213699" y="3491502"/>
            <a:ext cx="1246632" cy="264033"/>
          </a:xfrm>
          <a:prstGeom prst="rect">
            <a:avLst/>
          </a:prstGeom>
          <a:noFill/>
          <a:ln/>
        </p:spPr>
        <p:txBody>
          <a:bodyPr wrap="square" lIns="0" tIns="0" rIns="0" bIns="0" rtlCol="0" anchor="t"/>
          <a:lstStyle/>
          <a:p>
            <a:pPr marL="0" indent="0" algn="r">
              <a:lnSpc>
                <a:spcPts val="1560"/>
              </a:lnSpc>
              <a:buNone/>
            </a:pPr>
            <a:r>
              <a:rPr lang="en-US" sz="1300" dirty="0">
                <a:solidFill>
                  <a:srgbClr val="A8BECF"/>
                </a:solidFill>
                <a:latin typeface="Arial" pitchFamily="34" charset="0"/>
                <a:ea typeface="Arial" pitchFamily="34" charset="-122"/>
                <a:cs typeface="Arial" pitchFamily="34" charset="-120"/>
              </a:rPr>
              <a:t>$198.2bn</a:t>
            </a:r>
            <a:endParaRPr lang="en-US" sz="1300" dirty="0"/>
          </a:p>
        </p:txBody>
      </p:sp>
      <p:sp>
        <p:nvSpPr>
          <p:cNvPr id="26" name="Text 24"/>
          <p:cNvSpPr txBox="1"/>
          <p:nvPr/>
        </p:nvSpPr>
        <p:spPr>
          <a:xfrm>
            <a:off x="711101" y="4004215"/>
            <a:ext cx="1529108" cy="264033"/>
          </a:xfrm>
          <a:prstGeom prst="rect">
            <a:avLst/>
          </a:prstGeom>
          <a:noFill/>
          <a:ln/>
        </p:spPr>
        <p:txBody>
          <a:bodyPr wrap="square" lIns="0" tIns="0" rIns="0" bIns="0" rtlCol="0" anchor="t"/>
          <a:lstStyle/>
          <a:p>
            <a:pPr marL="0" indent="0" algn="l">
              <a:lnSpc>
                <a:spcPts val="1688"/>
              </a:lnSpc>
              <a:buNone/>
            </a:pPr>
            <a:r>
              <a:rPr lang="en-US" sz="1350" b="1" dirty="0">
                <a:solidFill>
                  <a:srgbClr val="EDF3F8"/>
                </a:solidFill>
                <a:latin typeface="Arial" pitchFamily="34" charset="0"/>
                <a:ea typeface="Arial" pitchFamily="34" charset="-122"/>
                <a:cs typeface="Arial" pitchFamily="34" charset="-120"/>
              </a:rPr>
              <a:t>Race not available</a:t>
            </a:r>
            <a:endParaRPr lang="en-US" sz="1350" dirty="0"/>
          </a:p>
        </p:txBody>
      </p:sp>
      <p:sp>
        <p:nvSpPr>
          <p:cNvPr id="27" name="Text 25"/>
          <p:cNvSpPr txBox="1"/>
          <p:nvPr/>
        </p:nvSpPr>
        <p:spPr>
          <a:xfrm>
            <a:off x="711101" y="4256627"/>
            <a:ext cx="2694432" cy="230696"/>
          </a:xfrm>
          <a:prstGeom prst="rect">
            <a:avLst/>
          </a:prstGeom>
          <a:noFill/>
          <a:ln/>
        </p:spPr>
        <p:txBody>
          <a:bodyPr wrap="square" lIns="0" tIns="0" rIns="0" bIns="0" rtlCol="0" anchor="t"/>
          <a:lstStyle/>
          <a:p>
            <a:pPr marL="0" indent="0" algn="l">
              <a:lnSpc>
                <a:spcPts val="1313"/>
              </a:lnSpc>
              <a:buNone/>
            </a:pPr>
            <a:r>
              <a:rPr lang="en-US" sz="1200" dirty="0">
                <a:solidFill>
                  <a:srgbClr val="71909F"/>
                </a:solidFill>
                <a:latin typeface="Arial" pitchFamily="34" charset="0"/>
                <a:ea typeface="Arial" pitchFamily="34" charset="-122"/>
                <a:cs typeface="Arial" pitchFamily="34" charset="-120"/>
              </a:rPr>
              <a:t>161,122 loans</a:t>
            </a:r>
            <a:endParaRPr lang="en-US" sz="1200" dirty="0"/>
          </a:p>
        </p:txBody>
      </p:sp>
      <p:sp>
        <p:nvSpPr>
          <p:cNvPr id="28" name="Text 26"/>
          <p:cNvSpPr txBox="1"/>
          <p:nvPr/>
        </p:nvSpPr>
        <p:spPr>
          <a:xfrm>
            <a:off x="5969198" y="4099465"/>
            <a:ext cx="1094232" cy="292608"/>
          </a:xfrm>
          <a:prstGeom prst="rect">
            <a:avLst/>
          </a:prstGeom>
          <a:noFill/>
          <a:ln/>
        </p:spPr>
        <p:txBody>
          <a:bodyPr wrap="square" lIns="0" tIns="0" rIns="0" bIns="0" rtlCol="0" anchor="t"/>
          <a:lstStyle/>
          <a:p>
            <a:pPr marL="0" indent="0" algn="r">
              <a:lnSpc>
                <a:spcPts val="1800"/>
              </a:lnSpc>
              <a:buNone/>
            </a:pPr>
            <a:r>
              <a:rPr lang="en-US" sz="1500" b="1" dirty="0">
                <a:solidFill>
                  <a:srgbClr val="EDF3F8"/>
                </a:solidFill>
                <a:latin typeface="Arial" pitchFamily="34" charset="0"/>
                <a:ea typeface="Arial" pitchFamily="34" charset="-122"/>
                <a:cs typeface="Arial" pitchFamily="34" charset="-120"/>
              </a:rPr>
              <a:t>16.94%</a:t>
            </a:r>
            <a:endParaRPr lang="en-US" sz="1500" dirty="0"/>
          </a:p>
        </p:txBody>
      </p:sp>
      <p:sp>
        <p:nvSpPr>
          <p:cNvPr id="29" name="Text 27"/>
          <p:cNvSpPr txBox="1"/>
          <p:nvPr/>
        </p:nvSpPr>
        <p:spPr>
          <a:xfrm>
            <a:off x="7213699" y="4113752"/>
            <a:ext cx="1246632" cy="264033"/>
          </a:xfrm>
          <a:prstGeom prst="rect">
            <a:avLst/>
          </a:prstGeom>
          <a:noFill/>
          <a:ln/>
        </p:spPr>
        <p:txBody>
          <a:bodyPr wrap="square" lIns="0" tIns="0" rIns="0" bIns="0" rtlCol="0" anchor="t"/>
          <a:lstStyle/>
          <a:p>
            <a:pPr marL="0" indent="0" algn="r">
              <a:lnSpc>
                <a:spcPts val="1560"/>
              </a:lnSpc>
              <a:buNone/>
            </a:pPr>
            <a:r>
              <a:rPr lang="en-US" sz="1300" dirty="0">
                <a:solidFill>
                  <a:srgbClr val="A8BECF"/>
                </a:solidFill>
                <a:latin typeface="Arial" pitchFamily="34" charset="0"/>
                <a:ea typeface="Arial" pitchFamily="34" charset="-122"/>
                <a:cs typeface="Arial" pitchFamily="34" charset="-120"/>
              </a:rPr>
              <a:t>$98.9bn</a:t>
            </a:r>
            <a:endParaRPr lang="en-US" sz="1300" dirty="0"/>
          </a:p>
        </p:txBody>
      </p:sp>
      <p:sp>
        <p:nvSpPr>
          <p:cNvPr id="30" name="Text 28"/>
          <p:cNvSpPr txBox="1"/>
          <p:nvPr/>
        </p:nvSpPr>
        <p:spPr>
          <a:xfrm>
            <a:off x="711101" y="4626465"/>
            <a:ext cx="493413" cy="264033"/>
          </a:xfrm>
          <a:prstGeom prst="rect">
            <a:avLst/>
          </a:prstGeom>
          <a:noFill/>
          <a:ln/>
        </p:spPr>
        <p:txBody>
          <a:bodyPr wrap="square" lIns="0" tIns="0" rIns="0" bIns="0" rtlCol="0" anchor="t"/>
          <a:lstStyle/>
          <a:p>
            <a:pPr marL="0" indent="0" algn="l">
              <a:lnSpc>
                <a:spcPts val="1688"/>
              </a:lnSpc>
              <a:buNone/>
            </a:pPr>
            <a:r>
              <a:rPr lang="en-US" sz="1350" b="1" dirty="0">
                <a:solidFill>
                  <a:srgbClr val="EDF3F8"/>
                </a:solidFill>
                <a:latin typeface="Arial" pitchFamily="34" charset="0"/>
                <a:ea typeface="Arial" pitchFamily="34" charset="-122"/>
                <a:cs typeface="Arial" pitchFamily="34" charset="-120"/>
              </a:rPr>
              <a:t>Asian</a:t>
            </a:r>
            <a:endParaRPr lang="en-US" sz="1350" dirty="0"/>
          </a:p>
        </p:txBody>
      </p:sp>
      <p:sp>
        <p:nvSpPr>
          <p:cNvPr id="31" name="Text 29"/>
          <p:cNvSpPr txBox="1"/>
          <p:nvPr/>
        </p:nvSpPr>
        <p:spPr>
          <a:xfrm>
            <a:off x="711101" y="4878878"/>
            <a:ext cx="2694432" cy="230696"/>
          </a:xfrm>
          <a:prstGeom prst="rect">
            <a:avLst/>
          </a:prstGeom>
          <a:noFill/>
          <a:ln/>
        </p:spPr>
        <p:txBody>
          <a:bodyPr wrap="square" lIns="0" tIns="0" rIns="0" bIns="0" rtlCol="0" anchor="t"/>
          <a:lstStyle/>
          <a:p>
            <a:pPr marL="0" indent="0" algn="l">
              <a:lnSpc>
                <a:spcPts val="1313"/>
              </a:lnSpc>
              <a:buNone/>
            </a:pPr>
            <a:r>
              <a:rPr lang="en-US" sz="1200" dirty="0">
                <a:solidFill>
                  <a:srgbClr val="71909F"/>
                </a:solidFill>
                <a:latin typeface="Arial" pitchFamily="34" charset="0"/>
                <a:ea typeface="Arial" pitchFamily="34" charset="-122"/>
                <a:cs typeface="Arial" pitchFamily="34" charset="-120"/>
              </a:rPr>
              <a:t>87,024 loans</a:t>
            </a:r>
            <a:endParaRPr lang="en-US" sz="1200" dirty="0"/>
          </a:p>
        </p:txBody>
      </p:sp>
      <p:sp>
        <p:nvSpPr>
          <p:cNvPr id="32" name="Text 30"/>
          <p:cNvSpPr txBox="1"/>
          <p:nvPr/>
        </p:nvSpPr>
        <p:spPr>
          <a:xfrm>
            <a:off x="5969198" y="4721715"/>
            <a:ext cx="1094232" cy="292608"/>
          </a:xfrm>
          <a:prstGeom prst="rect">
            <a:avLst/>
          </a:prstGeom>
          <a:noFill/>
          <a:ln/>
        </p:spPr>
        <p:txBody>
          <a:bodyPr wrap="square" lIns="0" tIns="0" rIns="0" bIns="0" rtlCol="0" anchor="t"/>
          <a:lstStyle/>
          <a:p>
            <a:pPr marL="0" indent="0" algn="r">
              <a:lnSpc>
                <a:spcPts val="1800"/>
              </a:lnSpc>
              <a:buNone/>
            </a:pPr>
            <a:r>
              <a:rPr lang="en-US" sz="1500" b="1" dirty="0">
                <a:solidFill>
                  <a:srgbClr val="EDF3F8"/>
                </a:solidFill>
                <a:latin typeface="Arial" pitchFamily="34" charset="0"/>
                <a:ea typeface="Arial" pitchFamily="34" charset="-122"/>
                <a:cs typeface="Arial" pitchFamily="34" charset="-120"/>
              </a:rPr>
              <a:t>9.15%</a:t>
            </a:r>
            <a:endParaRPr lang="en-US" sz="1500" dirty="0"/>
          </a:p>
        </p:txBody>
      </p:sp>
      <p:sp>
        <p:nvSpPr>
          <p:cNvPr id="33" name="Text 31"/>
          <p:cNvSpPr txBox="1"/>
          <p:nvPr/>
        </p:nvSpPr>
        <p:spPr>
          <a:xfrm>
            <a:off x="7213699" y="4736003"/>
            <a:ext cx="1246632" cy="264033"/>
          </a:xfrm>
          <a:prstGeom prst="rect">
            <a:avLst/>
          </a:prstGeom>
          <a:noFill/>
          <a:ln/>
        </p:spPr>
        <p:txBody>
          <a:bodyPr wrap="square" lIns="0" tIns="0" rIns="0" bIns="0" rtlCol="0" anchor="t"/>
          <a:lstStyle/>
          <a:p>
            <a:pPr marL="0" indent="0" algn="r">
              <a:lnSpc>
                <a:spcPts val="1560"/>
              </a:lnSpc>
              <a:buNone/>
            </a:pPr>
            <a:r>
              <a:rPr lang="en-US" sz="1300" dirty="0">
                <a:solidFill>
                  <a:srgbClr val="A8BECF"/>
                </a:solidFill>
                <a:latin typeface="Arial" pitchFamily="34" charset="0"/>
                <a:ea typeface="Arial" pitchFamily="34" charset="-122"/>
                <a:cs typeface="Arial" pitchFamily="34" charset="-120"/>
              </a:rPr>
              <a:t>$44.1bn</a:t>
            </a:r>
            <a:endParaRPr lang="en-US" sz="1300" dirty="0"/>
          </a:p>
        </p:txBody>
      </p:sp>
      <p:sp>
        <p:nvSpPr>
          <p:cNvPr id="34" name="Text 32"/>
          <p:cNvSpPr txBox="1"/>
          <p:nvPr/>
        </p:nvSpPr>
        <p:spPr>
          <a:xfrm>
            <a:off x="711101" y="5248716"/>
            <a:ext cx="2193179" cy="264033"/>
          </a:xfrm>
          <a:prstGeom prst="rect">
            <a:avLst/>
          </a:prstGeom>
          <a:noFill/>
          <a:ln/>
        </p:spPr>
        <p:txBody>
          <a:bodyPr wrap="square" lIns="0" tIns="0" rIns="0" bIns="0" rtlCol="0" anchor="t"/>
          <a:lstStyle/>
          <a:p>
            <a:pPr marL="0" indent="0" algn="l">
              <a:lnSpc>
                <a:spcPts val="1688"/>
              </a:lnSpc>
              <a:buNone/>
            </a:pPr>
            <a:r>
              <a:rPr lang="en-US" sz="1350" b="1" dirty="0">
                <a:solidFill>
                  <a:srgbClr val="EDF3F8"/>
                </a:solidFill>
                <a:latin typeface="Arial" pitchFamily="34" charset="0"/>
                <a:ea typeface="Arial" pitchFamily="34" charset="-122"/>
                <a:cs typeface="Arial" pitchFamily="34" charset="-120"/>
              </a:rPr>
              <a:t>Black or African American</a:t>
            </a:r>
            <a:endParaRPr lang="en-US" sz="1350" dirty="0"/>
          </a:p>
        </p:txBody>
      </p:sp>
      <p:sp>
        <p:nvSpPr>
          <p:cNvPr id="35" name="Text 33"/>
          <p:cNvSpPr txBox="1"/>
          <p:nvPr/>
        </p:nvSpPr>
        <p:spPr>
          <a:xfrm>
            <a:off x="711101" y="5501128"/>
            <a:ext cx="2694432" cy="230696"/>
          </a:xfrm>
          <a:prstGeom prst="rect">
            <a:avLst/>
          </a:prstGeom>
          <a:noFill/>
          <a:ln/>
        </p:spPr>
        <p:txBody>
          <a:bodyPr wrap="square" lIns="0" tIns="0" rIns="0" bIns="0" rtlCol="0" anchor="t"/>
          <a:lstStyle/>
          <a:p>
            <a:pPr marL="0" indent="0" algn="l">
              <a:lnSpc>
                <a:spcPts val="1313"/>
              </a:lnSpc>
              <a:buNone/>
            </a:pPr>
            <a:r>
              <a:rPr lang="en-US" sz="1200" dirty="0">
                <a:solidFill>
                  <a:srgbClr val="71909F"/>
                </a:solidFill>
                <a:latin typeface="Arial" pitchFamily="34" charset="0"/>
                <a:ea typeface="Arial" pitchFamily="34" charset="-122"/>
                <a:cs typeface="Arial" pitchFamily="34" charset="-120"/>
              </a:rPr>
              <a:t>58,130 loans</a:t>
            </a:r>
            <a:endParaRPr lang="en-US" sz="1200" dirty="0"/>
          </a:p>
        </p:txBody>
      </p:sp>
      <p:sp>
        <p:nvSpPr>
          <p:cNvPr id="36" name="Text 34"/>
          <p:cNvSpPr txBox="1"/>
          <p:nvPr/>
        </p:nvSpPr>
        <p:spPr>
          <a:xfrm>
            <a:off x="5969198" y="5343966"/>
            <a:ext cx="1094232" cy="292608"/>
          </a:xfrm>
          <a:prstGeom prst="rect">
            <a:avLst/>
          </a:prstGeom>
          <a:noFill/>
          <a:ln/>
        </p:spPr>
        <p:txBody>
          <a:bodyPr wrap="square" lIns="0" tIns="0" rIns="0" bIns="0" rtlCol="0" anchor="t"/>
          <a:lstStyle/>
          <a:p>
            <a:pPr marL="0" indent="0" algn="r">
              <a:lnSpc>
                <a:spcPts val="1800"/>
              </a:lnSpc>
              <a:buNone/>
            </a:pPr>
            <a:r>
              <a:rPr lang="en-US" sz="1500" b="1" dirty="0">
                <a:solidFill>
                  <a:srgbClr val="EDF3F8"/>
                </a:solidFill>
                <a:latin typeface="Arial" pitchFamily="34" charset="0"/>
                <a:ea typeface="Arial" pitchFamily="34" charset="-122"/>
                <a:cs typeface="Arial" pitchFamily="34" charset="-120"/>
              </a:rPr>
              <a:t>6.11%</a:t>
            </a:r>
            <a:endParaRPr lang="en-US" sz="1500" dirty="0"/>
          </a:p>
        </p:txBody>
      </p:sp>
      <p:sp>
        <p:nvSpPr>
          <p:cNvPr id="37" name="Text 35"/>
          <p:cNvSpPr txBox="1"/>
          <p:nvPr/>
        </p:nvSpPr>
        <p:spPr>
          <a:xfrm>
            <a:off x="7213699" y="5358253"/>
            <a:ext cx="1246632" cy="264033"/>
          </a:xfrm>
          <a:prstGeom prst="rect">
            <a:avLst/>
          </a:prstGeom>
          <a:noFill/>
          <a:ln/>
        </p:spPr>
        <p:txBody>
          <a:bodyPr wrap="square" lIns="0" tIns="0" rIns="0" bIns="0" rtlCol="0" anchor="t"/>
          <a:lstStyle/>
          <a:p>
            <a:pPr marL="0" indent="0" algn="r">
              <a:lnSpc>
                <a:spcPts val="1560"/>
              </a:lnSpc>
              <a:buNone/>
            </a:pPr>
            <a:r>
              <a:rPr lang="en-US" sz="1300" dirty="0">
                <a:solidFill>
                  <a:srgbClr val="A8BECF"/>
                </a:solidFill>
                <a:latin typeface="Arial" pitchFamily="34" charset="0"/>
                <a:ea typeface="Arial" pitchFamily="34" charset="-122"/>
                <a:cs typeface="Arial" pitchFamily="34" charset="-120"/>
              </a:rPr>
              <a:t>$19.6bn</a:t>
            </a:r>
            <a:endParaRPr lang="en-US" sz="1300" dirty="0"/>
          </a:p>
        </p:txBody>
      </p:sp>
      <p:sp>
        <p:nvSpPr>
          <p:cNvPr id="38" name="Text 36"/>
          <p:cNvSpPr txBox="1"/>
          <p:nvPr/>
        </p:nvSpPr>
        <p:spPr>
          <a:xfrm>
            <a:off x="711101" y="5870966"/>
            <a:ext cx="441621" cy="264033"/>
          </a:xfrm>
          <a:prstGeom prst="rect">
            <a:avLst/>
          </a:prstGeom>
          <a:noFill/>
          <a:ln/>
        </p:spPr>
        <p:txBody>
          <a:bodyPr wrap="square" lIns="0" tIns="0" rIns="0" bIns="0" rtlCol="0" anchor="t"/>
          <a:lstStyle/>
          <a:p>
            <a:pPr marL="0" indent="0" algn="l">
              <a:lnSpc>
                <a:spcPts val="1688"/>
              </a:lnSpc>
              <a:buNone/>
            </a:pPr>
            <a:r>
              <a:rPr lang="en-US" sz="1350" b="1" dirty="0">
                <a:solidFill>
                  <a:srgbClr val="EDF3F8"/>
                </a:solidFill>
                <a:latin typeface="Arial" pitchFamily="34" charset="0"/>
                <a:ea typeface="Arial" pitchFamily="34" charset="-122"/>
                <a:cs typeface="Arial" pitchFamily="34" charset="-120"/>
              </a:rPr>
              <a:t>Joint</a:t>
            </a:r>
            <a:endParaRPr lang="en-US" sz="1350" dirty="0"/>
          </a:p>
        </p:txBody>
      </p:sp>
      <p:sp>
        <p:nvSpPr>
          <p:cNvPr id="39" name="Text 37"/>
          <p:cNvSpPr txBox="1"/>
          <p:nvPr/>
        </p:nvSpPr>
        <p:spPr>
          <a:xfrm>
            <a:off x="711101" y="6123378"/>
            <a:ext cx="2694432" cy="230696"/>
          </a:xfrm>
          <a:prstGeom prst="rect">
            <a:avLst/>
          </a:prstGeom>
          <a:noFill/>
          <a:ln/>
        </p:spPr>
        <p:txBody>
          <a:bodyPr wrap="square" lIns="0" tIns="0" rIns="0" bIns="0" rtlCol="0" anchor="t"/>
          <a:lstStyle/>
          <a:p>
            <a:pPr marL="0" indent="0" algn="l">
              <a:lnSpc>
                <a:spcPts val="1313"/>
              </a:lnSpc>
              <a:buNone/>
            </a:pPr>
            <a:r>
              <a:rPr lang="en-US" sz="1200" dirty="0">
                <a:solidFill>
                  <a:srgbClr val="71909F"/>
                </a:solidFill>
                <a:latin typeface="Arial" pitchFamily="34" charset="0"/>
                <a:ea typeface="Arial" pitchFamily="34" charset="-122"/>
                <a:cs typeface="Arial" pitchFamily="34" charset="-120"/>
              </a:rPr>
              <a:t>17,886 loans</a:t>
            </a:r>
            <a:endParaRPr lang="en-US" sz="1200" dirty="0"/>
          </a:p>
        </p:txBody>
      </p:sp>
      <p:sp>
        <p:nvSpPr>
          <p:cNvPr id="40" name="Text 38"/>
          <p:cNvSpPr txBox="1"/>
          <p:nvPr/>
        </p:nvSpPr>
        <p:spPr>
          <a:xfrm>
            <a:off x="5969198" y="5966216"/>
            <a:ext cx="1094232" cy="292608"/>
          </a:xfrm>
          <a:prstGeom prst="rect">
            <a:avLst/>
          </a:prstGeom>
          <a:noFill/>
          <a:ln/>
        </p:spPr>
        <p:txBody>
          <a:bodyPr wrap="square" lIns="0" tIns="0" rIns="0" bIns="0" rtlCol="0" anchor="t"/>
          <a:lstStyle/>
          <a:p>
            <a:pPr marL="0" indent="0" algn="r">
              <a:lnSpc>
                <a:spcPts val="1800"/>
              </a:lnSpc>
              <a:buNone/>
            </a:pPr>
            <a:r>
              <a:rPr lang="en-US" sz="1500" b="1" dirty="0">
                <a:solidFill>
                  <a:srgbClr val="EDF3F8"/>
                </a:solidFill>
                <a:latin typeface="Arial" pitchFamily="34" charset="0"/>
                <a:ea typeface="Arial" pitchFamily="34" charset="-122"/>
                <a:cs typeface="Arial" pitchFamily="34" charset="-120"/>
              </a:rPr>
              <a:t>1.88%</a:t>
            </a:r>
            <a:endParaRPr lang="en-US" sz="1500" dirty="0"/>
          </a:p>
        </p:txBody>
      </p:sp>
      <p:sp>
        <p:nvSpPr>
          <p:cNvPr id="41" name="Text 39"/>
          <p:cNvSpPr txBox="1"/>
          <p:nvPr/>
        </p:nvSpPr>
        <p:spPr>
          <a:xfrm>
            <a:off x="7213699" y="5980503"/>
            <a:ext cx="1246632" cy="264033"/>
          </a:xfrm>
          <a:prstGeom prst="rect">
            <a:avLst/>
          </a:prstGeom>
          <a:noFill/>
          <a:ln/>
        </p:spPr>
        <p:txBody>
          <a:bodyPr wrap="square" lIns="0" tIns="0" rIns="0" bIns="0" rtlCol="0" anchor="t"/>
          <a:lstStyle/>
          <a:p>
            <a:pPr marL="0" indent="0" algn="r">
              <a:lnSpc>
                <a:spcPts val="1560"/>
              </a:lnSpc>
              <a:buNone/>
            </a:pPr>
            <a:r>
              <a:rPr lang="en-US" sz="1300" dirty="0">
                <a:solidFill>
                  <a:srgbClr val="A8BECF"/>
                </a:solidFill>
                <a:latin typeface="Arial" pitchFamily="34" charset="0"/>
                <a:ea typeface="Arial" pitchFamily="34" charset="-122"/>
                <a:cs typeface="Arial" pitchFamily="34" charset="-120"/>
              </a:rPr>
              <a:t>$8.9bn</a:t>
            </a:r>
            <a:endParaRPr lang="en-US" sz="1300" dirty="0"/>
          </a:p>
        </p:txBody>
      </p:sp>
      <p:sp>
        <p:nvSpPr>
          <p:cNvPr id="42" name="Text 40"/>
          <p:cNvSpPr txBox="1"/>
          <p:nvPr/>
        </p:nvSpPr>
        <p:spPr>
          <a:xfrm>
            <a:off x="711101" y="6493216"/>
            <a:ext cx="1974848" cy="264033"/>
          </a:xfrm>
          <a:prstGeom prst="rect">
            <a:avLst/>
          </a:prstGeom>
          <a:noFill/>
          <a:ln/>
        </p:spPr>
        <p:txBody>
          <a:bodyPr wrap="square" lIns="0" tIns="0" rIns="0" bIns="0" rtlCol="0" anchor="t"/>
          <a:lstStyle/>
          <a:p>
            <a:pPr marL="0" indent="0" algn="l">
              <a:lnSpc>
                <a:spcPts val="1688"/>
              </a:lnSpc>
              <a:buNone/>
            </a:pPr>
            <a:r>
              <a:rPr lang="en-US" sz="1350" b="1" dirty="0">
                <a:solidFill>
                  <a:srgbClr val="EDF3F8"/>
                </a:solidFill>
                <a:latin typeface="Arial" pitchFamily="34" charset="0"/>
                <a:ea typeface="Arial" pitchFamily="34" charset="-122"/>
                <a:cs typeface="Arial" pitchFamily="34" charset="-120"/>
              </a:rPr>
              <a:t>Four smaller categories</a:t>
            </a:r>
            <a:endParaRPr lang="en-US" sz="1350" dirty="0"/>
          </a:p>
        </p:txBody>
      </p:sp>
      <p:sp>
        <p:nvSpPr>
          <p:cNvPr id="43" name="Text 41"/>
          <p:cNvSpPr txBox="1"/>
          <p:nvPr/>
        </p:nvSpPr>
        <p:spPr>
          <a:xfrm>
            <a:off x="711101" y="6745629"/>
            <a:ext cx="2694432" cy="230696"/>
          </a:xfrm>
          <a:prstGeom prst="rect">
            <a:avLst/>
          </a:prstGeom>
          <a:noFill/>
          <a:ln/>
        </p:spPr>
        <p:txBody>
          <a:bodyPr wrap="square" lIns="0" tIns="0" rIns="0" bIns="0" rtlCol="0" anchor="t"/>
          <a:lstStyle/>
          <a:p>
            <a:pPr marL="0" indent="0" algn="l">
              <a:lnSpc>
                <a:spcPts val="1313"/>
              </a:lnSpc>
              <a:buNone/>
            </a:pPr>
            <a:r>
              <a:rPr lang="en-US" sz="1200" dirty="0">
                <a:solidFill>
                  <a:srgbClr val="71909F"/>
                </a:solidFill>
                <a:latin typeface="Arial" pitchFamily="34" charset="0"/>
                <a:ea typeface="Arial" pitchFamily="34" charset="-122"/>
                <a:cs typeface="Arial" pitchFamily="34" charset="-120"/>
              </a:rPr>
              <a:t>5,748 loans</a:t>
            </a:r>
            <a:endParaRPr lang="en-US" sz="1200" dirty="0"/>
          </a:p>
        </p:txBody>
      </p:sp>
      <p:sp>
        <p:nvSpPr>
          <p:cNvPr id="44" name="Text 42"/>
          <p:cNvSpPr txBox="1"/>
          <p:nvPr/>
        </p:nvSpPr>
        <p:spPr>
          <a:xfrm>
            <a:off x="5969198" y="6588466"/>
            <a:ext cx="1094232" cy="292608"/>
          </a:xfrm>
          <a:prstGeom prst="rect">
            <a:avLst/>
          </a:prstGeom>
          <a:noFill/>
          <a:ln/>
        </p:spPr>
        <p:txBody>
          <a:bodyPr wrap="square" lIns="0" tIns="0" rIns="0" bIns="0" rtlCol="0" anchor="t"/>
          <a:lstStyle/>
          <a:p>
            <a:pPr marL="0" indent="0" algn="r">
              <a:lnSpc>
                <a:spcPts val="1800"/>
              </a:lnSpc>
              <a:buNone/>
            </a:pPr>
            <a:r>
              <a:rPr lang="en-US" sz="1500" b="1" dirty="0">
                <a:solidFill>
                  <a:srgbClr val="EDF3F8"/>
                </a:solidFill>
                <a:latin typeface="Arial" pitchFamily="34" charset="0"/>
                <a:ea typeface="Arial" pitchFamily="34" charset="-122"/>
                <a:cs typeface="Arial" pitchFamily="34" charset="-120"/>
              </a:rPr>
              <a:t>0.60%</a:t>
            </a:r>
            <a:endParaRPr lang="en-US" sz="1500" dirty="0"/>
          </a:p>
        </p:txBody>
      </p:sp>
      <p:sp>
        <p:nvSpPr>
          <p:cNvPr id="45" name="Text 43"/>
          <p:cNvSpPr txBox="1"/>
          <p:nvPr/>
        </p:nvSpPr>
        <p:spPr>
          <a:xfrm>
            <a:off x="7213699" y="6602754"/>
            <a:ext cx="1246632" cy="264033"/>
          </a:xfrm>
          <a:prstGeom prst="rect">
            <a:avLst/>
          </a:prstGeom>
          <a:noFill/>
          <a:ln/>
        </p:spPr>
        <p:txBody>
          <a:bodyPr wrap="square" lIns="0" tIns="0" rIns="0" bIns="0" rtlCol="0" anchor="t"/>
          <a:lstStyle/>
          <a:p>
            <a:pPr marL="0" indent="0" algn="r">
              <a:lnSpc>
                <a:spcPts val="1560"/>
              </a:lnSpc>
              <a:buNone/>
            </a:pPr>
            <a:r>
              <a:rPr lang="en-US" sz="1300" dirty="0">
                <a:solidFill>
                  <a:srgbClr val="A8BECF"/>
                </a:solidFill>
                <a:latin typeface="Arial" pitchFamily="34" charset="0"/>
                <a:ea typeface="Arial" pitchFamily="34" charset="-122"/>
                <a:cs typeface="Arial" pitchFamily="34" charset="-120"/>
              </a:rPr>
              <a:t>$1.7bn</a:t>
            </a:r>
            <a:endParaRPr lang="en-US" sz="1300" dirty="0"/>
          </a:p>
        </p:txBody>
      </p:sp>
      <p:sp>
        <p:nvSpPr>
          <p:cNvPr id="46" name="Text 44"/>
          <p:cNvSpPr txBox="1"/>
          <p:nvPr/>
        </p:nvSpPr>
        <p:spPr>
          <a:xfrm>
            <a:off x="711101" y="7733550"/>
            <a:ext cx="7749230" cy="782104"/>
          </a:xfrm>
          <a:prstGeom prst="rect">
            <a:avLst/>
          </a:prstGeom>
          <a:noFill/>
          <a:ln/>
        </p:spPr>
        <p:txBody>
          <a:bodyPr wrap="square" lIns="0" tIns="0" rIns="0" bIns="0" rtlCol="0" anchor="t"/>
          <a:lstStyle/>
          <a:p>
            <a:pPr marL="0" indent="0" algn="l">
              <a:lnSpc>
                <a:spcPts val="1860"/>
              </a:lnSpc>
              <a:buNone/>
            </a:pPr>
            <a:r>
              <a:rPr lang="en-US" sz="1400" b="1" dirty="0">
                <a:solidFill>
                  <a:srgbClr val="EDF3F8"/>
                </a:solidFill>
                <a:latin typeface="Arial" pitchFamily="34" charset="0"/>
                <a:ea typeface="Arial" pitchFamily="34" charset="-122"/>
                <a:cs typeface="Arial" pitchFamily="34" charset="-120"/>
              </a:rPr>
              <a:t>The regulator's categories are never dropped here, including "not available".</a:t>
            </a:r>
            <a:r>
              <a:rPr lang="en-US" sz="1400" dirty="0">
                <a:solidFill>
                  <a:srgbClr val="A8BECF"/>
                </a:solidFill>
                <a:latin typeface="Arial" pitchFamily="34" charset="0"/>
                <a:ea typeface="Arial" pitchFamily="34" charset="-122"/>
                <a:cs typeface="Arial" pitchFamily="34" charset="-120"/>
              </a:rPr>
              <a:t> It is 16.94 percent of originations and 26.6 percent of the dollars, so removing it would move every other share on this slide without saying so. The six rows sum to 951,371 loans exactly.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11101" y="3329316"/>
            <a:ext cx="7721798" cy="9525"/>
          </a:xfrm>
          <a:prstGeom prst="rect">
            <a:avLst/>
          </a:prstGeom>
          <a:solidFill>
            <a:srgbClr val="24415C"/>
          </a:solidFill>
          <a:ln/>
        </p:spPr>
      </p:sp>
      <p:sp>
        <p:nvSpPr>
          <p:cNvPr id="3" name="Shape 1"/>
          <p:cNvSpPr/>
          <p:nvPr/>
        </p:nvSpPr>
        <p:spPr>
          <a:xfrm>
            <a:off x="3555802" y="3949898"/>
            <a:ext cx="2235696" cy="355550"/>
          </a:xfrm>
          <a:prstGeom prst="roundRect">
            <a:avLst>
              <a:gd name="adj" fmla="val 27559"/>
            </a:avLst>
          </a:prstGeom>
          <a:solidFill>
            <a:srgbClr val="16293C"/>
          </a:solidFill>
          <a:ln/>
        </p:spPr>
      </p:sp>
      <p:sp>
        <p:nvSpPr>
          <p:cNvPr id="4" name="Shape 2"/>
          <p:cNvSpPr/>
          <p:nvPr/>
        </p:nvSpPr>
        <p:spPr>
          <a:xfrm>
            <a:off x="3555802" y="3949898"/>
            <a:ext cx="2235696" cy="355550"/>
          </a:xfrm>
          <a:prstGeom prst="roundRect">
            <a:avLst>
              <a:gd name="adj" fmla="val 27559"/>
            </a:avLst>
          </a:prstGeom>
          <a:solidFill>
            <a:srgbClr val="B48706"/>
          </a:solidFill>
          <a:ln/>
        </p:spPr>
      </p:sp>
      <p:sp>
        <p:nvSpPr>
          <p:cNvPr id="5" name="Shape 3"/>
          <p:cNvSpPr/>
          <p:nvPr/>
        </p:nvSpPr>
        <p:spPr>
          <a:xfrm>
            <a:off x="3555802" y="4572149"/>
            <a:ext cx="2235696" cy="355550"/>
          </a:xfrm>
          <a:prstGeom prst="roundRect">
            <a:avLst>
              <a:gd name="adj" fmla="val 27559"/>
            </a:avLst>
          </a:prstGeom>
          <a:solidFill>
            <a:srgbClr val="16293C"/>
          </a:solidFill>
          <a:ln/>
        </p:spPr>
      </p:sp>
      <p:sp>
        <p:nvSpPr>
          <p:cNvPr id="6" name="Shape 4"/>
          <p:cNvSpPr/>
          <p:nvPr/>
        </p:nvSpPr>
        <p:spPr>
          <a:xfrm>
            <a:off x="3555802" y="4572149"/>
            <a:ext cx="2062163" cy="355550"/>
          </a:xfrm>
          <a:prstGeom prst="roundRect">
            <a:avLst>
              <a:gd name="adj" fmla="val 27559"/>
            </a:avLst>
          </a:prstGeom>
          <a:solidFill>
            <a:srgbClr val="B48706"/>
          </a:solidFill>
          <a:ln/>
        </p:spPr>
      </p:sp>
      <p:sp>
        <p:nvSpPr>
          <p:cNvPr id="7" name="Shape 5"/>
          <p:cNvSpPr/>
          <p:nvPr/>
        </p:nvSpPr>
        <p:spPr>
          <a:xfrm>
            <a:off x="3555802" y="5194399"/>
            <a:ext cx="2235696" cy="355550"/>
          </a:xfrm>
          <a:prstGeom prst="roundRect">
            <a:avLst>
              <a:gd name="adj" fmla="val 27559"/>
            </a:avLst>
          </a:prstGeom>
          <a:solidFill>
            <a:srgbClr val="16293C"/>
          </a:solidFill>
          <a:ln/>
        </p:spPr>
      </p:sp>
      <p:sp>
        <p:nvSpPr>
          <p:cNvPr id="8" name="Shape 6"/>
          <p:cNvSpPr/>
          <p:nvPr/>
        </p:nvSpPr>
        <p:spPr>
          <a:xfrm>
            <a:off x="3555802" y="5194399"/>
            <a:ext cx="1390799" cy="355550"/>
          </a:xfrm>
          <a:prstGeom prst="roundRect">
            <a:avLst>
              <a:gd name="adj" fmla="val 27559"/>
            </a:avLst>
          </a:prstGeom>
          <a:solidFill>
            <a:srgbClr val="B48706"/>
          </a:solidFill>
          <a:ln/>
        </p:spPr>
      </p:sp>
      <p:sp>
        <p:nvSpPr>
          <p:cNvPr id="9" name="Shape 7"/>
          <p:cNvSpPr/>
          <p:nvPr/>
        </p:nvSpPr>
        <p:spPr>
          <a:xfrm>
            <a:off x="3555802" y="5816650"/>
            <a:ext cx="2235696" cy="355550"/>
          </a:xfrm>
          <a:prstGeom prst="roundRect">
            <a:avLst>
              <a:gd name="adj" fmla="val 27559"/>
            </a:avLst>
          </a:prstGeom>
          <a:solidFill>
            <a:srgbClr val="16293C"/>
          </a:solidFill>
          <a:ln/>
        </p:spPr>
      </p:sp>
      <p:sp>
        <p:nvSpPr>
          <p:cNvPr id="10" name="Shape 8"/>
          <p:cNvSpPr/>
          <p:nvPr/>
        </p:nvSpPr>
        <p:spPr>
          <a:xfrm>
            <a:off x="3555802" y="5816650"/>
            <a:ext cx="597098" cy="355550"/>
          </a:xfrm>
          <a:prstGeom prst="roundRect">
            <a:avLst>
              <a:gd name="adj" fmla="val 27559"/>
            </a:avLst>
          </a:prstGeom>
          <a:solidFill>
            <a:srgbClr val="71909F"/>
          </a:solidFill>
          <a:ln/>
        </p:spPr>
      </p:sp>
      <p:sp>
        <p:nvSpPr>
          <p:cNvPr id="11" name="Shape 9"/>
          <p:cNvSpPr/>
          <p:nvPr/>
        </p:nvSpPr>
        <p:spPr>
          <a:xfrm>
            <a:off x="711101" y="7300764"/>
            <a:ext cx="7721798" cy="9525"/>
          </a:xfrm>
          <a:prstGeom prst="rect">
            <a:avLst/>
          </a:prstGeom>
          <a:solidFill>
            <a:srgbClr val="24415C"/>
          </a:solidFill>
          <a:ln/>
        </p:spPr>
      </p:sp>
      <p:sp>
        <p:nvSpPr>
          <p:cNvPr id="12" name="Text 10"/>
          <p:cNvSpPr txBox="1"/>
          <p:nvPr/>
        </p:nvSpPr>
        <p:spPr>
          <a:xfrm>
            <a:off x="711101" y="628346"/>
            <a:ext cx="7749230" cy="264033"/>
          </a:xfrm>
          <a:prstGeom prst="rect">
            <a:avLst/>
          </a:prstGeom>
          <a:noFill/>
          <a:ln/>
        </p:spPr>
        <p:txBody>
          <a:bodyPr wrap="square" lIns="0" tIns="0" rIns="0" bIns="0" rtlCol="0" anchor="t"/>
          <a:lstStyle/>
          <a:p>
            <a:pPr marL="0" indent="0" algn="l">
              <a:lnSpc>
                <a:spcPts val="1560"/>
              </a:lnSpc>
              <a:buNone/>
            </a:pPr>
            <a:r>
              <a:rPr lang="en-US" sz="1300" b="1" kern="0" spc="416" dirty="0">
                <a:solidFill>
                  <a:srgbClr val="E3B341"/>
                </a:solidFill>
                <a:latin typeface="Arial" pitchFamily="34" charset="0"/>
                <a:ea typeface="Arial" pitchFamily="34" charset="-122"/>
                <a:cs typeface="Arial" pitchFamily="34" charset="-120"/>
              </a:rPr>
              <a:t>APPLICANT DEMOGRAPHICS</a:t>
            </a:r>
            <a:endParaRPr lang="en-US" sz="1300" dirty="0"/>
          </a:p>
        </p:txBody>
      </p:sp>
      <p:sp>
        <p:nvSpPr>
          <p:cNvPr id="13" name="Text 11"/>
          <p:cNvSpPr txBox="1"/>
          <p:nvPr/>
        </p:nvSpPr>
        <p:spPr>
          <a:xfrm>
            <a:off x="711101" y="1031522"/>
            <a:ext cx="7749230" cy="996565"/>
          </a:xfrm>
          <a:prstGeom prst="rect">
            <a:avLst/>
          </a:prstGeom>
          <a:noFill/>
          <a:ln/>
        </p:spPr>
        <p:txBody>
          <a:bodyPr wrap="square" lIns="0" tIns="0" rIns="0" bIns="0" rtlCol="0" anchor="t"/>
          <a:lstStyle/>
          <a:p>
            <a:pPr marL="0" indent="0" algn="l">
              <a:lnSpc>
                <a:spcPts val="3672"/>
              </a:lnSpc>
              <a:buNone/>
            </a:pPr>
            <a:r>
              <a:rPr lang="en-US" sz="3400" b="1" kern="0" spc="-48" dirty="0">
                <a:solidFill>
                  <a:srgbClr val="EDF3F8"/>
                </a:solidFill>
                <a:latin typeface="Arial" pitchFamily="34" charset="0"/>
                <a:ea typeface="Arial" pitchFamily="34" charset="-122"/>
                <a:cs typeface="Arial" pitchFamily="34" charset="-120"/>
              </a:rPr>
              <a:t>Originated loans by</a:t>
            </a:r>
            <a:endParaRPr lang="en-US" sz="3400" dirty="0"/>
          </a:p>
          <a:p>
            <a:pPr marL="0" indent="0" algn="l">
              <a:lnSpc>
                <a:spcPts val="3672"/>
              </a:lnSpc>
              <a:buNone/>
            </a:pPr>
            <a:r>
              <a:rPr lang="en-US" sz="3400" b="1" kern="0" spc="-48" dirty="0">
                <a:solidFill>
                  <a:srgbClr val="EDF3F8"/>
                </a:solidFill>
                <a:latin typeface="Arial" pitchFamily="34" charset="0"/>
                <a:ea typeface="Arial" pitchFamily="34" charset="-122"/>
                <a:cs typeface="Arial" pitchFamily="34" charset="-120"/>
              </a:rPr>
              <a:t>applicant sex</a:t>
            </a:r>
            <a:endParaRPr lang="en-US" sz="3400" dirty="0"/>
          </a:p>
        </p:txBody>
      </p:sp>
      <p:sp>
        <p:nvSpPr>
          <p:cNvPr id="14" name="Text 12"/>
          <p:cNvSpPr txBox="1"/>
          <p:nvPr/>
        </p:nvSpPr>
        <p:spPr>
          <a:xfrm>
            <a:off x="711101" y="3064209"/>
            <a:ext cx="2694432" cy="206883"/>
          </a:xfrm>
          <a:prstGeom prst="rect">
            <a:avLst/>
          </a:prstGeom>
          <a:noFill/>
          <a:ln/>
        </p:spPr>
        <p:txBody>
          <a:bodyPr wrap="square" lIns="0" tIns="0" rIns="0" bIns="0" rtlCol="0" anchor="t"/>
          <a:lstStyle/>
          <a:p>
            <a:pPr marL="0" indent="0" algn="l">
              <a:lnSpc>
                <a:spcPts val="1140"/>
              </a:lnSpc>
              <a:buNone/>
            </a:pPr>
            <a:r>
              <a:rPr lang="en-US" sz="1000" b="1" kern="0" spc="67" dirty="0">
                <a:solidFill>
                  <a:srgbClr val="71909F"/>
                </a:solidFill>
                <a:latin typeface="Arial" pitchFamily="34" charset="0"/>
                <a:ea typeface="Arial" pitchFamily="34" charset="-122"/>
                <a:cs typeface="Arial" pitchFamily="34" charset="-120"/>
              </a:rPr>
              <a:t>SEX</a:t>
            </a:r>
            <a:endParaRPr lang="en-US" sz="1000" dirty="0"/>
          </a:p>
        </p:txBody>
      </p:sp>
      <p:sp>
        <p:nvSpPr>
          <p:cNvPr id="15" name="Text 13"/>
          <p:cNvSpPr txBox="1"/>
          <p:nvPr/>
        </p:nvSpPr>
        <p:spPr>
          <a:xfrm>
            <a:off x="3555802" y="3064209"/>
            <a:ext cx="2263128" cy="206883"/>
          </a:xfrm>
          <a:prstGeom prst="rect">
            <a:avLst/>
          </a:prstGeom>
          <a:noFill/>
          <a:ln/>
        </p:spPr>
        <p:txBody>
          <a:bodyPr wrap="square" lIns="0" tIns="0" rIns="0" bIns="0" rtlCol="0" anchor="t"/>
          <a:lstStyle/>
          <a:p>
            <a:pPr marL="0" indent="0" algn="l">
              <a:lnSpc>
                <a:spcPts val="1140"/>
              </a:lnSpc>
              <a:buNone/>
            </a:pPr>
            <a:r>
              <a:rPr lang="en-US" sz="1000" b="1" kern="0" spc="67" dirty="0">
                <a:solidFill>
                  <a:srgbClr val="71909F"/>
                </a:solidFill>
                <a:latin typeface="Arial" pitchFamily="34" charset="0"/>
                <a:ea typeface="Arial" pitchFamily="34" charset="-122"/>
                <a:cs typeface="Arial" pitchFamily="34" charset="-120"/>
              </a:rPr>
              <a:t>SHARE OF ORIGINATIONS</a:t>
            </a:r>
            <a:endParaRPr lang="en-US" sz="1000" dirty="0"/>
          </a:p>
        </p:txBody>
      </p:sp>
      <p:sp>
        <p:nvSpPr>
          <p:cNvPr id="16" name="Text 14"/>
          <p:cNvSpPr txBox="1"/>
          <p:nvPr/>
        </p:nvSpPr>
        <p:spPr>
          <a:xfrm>
            <a:off x="5969198" y="3064209"/>
            <a:ext cx="1094232" cy="206883"/>
          </a:xfrm>
          <a:prstGeom prst="rect">
            <a:avLst/>
          </a:prstGeom>
          <a:noFill/>
          <a:ln/>
        </p:spPr>
        <p:txBody>
          <a:bodyPr wrap="square" lIns="0" tIns="0" rIns="0" bIns="0" rtlCol="0" anchor="t"/>
          <a:lstStyle/>
          <a:p>
            <a:pPr marL="0" indent="0" algn="r">
              <a:lnSpc>
                <a:spcPts val="1140"/>
              </a:lnSpc>
              <a:buNone/>
            </a:pPr>
            <a:r>
              <a:rPr lang="en-US" sz="1000" b="1" kern="0" spc="67" dirty="0">
                <a:solidFill>
                  <a:srgbClr val="71909F"/>
                </a:solidFill>
                <a:latin typeface="Arial" pitchFamily="34" charset="0"/>
                <a:ea typeface="Arial" pitchFamily="34" charset="-122"/>
                <a:cs typeface="Arial" pitchFamily="34" charset="-120"/>
              </a:rPr>
              <a:t>SHARE</a:t>
            </a:r>
            <a:endParaRPr lang="en-US" sz="1000" dirty="0"/>
          </a:p>
        </p:txBody>
      </p:sp>
      <p:sp>
        <p:nvSpPr>
          <p:cNvPr id="17" name="Text 15"/>
          <p:cNvSpPr txBox="1"/>
          <p:nvPr/>
        </p:nvSpPr>
        <p:spPr>
          <a:xfrm>
            <a:off x="7213699" y="3064209"/>
            <a:ext cx="1246632" cy="206883"/>
          </a:xfrm>
          <a:prstGeom prst="rect">
            <a:avLst/>
          </a:prstGeom>
          <a:noFill/>
          <a:ln/>
        </p:spPr>
        <p:txBody>
          <a:bodyPr wrap="square" lIns="0" tIns="0" rIns="0" bIns="0" rtlCol="0" anchor="t"/>
          <a:lstStyle/>
          <a:p>
            <a:pPr marL="0" indent="0" algn="r">
              <a:lnSpc>
                <a:spcPts val="1140"/>
              </a:lnSpc>
              <a:buNone/>
            </a:pPr>
            <a:r>
              <a:rPr lang="en-US" sz="1000" b="1" kern="0" spc="67" dirty="0">
                <a:solidFill>
                  <a:srgbClr val="71909F"/>
                </a:solidFill>
                <a:latin typeface="Arial" pitchFamily="34" charset="0"/>
                <a:ea typeface="Arial" pitchFamily="34" charset="-122"/>
                <a:cs typeface="Arial" pitchFamily="34" charset="-120"/>
              </a:rPr>
              <a:t>DISBURSED</a:t>
            </a:r>
            <a:endParaRPr lang="en-US" sz="1000" dirty="0"/>
          </a:p>
        </p:txBody>
      </p:sp>
      <p:sp>
        <p:nvSpPr>
          <p:cNvPr id="18" name="Text 16"/>
          <p:cNvSpPr txBox="1"/>
          <p:nvPr/>
        </p:nvSpPr>
        <p:spPr>
          <a:xfrm>
            <a:off x="711101" y="3886194"/>
            <a:ext cx="441621" cy="264033"/>
          </a:xfrm>
          <a:prstGeom prst="rect">
            <a:avLst/>
          </a:prstGeom>
          <a:noFill/>
          <a:ln/>
        </p:spPr>
        <p:txBody>
          <a:bodyPr wrap="square" lIns="0" tIns="0" rIns="0" bIns="0" rtlCol="0" anchor="t"/>
          <a:lstStyle/>
          <a:p>
            <a:pPr marL="0" indent="0" algn="l">
              <a:lnSpc>
                <a:spcPts val="1688"/>
              </a:lnSpc>
              <a:buNone/>
            </a:pPr>
            <a:r>
              <a:rPr lang="en-US" sz="1350" b="1" dirty="0">
                <a:solidFill>
                  <a:srgbClr val="EDF3F8"/>
                </a:solidFill>
                <a:latin typeface="Arial" pitchFamily="34" charset="0"/>
                <a:ea typeface="Arial" pitchFamily="34" charset="-122"/>
                <a:cs typeface="Arial" pitchFamily="34" charset="-120"/>
              </a:rPr>
              <a:t>Joint</a:t>
            </a:r>
            <a:endParaRPr lang="en-US" sz="1350" dirty="0"/>
          </a:p>
        </p:txBody>
      </p:sp>
      <p:sp>
        <p:nvSpPr>
          <p:cNvPr id="19" name="Text 17"/>
          <p:cNvSpPr txBox="1"/>
          <p:nvPr/>
        </p:nvSpPr>
        <p:spPr>
          <a:xfrm>
            <a:off x="711101" y="4138607"/>
            <a:ext cx="2694432" cy="230696"/>
          </a:xfrm>
          <a:prstGeom prst="rect">
            <a:avLst/>
          </a:prstGeom>
          <a:noFill/>
          <a:ln/>
        </p:spPr>
        <p:txBody>
          <a:bodyPr wrap="square" lIns="0" tIns="0" rIns="0" bIns="0" rtlCol="0" anchor="t"/>
          <a:lstStyle/>
          <a:p>
            <a:pPr marL="0" indent="0" algn="l">
              <a:lnSpc>
                <a:spcPts val="1313"/>
              </a:lnSpc>
              <a:buNone/>
            </a:pPr>
            <a:r>
              <a:rPr lang="en-US" sz="1050" dirty="0">
                <a:solidFill>
                  <a:srgbClr val="71909F"/>
                </a:solidFill>
                <a:latin typeface="Arial" pitchFamily="34" charset="0"/>
                <a:ea typeface="Arial" pitchFamily="34" charset="-122"/>
                <a:cs typeface="Arial" pitchFamily="34" charset="-120"/>
              </a:rPr>
              <a:t>338,370 loans</a:t>
            </a:r>
            <a:endParaRPr lang="en-US" sz="1050" dirty="0"/>
          </a:p>
        </p:txBody>
      </p:sp>
      <p:sp>
        <p:nvSpPr>
          <p:cNvPr id="20" name="Text 18"/>
          <p:cNvSpPr txBox="1"/>
          <p:nvPr/>
        </p:nvSpPr>
        <p:spPr>
          <a:xfrm>
            <a:off x="5969198" y="3981444"/>
            <a:ext cx="1094232" cy="292608"/>
          </a:xfrm>
          <a:prstGeom prst="rect">
            <a:avLst/>
          </a:prstGeom>
          <a:noFill/>
          <a:ln/>
        </p:spPr>
        <p:txBody>
          <a:bodyPr wrap="square" lIns="0" tIns="0" rIns="0" bIns="0" rtlCol="0" anchor="t"/>
          <a:lstStyle/>
          <a:p>
            <a:pPr marL="0" indent="0" algn="r">
              <a:lnSpc>
                <a:spcPts val="1800"/>
              </a:lnSpc>
              <a:buNone/>
            </a:pPr>
            <a:r>
              <a:rPr lang="en-US" sz="1500" b="1" dirty="0">
                <a:solidFill>
                  <a:srgbClr val="EDF3F8"/>
                </a:solidFill>
                <a:latin typeface="Arial" pitchFamily="34" charset="0"/>
                <a:ea typeface="Arial" pitchFamily="34" charset="-122"/>
                <a:cs typeface="Arial" pitchFamily="34" charset="-120"/>
              </a:rPr>
              <a:t>35.57%</a:t>
            </a:r>
            <a:endParaRPr lang="en-US" sz="1500" dirty="0"/>
          </a:p>
        </p:txBody>
      </p:sp>
      <p:sp>
        <p:nvSpPr>
          <p:cNvPr id="21" name="Text 19"/>
          <p:cNvSpPr txBox="1"/>
          <p:nvPr/>
        </p:nvSpPr>
        <p:spPr>
          <a:xfrm>
            <a:off x="7213699" y="3995732"/>
            <a:ext cx="1246632" cy="264033"/>
          </a:xfrm>
          <a:prstGeom prst="rect">
            <a:avLst/>
          </a:prstGeom>
          <a:noFill/>
          <a:ln/>
        </p:spPr>
        <p:txBody>
          <a:bodyPr wrap="square" lIns="0" tIns="0" rIns="0" bIns="0" rtlCol="0" anchor="t"/>
          <a:lstStyle/>
          <a:p>
            <a:pPr marL="0" indent="0" algn="r">
              <a:lnSpc>
                <a:spcPts val="1560"/>
              </a:lnSpc>
              <a:buNone/>
            </a:pPr>
            <a:r>
              <a:rPr lang="en-US" sz="1300" dirty="0">
                <a:solidFill>
                  <a:srgbClr val="A8BECF"/>
                </a:solidFill>
                <a:latin typeface="Arial" pitchFamily="34" charset="0"/>
                <a:ea typeface="Arial" pitchFamily="34" charset="-122"/>
                <a:cs typeface="Arial" pitchFamily="34" charset="-120"/>
              </a:rPr>
              <a:t>$130.9bn</a:t>
            </a:r>
            <a:endParaRPr lang="en-US" sz="1300" dirty="0"/>
          </a:p>
        </p:txBody>
      </p:sp>
      <p:sp>
        <p:nvSpPr>
          <p:cNvPr id="22" name="Text 20"/>
          <p:cNvSpPr txBox="1"/>
          <p:nvPr/>
        </p:nvSpPr>
        <p:spPr>
          <a:xfrm>
            <a:off x="711101" y="4508444"/>
            <a:ext cx="430310" cy="264033"/>
          </a:xfrm>
          <a:prstGeom prst="rect">
            <a:avLst/>
          </a:prstGeom>
          <a:noFill/>
          <a:ln/>
        </p:spPr>
        <p:txBody>
          <a:bodyPr wrap="square" lIns="0" tIns="0" rIns="0" bIns="0" rtlCol="0" anchor="t"/>
          <a:lstStyle/>
          <a:p>
            <a:pPr marL="0" indent="0" algn="l">
              <a:lnSpc>
                <a:spcPts val="1688"/>
              </a:lnSpc>
              <a:buNone/>
            </a:pPr>
            <a:r>
              <a:rPr lang="en-US" sz="1350" b="1" dirty="0">
                <a:solidFill>
                  <a:srgbClr val="EDF3F8"/>
                </a:solidFill>
                <a:latin typeface="Arial" pitchFamily="34" charset="0"/>
                <a:ea typeface="Arial" pitchFamily="34" charset="-122"/>
                <a:cs typeface="Arial" pitchFamily="34" charset="-120"/>
              </a:rPr>
              <a:t>Male</a:t>
            </a:r>
            <a:endParaRPr lang="en-US" sz="1350" dirty="0"/>
          </a:p>
        </p:txBody>
      </p:sp>
      <p:sp>
        <p:nvSpPr>
          <p:cNvPr id="23" name="Text 21"/>
          <p:cNvSpPr txBox="1"/>
          <p:nvPr/>
        </p:nvSpPr>
        <p:spPr>
          <a:xfrm>
            <a:off x="711101" y="4760857"/>
            <a:ext cx="2694432" cy="230696"/>
          </a:xfrm>
          <a:prstGeom prst="rect">
            <a:avLst/>
          </a:prstGeom>
          <a:noFill/>
          <a:ln/>
        </p:spPr>
        <p:txBody>
          <a:bodyPr wrap="square" lIns="0" tIns="0" rIns="0" bIns="0" rtlCol="0" anchor="t"/>
          <a:lstStyle/>
          <a:p>
            <a:pPr marL="0" indent="0" algn="l">
              <a:lnSpc>
                <a:spcPts val="1313"/>
              </a:lnSpc>
              <a:buNone/>
            </a:pPr>
            <a:r>
              <a:rPr lang="en-US" sz="1050" dirty="0">
                <a:solidFill>
                  <a:srgbClr val="71909F"/>
                </a:solidFill>
                <a:latin typeface="Arial" pitchFamily="34" charset="0"/>
                <a:ea typeface="Arial" pitchFamily="34" charset="-122"/>
                <a:cs typeface="Arial" pitchFamily="34" charset="-120"/>
              </a:rPr>
              <a:t>312,145 loans</a:t>
            </a:r>
            <a:endParaRPr lang="en-US" sz="1050" dirty="0"/>
          </a:p>
        </p:txBody>
      </p:sp>
      <p:sp>
        <p:nvSpPr>
          <p:cNvPr id="24" name="Text 22"/>
          <p:cNvSpPr txBox="1"/>
          <p:nvPr/>
        </p:nvSpPr>
        <p:spPr>
          <a:xfrm>
            <a:off x="5969198" y="4603694"/>
            <a:ext cx="1094232" cy="292608"/>
          </a:xfrm>
          <a:prstGeom prst="rect">
            <a:avLst/>
          </a:prstGeom>
          <a:noFill/>
          <a:ln/>
        </p:spPr>
        <p:txBody>
          <a:bodyPr wrap="square" lIns="0" tIns="0" rIns="0" bIns="0" rtlCol="0" anchor="t"/>
          <a:lstStyle/>
          <a:p>
            <a:pPr marL="0" indent="0" algn="r">
              <a:lnSpc>
                <a:spcPts val="1800"/>
              </a:lnSpc>
              <a:buNone/>
            </a:pPr>
            <a:r>
              <a:rPr lang="en-US" sz="1500" b="1" dirty="0">
                <a:solidFill>
                  <a:srgbClr val="EDF3F8"/>
                </a:solidFill>
                <a:latin typeface="Arial" pitchFamily="34" charset="0"/>
                <a:ea typeface="Arial" pitchFamily="34" charset="-122"/>
                <a:cs typeface="Arial" pitchFamily="34" charset="-120"/>
              </a:rPr>
              <a:t>32.81%</a:t>
            </a:r>
            <a:endParaRPr lang="en-US" sz="1500" dirty="0"/>
          </a:p>
        </p:txBody>
      </p:sp>
      <p:sp>
        <p:nvSpPr>
          <p:cNvPr id="25" name="Text 23"/>
          <p:cNvSpPr txBox="1"/>
          <p:nvPr/>
        </p:nvSpPr>
        <p:spPr>
          <a:xfrm>
            <a:off x="7213699" y="4617982"/>
            <a:ext cx="1246632" cy="264033"/>
          </a:xfrm>
          <a:prstGeom prst="rect">
            <a:avLst/>
          </a:prstGeom>
          <a:noFill/>
          <a:ln/>
        </p:spPr>
        <p:txBody>
          <a:bodyPr wrap="square" lIns="0" tIns="0" rIns="0" bIns="0" rtlCol="0" anchor="t"/>
          <a:lstStyle/>
          <a:p>
            <a:pPr marL="0" indent="0" algn="r">
              <a:lnSpc>
                <a:spcPts val="1560"/>
              </a:lnSpc>
              <a:buNone/>
            </a:pPr>
            <a:r>
              <a:rPr lang="en-US" sz="1300" dirty="0">
                <a:solidFill>
                  <a:srgbClr val="A8BECF"/>
                </a:solidFill>
                <a:latin typeface="Arial" pitchFamily="34" charset="0"/>
                <a:ea typeface="Arial" pitchFamily="34" charset="-122"/>
                <a:cs typeface="Arial" pitchFamily="34" charset="-120"/>
              </a:rPr>
              <a:t>$111.9bn</a:t>
            </a:r>
            <a:endParaRPr lang="en-US" sz="1300" dirty="0"/>
          </a:p>
        </p:txBody>
      </p:sp>
      <p:sp>
        <p:nvSpPr>
          <p:cNvPr id="26" name="Text 24"/>
          <p:cNvSpPr txBox="1"/>
          <p:nvPr/>
        </p:nvSpPr>
        <p:spPr>
          <a:xfrm>
            <a:off x="711101" y="5130695"/>
            <a:ext cx="623191" cy="264033"/>
          </a:xfrm>
          <a:prstGeom prst="rect">
            <a:avLst/>
          </a:prstGeom>
          <a:noFill/>
          <a:ln/>
        </p:spPr>
        <p:txBody>
          <a:bodyPr wrap="square" lIns="0" tIns="0" rIns="0" bIns="0" rtlCol="0" anchor="t"/>
          <a:lstStyle/>
          <a:p>
            <a:pPr marL="0" indent="0" algn="l">
              <a:lnSpc>
                <a:spcPts val="1688"/>
              </a:lnSpc>
              <a:buNone/>
            </a:pPr>
            <a:r>
              <a:rPr lang="en-US" sz="1350" b="1" dirty="0">
                <a:solidFill>
                  <a:srgbClr val="EDF3F8"/>
                </a:solidFill>
                <a:latin typeface="Arial" pitchFamily="34" charset="0"/>
                <a:ea typeface="Arial" pitchFamily="34" charset="-122"/>
                <a:cs typeface="Arial" pitchFamily="34" charset="-120"/>
              </a:rPr>
              <a:t>Female</a:t>
            </a:r>
            <a:endParaRPr lang="en-US" sz="1350" dirty="0"/>
          </a:p>
        </p:txBody>
      </p:sp>
      <p:sp>
        <p:nvSpPr>
          <p:cNvPr id="27" name="Text 25"/>
          <p:cNvSpPr txBox="1"/>
          <p:nvPr/>
        </p:nvSpPr>
        <p:spPr>
          <a:xfrm>
            <a:off x="711101" y="5383107"/>
            <a:ext cx="2694432" cy="230696"/>
          </a:xfrm>
          <a:prstGeom prst="rect">
            <a:avLst/>
          </a:prstGeom>
          <a:noFill/>
          <a:ln/>
        </p:spPr>
        <p:txBody>
          <a:bodyPr wrap="square" lIns="0" tIns="0" rIns="0" bIns="0" rtlCol="0" anchor="t"/>
          <a:lstStyle/>
          <a:p>
            <a:pPr marL="0" indent="0" algn="l">
              <a:lnSpc>
                <a:spcPts val="1313"/>
              </a:lnSpc>
              <a:buNone/>
            </a:pPr>
            <a:r>
              <a:rPr lang="en-US" sz="1050" dirty="0">
                <a:solidFill>
                  <a:srgbClr val="71909F"/>
                </a:solidFill>
                <a:latin typeface="Arial" pitchFamily="34" charset="0"/>
                <a:ea typeface="Arial" pitchFamily="34" charset="-122"/>
                <a:cs typeface="Arial" pitchFamily="34" charset="-120"/>
              </a:rPr>
              <a:t>210,493 loans</a:t>
            </a:r>
            <a:endParaRPr lang="en-US" sz="1050" dirty="0"/>
          </a:p>
        </p:txBody>
      </p:sp>
      <p:sp>
        <p:nvSpPr>
          <p:cNvPr id="28" name="Text 26"/>
          <p:cNvSpPr txBox="1"/>
          <p:nvPr/>
        </p:nvSpPr>
        <p:spPr>
          <a:xfrm>
            <a:off x="5969198" y="5225945"/>
            <a:ext cx="1094232" cy="292608"/>
          </a:xfrm>
          <a:prstGeom prst="rect">
            <a:avLst/>
          </a:prstGeom>
          <a:noFill/>
          <a:ln/>
        </p:spPr>
        <p:txBody>
          <a:bodyPr wrap="square" lIns="0" tIns="0" rIns="0" bIns="0" rtlCol="0" anchor="t"/>
          <a:lstStyle/>
          <a:p>
            <a:pPr marL="0" indent="0" algn="r">
              <a:lnSpc>
                <a:spcPts val="1800"/>
              </a:lnSpc>
              <a:buNone/>
            </a:pPr>
            <a:r>
              <a:rPr lang="en-US" sz="1500" b="1" dirty="0">
                <a:solidFill>
                  <a:srgbClr val="EDF3F8"/>
                </a:solidFill>
                <a:latin typeface="Arial" pitchFamily="34" charset="0"/>
                <a:ea typeface="Arial" pitchFamily="34" charset="-122"/>
                <a:cs typeface="Arial" pitchFamily="34" charset="-120"/>
              </a:rPr>
              <a:t>22.13%</a:t>
            </a:r>
            <a:endParaRPr lang="en-US" sz="1500" dirty="0"/>
          </a:p>
        </p:txBody>
      </p:sp>
      <p:sp>
        <p:nvSpPr>
          <p:cNvPr id="29" name="Text 27"/>
          <p:cNvSpPr txBox="1"/>
          <p:nvPr/>
        </p:nvSpPr>
        <p:spPr>
          <a:xfrm>
            <a:off x="7213699" y="5240232"/>
            <a:ext cx="1246632" cy="264033"/>
          </a:xfrm>
          <a:prstGeom prst="rect">
            <a:avLst/>
          </a:prstGeom>
          <a:noFill/>
          <a:ln/>
        </p:spPr>
        <p:txBody>
          <a:bodyPr wrap="square" lIns="0" tIns="0" rIns="0" bIns="0" rtlCol="0" anchor="t"/>
          <a:lstStyle/>
          <a:p>
            <a:pPr marL="0" indent="0" algn="r">
              <a:lnSpc>
                <a:spcPts val="1560"/>
              </a:lnSpc>
              <a:buNone/>
            </a:pPr>
            <a:r>
              <a:rPr lang="en-US" sz="1300" dirty="0">
                <a:solidFill>
                  <a:srgbClr val="A8BECF"/>
                </a:solidFill>
                <a:latin typeface="Arial" pitchFamily="34" charset="0"/>
                <a:ea typeface="Arial" pitchFamily="34" charset="-122"/>
                <a:cs typeface="Arial" pitchFamily="34" charset="-120"/>
              </a:rPr>
              <a:t>$59.6bn</a:t>
            </a:r>
            <a:endParaRPr lang="en-US" sz="1300" dirty="0"/>
          </a:p>
        </p:txBody>
      </p:sp>
      <p:sp>
        <p:nvSpPr>
          <p:cNvPr id="30" name="Text 28"/>
          <p:cNvSpPr txBox="1"/>
          <p:nvPr/>
        </p:nvSpPr>
        <p:spPr>
          <a:xfrm>
            <a:off x="711101" y="5752945"/>
            <a:ext cx="1425226" cy="264033"/>
          </a:xfrm>
          <a:prstGeom prst="rect">
            <a:avLst/>
          </a:prstGeom>
          <a:noFill/>
          <a:ln/>
        </p:spPr>
        <p:txBody>
          <a:bodyPr wrap="square" lIns="0" tIns="0" rIns="0" bIns="0" rtlCol="0" anchor="t"/>
          <a:lstStyle/>
          <a:p>
            <a:pPr marL="0" indent="0" algn="l">
              <a:lnSpc>
                <a:spcPts val="1688"/>
              </a:lnSpc>
              <a:buNone/>
            </a:pPr>
            <a:r>
              <a:rPr lang="en-US" sz="1350" b="1" dirty="0">
                <a:solidFill>
                  <a:srgbClr val="EDF3F8"/>
                </a:solidFill>
                <a:latin typeface="Arial" pitchFamily="34" charset="0"/>
                <a:ea typeface="Arial" pitchFamily="34" charset="-122"/>
                <a:cs typeface="Arial" pitchFamily="34" charset="-120"/>
              </a:rPr>
              <a:t>Sex not available</a:t>
            </a:r>
            <a:endParaRPr lang="en-US" sz="1350" dirty="0"/>
          </a:p>
        </p:txBody>
      </p:sp>
      <p:sp>
        <p:nvSpPr>
          <p:cNvPr id="31" name="Text 29"/>
          <p:cNvSpPr txBox="1"/>
          <p:nvPr/>
        </p:nvSpPr>
        <p:spPr>
          <a:xfrm>
            <a:off x="711101" y="6005358"/>
            <a:ext cx="2694432" cy="230696"/>
          </a:xfrm>
          <a:prstGeom prst="rect">
            <a:avLst/>
          </a:prstGeom>
          <a:noFill/>
          <a:ln/>
        </p:spPr>
        <p:txBody>
          <a:bodyPr wrap="square" lIns="0" tIns="0" rIns="0" bIns="0" rtlCol="0" anchor="t"/>
          <a:lstStyle/>
          <a:p>
            <a:pPr marL="0" indent="0" algn="l">
              <a:lnSpc>
                <a:spcPts val="1313"/>
              </a:lnSpc>
              <a:buNone/>
            </a:pPr>
            <a:r>
              <a:rPr lang="en-US" sz="1050" dirty="0">
                <a:solidFill>
                  <a:srgbClr val="71909F"/>
                </a:solidFill>
                <a:latin typeface="Arial" pitchFamily="34" charset="0"/>
                <a:ea typeface="Arial" pitchFamily="34" charset="-122"/>
                <a:cs typeface="Arial" pitchFamily="34" charset="-120"/>
              </a:rPr>
              <a:t>90,363 loans</a:t>
            </a:r>
            <a:endParaRPr lang="en-US" sz="1050" dirty="0"/>
          </a:p>
        </p:txBody>
      </p:sp>
      <p:sp>
        <p:nvSpPr>
          <p:cNvPr id="32" name="Text 30"/>
          <p:cNvSpPr txBox="1"/>
          <p:nvPr/>
        </p:nvSpPr>
        <p:spPr>
          <a:xfrm>
            <a:off x="5969198" y="5848195"/>
            <a:ext cx="1094232" cy="292608"/>
          </a:xfrm>
          <a:prstGeom prst="rect">
            <a:avLst/>
          </a:prstGeom>
          <a:noFill/>
          <a:ln/>
        </p:spPr>
        <p:txBody>
          <a:bodyPr wrap="square" lIns="0" tIns="0" rIns="0" bIns="0" rtlCol="0" anchor="t"/>
          <a:lstStyle/>
          <a:p>
            <a:pPr marL="0" indent="0" algn="r">
              <a:lnSpc>
                <a:spcPts val="1800"/>
              </a:lnSpc>
              <a:buNone/>
            </a:pPr>
            <a:r>
              <a:rPr lang="en-US" sz="1500" b="1" dirty="0">
                <a:solidFill>
                  <a:srgbClr val="EDF3F8"/>
                </a:solidFill>
                <a:latin typeface="Arial" pitchFamily="34" charset="0"/>
                <a:ea typeface="Arial" pitchFamily="34" charset="-122"/>
                <a:cs typeface="Arial" pitchFamily="34" charset="-120"/>
              </a:rPr>
              <a:t>9.50%</a:t>
            </a:r>
            <a:endParaRPr lang="en-US" sz="1500" dirty="0"/>
          </a:p>
        </p:txBody>
      </p:sp>
      <p:sp>
        <p:nvSpPr>
          <p:cNvPr id="33" name="Text 31"/>
          <p:cNvSpPr txBox="1"/>
          <p:nvPr/>
        </p:nvSpPr>
        <p:spPr>
          <a:xfrm>
            <a:off x="7213699" y="5862483"/>
            <a:ext cx="1246632" cy="264033"/>
          </a:xfrm>
          <a:prstGeom prst="rect">
            <a:avLst/>
          </a:prstGeom>
          <a:noFill/>
          <a:ln/>
        </p:spPr>
        <p:txBody>
          <a:bodyPr wrap="square" lIns="0" tIns="0" rIns="0" bIns="0" rtlCol="0" anchor="t"/>
          <a:lstStyle/>
          <a:p>
            <a:pPr marL="0" indent="0" algn="r">
              <a:lnSpc>
                <a:spcPts val="1560"/>
              </a:lnSpc>
              <a:buNone/>
            </a:pPr>
            <a:r>
              <a:rPr lang="en-US" sz="1300" dirty="0">
                <a:solidFill>
                  <a:srgbClr val="A8BECF"/>
                </a:solidFill>
                <a:latin typeface="Arial" pitchFamily="34" charset="0"/>
                <a:ea typeface="Arial" pitchFamily="34" charset="-122"/>
                <a:cs typeface="Arial" pitchFamily="34" charset="-120"/>
              </a:rPr>
              <a:t>$69.0bn</a:t>
            </a:r>
            <a:endParaRPr lang="en-US" sz="1300" dirty="0"/>
          </a:p>
        </p:txBody>
      </p:sp>
      <p:sp>
        <p:nvSpPr>
          <p:cNvPr id="34" name="Text 32"/>
          <p:cNvSpPr txBox="1"/>
          <p:nvPr/>
        </p:nvSpPr>
        <p:spPr>
          <a:xfrm>
            <a:off x="711101" y="7497359"/>
            <a:ext cx="7749230" cy="1351221"/>
          </a:xfrm>
          <a:prstGeom prst="rect">
            <a:avLst/>
          </a:prstGeom>
          <a:noFill/>
          <a:ln/>
        </p:spPr>
        <p:txBody>
          <a:bodyPr wrap="square" lIns="0" tIns="0" rIns="0" bIns="0" rtlCol="0" anchor="t"/>
          <a:lstStyle/>
          <a:p>
            <a:pPr marL="0" indent="0" algn="l">
              <a:lnSpc>
                <a:spcPts val="1860"/>
              </a:lnSpc>
              <a:buNone/>
            </a:pPr>
            <a:r>
              <a:rPr lang="en-US" sz="1400" b="1" dirty="0">
                <a:solidFill>
                  <a:srgbClr val="EDF3F8"/>
                </a:solidFill>
                <a:latin typeface="Arial" pitchFamily="34" charset="0"/>
                <a:ea typeface="Arial" pitchFamily="34" charset="-122"/>
                <a:cs typeface="Arial" pitchFamily="34" charset="-120"/>
              </a:rPr>
              <a:t>Look at the last row twice.</a:t>
            </a:r>
            <a:r>
              <a:rPr lang="en-US" sz="1400" dirty="0">
                <a:solidFill>
                  <a:srgbClr val="A8BECF"/>
                </a:solidFill>
                <a:latin typeface="Arial" pitchFamily="34" charset="0"/>
                <a:ea typeface="Arial" pitchFamily="34" charset="-122"/>
                <a:cs typeface="Arial" pitchFamily="34" charset="-120"/>
              </a:rPr>
              <a:t> "Sex not available" is 9.50 percent of the loans and </a:t>
            </a:r>
            <a:r>
              <a:rPr lang="en-US" sz="1400" b="1" dirty="0">
                <a:solidFill>
                  <a:srgbClr val="EDF3F8"/>
                </a:solidFill>
                <a:latin typeface="Arial" pitchFamily="34" charset="0"/>
                <a:ea typeface="Arial" pitchFamily="34" charset="-122"/>
                <a:cs typeface="Arial" pitchFamily="34" charset="-120"/>
              </a:rPr>
              <a:t>18.57 percent of the dollars</a:t>
            </a:r>
            <a:r>
              <a:rPr lang="en-US" sz="1400" dirty="0">
                <a:solidFill>
                  <a:srgbClr val="A8BECF"/>
                </a:solidFill>
                <a:latin typeface="Arial" pitchFamily="34" charset="0"/>
                <a:ea typeface="Arial" pitchFamily="34" charset="-122"/>
                <a:cs typeface="Arial" pitchFamily="34" charset="-120"/>
              </a:rPr>
              <a:t>, the only row where the two diverge sharply, on a median loan of </a:t>
            </a:r>
            <a:r>
              <a:rPr lang="en-US" sz="1400" b="1" dirty="0">
                <a:solidFill>
                  <a:srgbClr val="EDF3F8"/>
                </a:solidFill>
                <a:latin typeface="Arial" pitchFamily="34" charset="0"/>
                <a:ea typeface="Arial" pitchFamily="34" charset="-122"/>
                <a:cs typeface="Arial" pitchFamily="34" charset="-120"/>
              </a:rPr>
              <a:t>$335,000</a:t>
            </a:r>
            <a:r>
              <a:rPr lang="en-US" sz="1400" dirty="0">
                <a:solidFill>
                  <a:srgbClr val="A8BECF"/>
                </a:solidFill>
                <a:latin typeface="Arial" pitchFamily="34" charset="0"/>
                <a:ea typeface="Arial" pitchFamily="34" charset="-122"/>
                <a:cs typeface="Arial" pitchFamily="34" charset="-120"/>
              </a:rPr>
              <a:t> against $265,000 for joint applicants. These are largely applications filed by a company rather than a household, which is why the field is blank, and it is the clearest reason not to delete a "missing" category.</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11101" y="3257119"/>
            <a:ext cx="7721798" cy="9525"/>
          </a:xfrm>
          <a:prstGeom prst="rect">
            <a:avLst/>
          </a:prstGeom>
          <a:solidFill>
            <a:srgbClr val="24415C"/>
          </a:solidFill>
          <a:ln/>
        </p:spPr>
      </p:sp>
      <p:sp>
        <p:nvSpPr>
          <p:cNvPr id="3" name="Shape 1"/>
          <p:cNvSpPr/>
          <p:nvPr/>
        </p:nvSpPr>
        <p:spPr>
          <a:xfrm>
            <a:off x="3911352" y="4442668"/>
            <a:ext cx="1931045" cy="355550"/>
          </a:xfrm>
          <a:prstGeom prst="roundRect">
            <a:avLst>
              <a:gd name="adj" fmla="val 27559"/>
            </a:avLst>
          </a:prstGeom>
          <a:solidFill>
            <a:srgbClr val="16293C"/>
          </a:solidFill>
          <a:ln/>
        </p:spPr>
      </p:sp>
      <p:sp>
        <p:nvSpPr>
          <p:cNvPr id="4" name="Shape 2"/>
          <p:cNvSpPr/>
          <p:nvPr/>
        </p:nvSpPr>
        <p:spPr>
          <a:xfrm>
            <a:off x="3911352" y="3720771"/>
            <a:ext cx="1931045" cy="355550"/>
          </a:xfrm>
          <a:prstGeom prst="roundRect">
            <a:avLst>
              <a:gd name="adj" fmla="val 27559"/>
            </a:avLst>
          </a:prstGeom>
          <a:solidFill>
            <a:srgbClr val="B48706"/>
          </a:solidFill>
          <a:ln/>
        </p:spPr>
      </p:sp>
      <p:sp>
        <p:nvSpPr>
          <p:cNvPr id="5" name="Shape 3"/>
          <p:cNvSpPr/>
          <p:nvPr/>
        </p:nvSpPr>
        <p:spPr>
          <a:xfrm>
            <a:off x="3911352" y="4279472"/>
            <a:ext cx="1931045" cy="355550"/>
          </a:xfrm>
          <a:prstGeom prst="roundRect">
            <a:avLst>
              <a:gd name="adj" fmla="val 27559"/>
            </a:avLst>
          </a:prstGeom>
          <a:solidFill>
            <a:srgbClr val="16293C"/>
          </a:solidFill>
          <a:ln/>
        </p:spPr>
      </p:sp>
      <p:sp>
        <p:nvSpPr>
          <p:cNvPr id="6" name="Shape 4"/>
          <p:cNvSpPr/>
          <p:nvPr/>
        </p:nvSpPr>
        <p:spPr>
          <a:xfrm>
            <a:off x="3911352" y="4279472"/>
            <a:ext cx="1275308" cy="355550"/>
          </a:xfrm>
          <a:prstGeom prst="roundRect">
            <a:avLst>
              <a:gd name="adj" fmla="val 27559"/>
            </a:avLst>
          </a:prstGeom>
          <a:solidFill>
            <a:srgbClr val="B48706"/>
          </a:solidFill>
          <a:ln/>
        </p:spPr>
      </p:sp>
      <p:sp>
        <p:nvSpPr>
          <p:cNvPr id="7" name="Shape 5"/>
          <p:cNvSpPr/>
          <p:nvPr/>
        </p:nvSpPr>
        <p:spPr>
          <a:xfrm>
            <a:off x="3911352" y="4838173"/>
            <a:ext cx="1931045" cy="355550"/>
          </a:xfrm>
          <a:prstGeom prst="roundRect">
            <a:avLst>
              <a:gd name="adj" fmla="val 27559"/>
            </a:avLst>
          </a:prstGeom>
          <a:solidFill>
            <a:srgbClr val="16293C"/>
          </a:solidFill>
          <a:ln/>
        </p:spPr>
      </p:sp>
      <p:sp>
        <p:nvSpPr>
          <p:cNvPr id="8" name="Shape 6"/>
          <p:cNvSpPr/>
          <p:nvPr/>
        </p:nvSpPr>
        <p:spPr>
          <a:xfrm>
            <a:off x="3911352" y="4838173"/>
            <a:ext cx="1025128" cy="355550"/>
          </a:xfrm>
          <a:prstGeom prst="roundRect">
            <a:avLst>
              <a:gd name="adj" fmla="val 27559"/>
            </a:avLst>
          </a:prstGeom>
          <a:solidFill>
            <a:srgbClr val="B48706"/>
          </a:solidFill>
          <a:ln/>
        </p:spPr>
      </p:sp>
      <p:sp>
        <p:nvSpPr>
          <p:cNvPr id="9" name="Shape 7"/>
          <p:cNvSpPr/>
          <p:nvPr/>
        </p:nvSpPr>
        <p:spPr>
          <a:xfrm>
            <a:off x="711101" y="7536954"/>
            <a:ext cx="7721798" cy="9525"/>
          </a:xfrm>
          <a:prstGeom prst="rect">
            <a:avLst/>
          </a:prstGeom>
          <a:solidFill>
            <a:srgbClr val="24415C"/>
          </a:solidFill>
          <a:ln/>
        </p:spPr>
      </p:sp>
      <p:sp>
        <p:nvSpPr>
          <p:cNvPr id="10" name="Text 8"/>
          <p:cNvSpPr txBox="1"/>
          <p:nvPr/>
        </p:nvSpPr>
        <p:spPr>
          <a:xfrm>
            <a:off x="711101" y="628346"/>
            <a:ext cx="7749230" cy="264033"/>
          </a:xfrm>
          <a:prstGeom prst="rect">
            <a:avLst/>
          </a:prstGeom>
          <a:noFill/>
          <a:ln/>
        </p:spPr>
        <p:txBody>
          <a:bodyPr wrap="square" lIns="0" tIns="0" rIns="0" bIns="0" rtlCol="0" anchor="t"/>
          <a:lstStyle/>
          <a:p>
            <a:pPr marL="0" indent="0" algn="l">
              <a:lnSpc>
                <a:spcPts val="1560"/>
              </a:lnSpc>
              <a:buNone/>
            </a:pPr>
            <a:r>
              <a:rPr lang="en-US" sz="1300" b="1" kern="0" spc="416" dirty="0">
                <a:solidFill>
                  <a:srgbClr val="E3B341"/>
                </a:solidFill>
                <a:latin typeface="Arial" pitchFamily="34" charset="0"/>
                <a:ea typeface="Arial" pitchFamily="34" charset="-122"/>
                <a:cs typeface="Arial" pitchFamily="34" charset="-120"/>
              </a:rPr>
              <a:t>DENIAL ANALYSIS</a:t>
            </a:r>
            <a:endParaRPr lang="en-US" sz="1300" dirty="0"/>
          </a:p>
        </p:txBody>
      </p:sp>
      <p:sp>
        <p:nvSpPr>
          <p:cNvPr id="11" name="Text 9"/>
          <p:cNvSpPr txBox="1"/>
          <p:nvPr/>
        </p:nvSpPr>
        <p:spPr>
          <a:xfrm>
            <a:off x="711101" y="1031522"/>
            <a:ext cx="7749230" cy="996565"/>
          </a:xfrm>
          <a:prstGeom prst="rect">
            <a:avLst/>
          </a:prstGeom>
          <a:noFill/>
          <a:ln/>
        </p:spPr>
        <p:txBody>
          <a:bodyPr wrap="square" lIns="0" tIns="0" rIns="0" bIns="0" rtlCol="0" anchor="t"/>
          <a:lstStyle/>
          <a:p>
            <a:pPr marL="0" indent="0" algn="l">
              <a:lnSpc>
                <a:spcPts val="3672"/>
              </a:lnSpc>
              <a:buNone/>
            </a:pPr>
            <a:r>
              <a:rPr lang="en-US" sz="3400" b="1" kern="0" spc="-48" dirty="0">
                <a:solidFill>
                  <a:srgbClr val="EDF3F8"/>
                </a:solidFill>
                <a:latin typeface="Arial" pitchFamily="34" charset="0"/>
                <a:ea typeface="Arial" pitchFamily="34" charset="-122"/>
                <a:cs typeface="Arial" pitchFamily="34" charset="-120"/>
              </a:rPr>
              <a:t>The three reasons lenders</a:t>
            </a:r>
            <a:endParaRPr lang="en-US" sz="3400" dirty="0"/>
          </a:p>
          <a:p>
            <a:pPr marL="0" indent="0" algn="l">
              <a:lnSpc>
                <a:spcPts val="3672"/>
              </a:lnSpc>
              <a:buNone/>
            </a:pPr>
            <a:r>
              <a:rPr lang="en-US" sz="3400" b="1" kern="0" spc="-48" dirty="0">
                <a:solidFill>
                  <a:srgbClr val="EDF3F8"/>
                </a:solidFill>
                <a:latin typeface="Arial" pitchFamily="34" charset="0"/>
                <a:ea typeface="Arial" pitchFamily="34" charset="-122"/>
                <a:cs typeface="Arial" pitchFamily="34" charset="-120"/>
              </a:rPr>
              <a:t>write down most</a:t>
            </a:r>
            <a:endParaRPr lang="en-US" sz="3400" dirty="0"/>
          </a:p>
        </p:txBody>
      </p:sp>
      <p:sp>
        <p:nvSpPr>
          <p:cNvPr id="12" name="Text 10"/>
          <p:cNvSpPr txBox="1"/>
          <p:nvPr/>
        </p:nvSpPr>
        <p:spPr>
          <a:xfrm>
            <a:off x="711101" y="2992014"/>
            <a:ext cx="3049982" cy="206883"/>
          </a:xfrm>
          <a:prstGeom prst="rect">
            <a:avLst/>
          </a:prstGeom>
          <a:noFill/>
          <a:ln/>
        </p:spPr>
        <p:txBody>
          <a:bodyPr wrap="square" lIns="0" tIns="0" rIns="0" bIns="0" rtlCol="0" anchor="t"/>
          <a:lstStyle/>
          <a:p>
            <a:pPr marL="0" indent="0" algn="l">
              <a:lnSpc>
                <a:spcPts val="1140"/>
              </a:lnSpc>
              <a:buNone/>
            </a:pPr>
            <a:r>
              <a:rPr lang="en-US" sz="1000" b="1" kern="0" spc="67" dirty="0">
                <a:solidFill>
                  <a:srgbClr val="71909F"/>
                </a:solidFill>
                <a:latin typeface="Arial" pitchFamily="34" charset="0"/>
                <a:ea typeface="Arial" pitchFamily="34" charset="-122"/>
                <a:cs typeface="Arial" pitchFamily="34" charset="-120"/>
              </a:rPr>
              <a:t>REASON CITED</a:t>
            </a:r>
            <a:endParaRPr lang="en-US" sz="1000" dirty="0"/>
          </a:p>
        </p:txBody>
      </p:sp>
      <p:sp>
        <p:nvSpPr>
          <p:cNvPr id="13" name="Text 11"/>
          <p:cNvSpPr txBox="1"/>
          <p:nvPr/>
        </p:nvSpPr>
        <p:spPr>
          <a:xfrm>
            <a:off x="3911352" y="2992014"/>
            <a:ext cx="1958477" cy="206883"/>
          </a:xfrm>
          <a:prstGeom prst="rect">
            <a:avLst/>
          </a:prstGeom>
          <a:noFill/>
          <a:ln/>
        </p:spPr>
        <p:txBody>
          <a:bodyPr wrap="square" lIns="0" tIns="0" rIns="0" bIns="0" rtlCol="0" anchor="t"/>
          <a:lstStyle/>
          <a:p>
            <a:pPr marL="0" indent="0" algn="l">
              <a:lnSpc>
                <a:spcPts val="1140"/>
              </a:lnSpc>
              <a:buNone/>
            </a:pPr>
            <a:r>
              <a:rPr lang="en-US" sz="1000" b="1" kern="0" spc="67" dirty="0">
                <a:solidFill>
                  <a:srgbClr val="71909F"/>
                </a:solidFill>
                <a:latin typeface="Arial" pitchFamily="34" charset="0"/>
                <a:ea typeface="Arial" pitchFamily="34" charset="-122"/>
                <a:cs typeface="Arial" pitchFamily="34" charset="-120"/>
              </a:rPr>
              <a:t>SHARE OF ALL CITATIONS</a:t>
            </a:r>
            <a:endParaRPr lang="en-US" sz="1000" dirty="0"/>
          </a:p>
        </p:txBody>
      </p:sp>
      <p:sp>
        <p:nvSpPr>
          <p:cNvPr id="14" name="Text 12"/>
          <p:cNvSpPr txBox="1"/>
          <p:nvPr/>
        </p:nvSpPr>
        <p:spPr>
          <a:xfrm>
            <a:off x="6020098" y="2992014"/>
            <a:ext cx="1094232" cy="206883"/>
          </a:xfrm>
          <a:prstGeom prst="rect">
            <a:avLst/>
          </a:prstGeom>
          <a:noFill/>
          <a:ln/>
        </p:spPr>
        <p:txBody>
          <a:bodyPr wrap="square" lIns="0" tIns="0" rIns="0" bIns="0" rtlCol="0" anchor="t"/>
          <a:lstStyle/>
          <a:p>
            <a:pPr marL="0" indent="0" algn="r">
              <a:lnSpc>
                <a:spcPts val="1140"/>
              </a:lnSpc>
              <a:buNone/>
            </a:pPr>
            <a:r>
              <a:rPr lang="en-US" sz="1000" b="1" kern="0" spc="67" dirty="0">
                <a:solidFill>
                  <a:srgbClr val="71909F"/>
                </a:solidFill>
                <a:latin typeface="Arial" pitchFamily="34" charset="0"/>
                <a:ea typeface="Arial" pitchFamily="34" charset="-122"/>
                <a:cs typeface="Arial" pitchFamily="34" charset="-120"/>
              </a:rPr>
              <a:t>SHARE</a:t>
            </a:r>
            <a:endParaRPr lang="en-US" sz="1000" dirty="0"/>
          </a:p>
        </p:txBody>
      </p:sp>
      <p:sp>
        <p:nvSpPr>
          <p:cNvPr id="15" name="Text 13"/>
          <p:cNvSpPr txBox="1"/>
          <p:nvPr/>
        </p:nvSpPr>
        <p:spPr>
          <a:xfrm>
            <a:off x="7264598" y="2992014"/>
            <a:ext cx="1195733" cy="206883"/>
          </a:xfrm>
          <a:prstGeom prst="rect">
            <a:avLst/>
          </a:prstGeom>
          <a:noFill/>
          <a:ln/>
        </p:spPr>
        <p:txBody>
          <a:bodyPr wrap="square" lIns="0" tIns="0" rIns="0" bIns="0" rtlCol="0" anchor="t"/>
          <a:lstStyle/>
          <a:p>
            <a:pPr marL="0" indent="0" algn="r">
              <a:lnSpc>
                <a:spcPts val="1140"/>
              </a:lnSpc>
              <a:buNone/>
            </a:pPr>
            <a:r>
              <a:rPr lang="en-US" sz="1000" b="1" kern="0" spc="67" dirty="0">
                <a:solidFill>
                  <a:srgbClr val="71909F"/>
                </a:solidFill>
                <a:latin typeface="Arial" pitchFamily="34" charset="0"/>
                <a:ea typeface="Arial" pitchFamily="34" charset="-122"/>
                <a:cs typeface="Arial" pitchFamily="34" charset="-120"/>
              </a:rPr>
              <a:t>CITATIONS</a:t>
            </a:r>
            <a:endParaRPr lang="en-US" sz="1000" dirty="0"/>
          </a:p>
        </p:txBody>
      </p:sp>
      <p:sp>
        <p:nvSpPr>
          <p:cNvPr id="16" name="Text 14"/>
          <p:cNvSpPr txBox="1"/>
          <p:nvPr/>
        </p:nvSpPr>
        <p:spPr>
          <a:xfrm>
            <a:off x="711101" y="3759312"/>
            <a:ext cx="3049982" cy="278321"/>
          </a:xfrm>
          <a:prstGeom prst="rect">
            <a:avLst/>
          </a:prstGeom>
          <a:noFill/>
          <a:ln/>
        </p:spPr>
        <p:txBody>
          <a:bodyPr wrap="square" lIns="0" tIns="0" rIns="0" bIns="0" rtlCol="0" anchor="t"/>
          <a:lstStyle/>
          <a:p>
            <a:pPr marL="0" indent="0" algn="l">
              <a:lnSpc>
                <a:spcPts val="1688"/>
              </a:lnSpc>
              <a:buNone/>
            </a:pPr>
            <a:r>
              <a:rPr lang="en-US" sz="1350" b="1" dirty="0">
                <a:solidFill>
                  <a:srgbClr val="EDF3F8"/>
                </a:solidFill>
                <a:latin typeface="Arial" pitchFamily="34" charset="0"/>
                <a:ea typeface="Arial" pitchFamily="34" charset="-122"/>
                <a:cs typeface="Arial" pitchFamily="34" charset="-120"/>
              </a:rPr>
              <a:t>Debt-to-income ratio</a:t>
            </a:r>
            <a:endParaRPr lang="en-US" sz="1350" dirty="0"/>
          </a:p>
        </p:txBody>
      </p:sp>
      <p:sp>
        <p:nvSpPr>
          <p:cNvPr id="17" name="Text 15"/>
          <p:cNvSpPr txBox="1"/>
          <p:nvPr/>
        </p:nvSpPr>
        <p:spPr>
          <a:xfrm>
            <a:off x="6020098" y="3752168"/>
            <a:ext cx="1094232" cy="292608"/>
          </a:xfrm>
          <a:prstGeom prst="rect">
            <a:avLst/>
          </a:prstGeom>
          <a:noFill/>
          <a:ln/>
        </p:spPr>
        <p:txBody>
          <a:bodyPr wrap="square" lIns="0" tIns="0" rIns="0" bIns="0" rtlCol="0" anchor="t"/>
          <a:lstStyle/>
          <a:p>
            <a:pPr marL="0" indent="0" algn="r">
              <a:lnSpc>
                <a:spcPts val="1800"/>
              </a:lnSpc>
              <a:buNone/>
            </a:pPr>
            <a:r>
              <a:rPr lang="en-US" sz="1500" b="1" dirty="0">
                <a:solidFill>
                  <a:srgbClr val="EDF3F8"/>
                </a:solidFill>
                <a:latin typeface="Arial" pitchFamily="34" charset="0"/>
                <a:ea typeface="Arial" pitchFamily="34" charset="-122"/>
                <a:cs typeface="Arial" pitchFamily="34" charset="-120"/>
              </a:rPr>
              <a:t>32.87%</a:t>
            </a:r>
            <a:endParaRPr lang="en-US" sz="1500" dirty="0"/>
          </a:p>
        </p:txBody>
      </p:sp>
      <p:sp>
        <p:nvSpPr>
          <p:cNvPr id="18" name="Text 16"/>
          <p:cNvSpPr txBox="1"/>
          <p:nvPr/>
        </p:nvSpPr>
        <p:spPr>
          <a:xfrm>
            <a:off x="7264598" y="3766456"/>
            <a:ext cx="1195733" cy="264033"/>
          </a:xfrm>
          <a:prstGeom prst="rect">
            <a:avLst/>
          </a:prstGeom>
          <a:noFill/>
          <a:ln/>
        </p:spPr>
        <p:txBody>
          <a:bodyPr wrap="square" lIns="0" tIns="0" rIns="0" bIns="0" rtlCol="0" anchor="t"/>
          <a:lstStyle/>
          <a:p>
            <a:pPr marL="0" indent="0" algn="r">
              <a:lnSpc>
                <a:spcPts val="1560"/>
              </a:lnSpc>
              <a:buNone/>
            </a:pPr>
            <a:r>
              <a:rPr lang="en-US" sz="1300" dirty="0">
                <a:solidFill>
                  <a:srgbClr val="A8BECF"/>
                </a:solidFill>
                <a:latin typeface="Arial" pitchFamily="34" charset="0"/>
                <a:ea typeface="Arial" pitchFamily="34" charset="-122"/>
                <a:cs typeface="Arial" pitchFamily="34" charset="-120"/>
              </a:rPr>
              <a:t>135,207</a:t>
            </a:r>
            <a:endParaRPr lang="en-US" sz="1300" dirty="0"/>
          </a:p>
        </p:txBody>
      </p:sp>
      <p:sp>
        <p:nvSpPr>
          <p:cNvPr id="19" name="Text 17"/>
          <p:cNvSpPr txBox="1"/>
          <p:nvPr/>
        </p:nvSpPr>
        <p:spPr>
          <a:xfrm>
            <a:off x="711101" y="4318013"/>
            <a:ext cx="3049982" cy="278321"/>
          </a:xfrm>
          <a:prstGeom prst="rect">
            <a:avLst/>
          </a:prstGeom>
          <a:noFill/>
          <a:ln/>
        </p:spPr>
        <p:txBody>
          <a:bodyPr wrap="square" lIns="0" tIns="0" rIns="0" bIns="0" rtlCol="0" anchor="t"/>
          <a:lstStyle/>
          <a:p>
            <a:pPr marL="0" indent="0" algn="l">
              <a:lnSpc>
                <a:spcPts val="1688"/>
              </a:lnSpc>
              <a:buNone/>
            </a:pPr>
            <a:r>
              <a:rPr lang="en-US" sz="1350" b="1" dirty="0">
                <a:solidFill>
                  <a:srgbClr val="EDF3F8"/>
                </a:solidFill>
                <a:latin typeface="Arial" pitchFamily="34" charset="0"/>
                <a:ea typeface="Arial" pitchFamily="34" charset="-122"/>
                <a:cs typeface="Arial" pitchFamily="34" charset="-120"/>
              </a:rPr>
              <a:t>Credit history</a:t>
            </a:r>
            <a:endParaRPr lang="en-US" sz="1350" dirty="0"/>
          </a:p>
        </p:txBody>
      </p:sp>
      <p:sp>
        <p:nvSpPr>
          <p:cNvPr id="20" name="Text 18"/>
          <p:cNvSpPr txBox="1"/>
          <p:nvPr/>
        </p:nvSpPr>
        <p:spPr>
          <a:xfrm>
            <a:off x="6020098" y="4310869"/>
            <a:ext cx="1094232" cy="292608"/>
          </a:xfrm>
          <a:prstGeom prst="rect">
            <a:avLst/>
          </a:prstGeom>
          <a:noFill/>
          <a:ln/>
        </p:spPr>
        <p:txBody>
          <a:bodyPr wrap="square" lIns="0" tIns="0" rIns="0" bIns="0" rtlCol="0" anchor="t"/>
          <a:lstStyle/>
          <a:p>
            <a:pPr marL="0" indent="0" algn="r">
              <a:lnSpc>
                <a:spcPts val="1800"/>
              </a:lnSpc>
              <a:buNone/>
            </a:pPr>
            <a:r>
              <a:rPr lang="en-US" sz="1500" b="1" dirty="0">
                <a:solidFill>
                  <a:srgbClr val="EDF3F8"/>
                </a:solidFill>
                <a:latin typeface="Arial" pitchFamily="34" charset="0"/>
                <a:ea typeface="Arial" pitchFamily="34" charset="-122"/>
                <a:cs typeface="Arial" pitchFamily="34" charset="-120"/>
              </a:rPr>
              <a:t>21.71%</a:t>
            </a:r>
            <a:endParaRPr lang="en-US" sz="1500" dirty="0"/>
          </a:p>
        </p:txBody>
      </p:sp>
      <p:sp>
        <p:nvSpPr>
          <p:cNvPr id="21" name="Text 19"/>
          <p:cNvSpPr txBox="1"/>
          <p:nvPr/>
        </p:nvSpPr>
        <p:spPr>
          <a:xfrm>
            <a:off x="7264598" y="4325156"/>
            <a:ext cx="1195733" cy="264033"/>
          </a:xfrm>
          <a:prstGeom prst="rect">
            <a:avLst/>
          </a:prstGeom>
          <a:noFill/>
          <a:ln/>
        </p:spPr>
        <p:txBody>
          <a:bodyPr wrap="square" lIns="0" tIns="0" rIns="0" bIns="0" rtlCol="0" anchor="t"/>
          <a:lstStyle/>
          <a:p>
            <a:pPr marL="0" indent="0" algn="r">
              <a:lnSpc>
                <a:spcPts val="1560"/>
              </a:lnSpc>
              <a:buNone/>
            </a:pPr>
            <a:r>
              <a:rPr lang="en-US" sz="1300" dirty="0">
                <a:solidFill>
                  <a:srgbClr val="A8BECF"/>
                </a:solidFill>
                <a:latin typeface="Arial" pitchFamily="34" charset="0"/>
                <a:ea typeface="Arial" pitchFamily="34" charset="-122"/>
                <a:cs typeface="Arial" pitchFamily="34" charset="-120"/>
              </a:rPr>
              <a:t>89,302</a:t>
            </a:r>
            <a:endParaRPr lang="en-US" sz="1300" dirty="0"/>
          </a:p>
        </p:txBody>
      </p:sp>
      <p:sp>
        <p:nvSpPr>
          <p:cNvPr id="22" name="Text 20"/>
          <p:cNvSpPr txBox="1"/>
          <p:nvPr/>
        </p:nvSpPr>
        <p:spPr>
          <a:xfrm>
            <a:off x="711101" y="4876713"/>
            <a:ext cx="3049982" cy="278321"/>
          </a:xfrm>
          <a:prstGeom prst="rect">
            <a:avLst/>
          </a:prstGeom>
          <a:noFill/>
          <a:ln/>
        </p:spPr>
        <p:txBody>
          <a:bodyPr wrap="square" lIns="0" tIns="0" rIns="0" bIns="0" rtlCol="0" anchor="t"/>
          <a:lstStyle/>
          <a:p>
            <a:pPr marL="0" indent="0" algn="l">
              <a:lnSpc>
                <a:spcPts val="1688"/>
              </a:lnSpc>
              <a:buNone/>
            </a:pPr>
            <a:r>
              <a:rPr lang="en-US" sz="1350" b="1" dirty="0">
                <a:solidFill>
                  <a:srgbClr val="EDF3F8"/>
                </a:solidFill>
                <a:latin typeface="Arial" pitchFamily="34" charset="0"/>
                <a:ea typeface="Arial" pitchFamily="34" charset="-122"/>
                <a:cs typeface="Arial" pitchFamily="34" charset="-120"/>
              </a:rPr>
              <a:t>Collateral</a:t>
            </a:r>
            <a:endParaRPr lang="en-US" sz="1350" dirty="0"/>
          </a:p>
        </p:txBody>
      </p:sp>
      <p:sp>
        <p:nvSpPr>
          <p:cNvPr id="23" name="Text 21"/>
          <p:cNvSpPr txBox="1"/>
          <p:nvPr/>
        </p:nvSpPr>
        <p:spPr>
          <a:xfrm>
            <a:off x="6020098" y="4869570"/>
            <a:ext cx="1094232" cy="292608"/>
          </a:xfrm>
          <a:prstGeom prst="rect">
            <a:avLst/>
          </a:prstGeom>
          <a:noFill/>
          <a:ln/>
        </p:spPr>
        <p:txBody>
          <a:bodyPr wrap="square" lIns="0" tIns="0" rIns="0" bIns="0" rtlCol="0" anchor="t"/>
          <a:lstStyle/>
          <a:p>
            <a:pPr marL="0" indent="0" algn="r">
              <a:lnSpc>
                <a:spcPts val="1800"/>
              </a:lnSpc>
              <a:buNone/>
            </a:pPr>
            <a:r>
              <a:rPr lang="en-US" sz="1500" b="1" dirty="0">
                <a:solidFill>
                  <a:srgbClr val="EDF3F8"/>
                </a:solidFill>
                <a:latin typeface="Arial" pitchFamily="34" charset="0"/>
                <a:ea typeface="Arial" pitchFamily="34" charset="-122"/>
                <a:cs typeface="Arial" pitchFamily="34" charset="-120"/>
              </a:rPr>
              <a:t>17.45%</a:t>
            </a:r>
            <a:endParaRPr lang="en-US" sz="1500" dirty="0"/>
          </a:p>
        </p:txBody>
      </p:sp>
      <p:sp>
        <p:nvSpPr>
          <p:cNvPr id="24" name="Text 22"/>
          <p:cNvSpPr txBox="1"/>
          <p:nvPr/>
        </p:nvSpPr>
        <p:spPr>
          <a:xfrm>
            <a:off x="7264598" y="4883857"/>
            <a:ext cx="1195733" cy="264033"/>
          </a:xfrm>
          <a:prstGeom prst="rect">
            <a:avLst/>
          </a:prstGeom>
          <a:noFill/>
          <a:ln/>
        </p:spPr>
        <p:txBody>
          <a:bodyPr wrap="square" lIns="0" tIns="0" rIns="0" bIns="0" rtlCol="0" anchor="t"/>
          <a:lstStyle/>
          <a:p>
            <a:pPr marL="0" indent="0" algn="r">
              <a:lnSpc>
                <a:spcPts val="1560"/>
              </a:lnSpc>
              <a:buNone/>
            </a:pPr>
            <a:r>
              <a:rPr lang="en-US" sz="1300" dirty="0">
                <a:solidFill>
                  <a:srgbClr val="A8BECF"/>
                </a:solidFill>
                <a:latin typeface="Arial" pitchFamily="34" charset="0"/>
                <a:ea typeface="Arial" pitchFamily="34" charset="-122"/>
                <a:cs typeface="Arial" pitchFamily="34" charset="-120"/>
              </a:rPr>
              <a:t>71,778</a:t>
            </a:r>
            <a:endParaRPr lang="en-US" sz="1300" dirty="0"/>
          </a:p>
        </p:txBody>
      </p:sp>
      <p:sp>
        <p:nvSpPr>
          <p:cNvPr id="25" name="Text 23"/>
          <p:cNvSpPr txBox="1"/>
          <p:nvPr/>
        </p:nvSpPr>
        <p:spPr>
          <a:xfrm>
            <a:off x="711101" y="7733550"/>
            <a:ext cx="7749230" cy="782104"/>
          </a:xfrm>
          <a:prstGeom prst="rect">
            <a:avLst/>
          </a:prstGeom>
          <a:noFill/>
          <a:ln/>
        </p:spPr>
        <p:txBody>
          <a:bodyPr wrap="square" lIns="0" tIns="0" rIns="0" bIns="0" rtlCol="0" anchor="t"/>
          <a:lstStyle/>
          <a:p>
            <a:pPr marL="0" indent="0" algn="l">
              <a:lnSpc>
                <a:spcPts val="1860"/>
              </a:lnSpc>
              <a:buNone/>
            </a:pPr>
            <a:r>
              <a:rPr lang="en-US" sz="1400" b="1" dirty="0">
                <a:solidFill>
                  <a:srgbClr val="EDF3F8"/>
                </a:solidFill>
                <a:latin typeface="Arial" pitchFamily="34" charset="0"/>
                <a:ea typeface="Arial" pitchFamily="34" charset="-122"/>
                <a:cs typeface="Arial" pitchFamily="34" charset="-120"/>
              </a:rPr>
              <a:t>The unit is a citation, not an application.</a:t>
            </a:r>
            <a:r>
              <a:rPr lang="en-US" sz="1400" dirty="0">
                <a:solidFill>
                  <a:srgbClr val="A8BECF"/>
                </a:solidFill>
                <a:latin typeface="Arial" pitchFamily="34" charset="0"/>
                <a:ea typeface="Arial" pitchFamily="34" charset="-122"/>
                <a:cs typeface="Arial" pitchFamily="34" charset="-120"/>
              </a:rPr>
              <a:t> HMDA lets a lender give up to four reasons, so 320,762 denied applications carry </a:t>
            </a:r>
            <a:r>
              <a:rPr lang="en-US" sz="1400" b="1" dirty="0">
                <a:solidFill>
                  <a:srgbClr val="EDF3F8"/>
                </a:solidFill>
                <a:latin typeface="Arial" pitchFamily="34" charset="0"/>
                <a:ea typeface="Arial" pitchFamily="34" charset="-122"/>
                <a:cs typeface="Arial" pitchFamily="34" charset="-120"/>
              </a:rPr>
              <a:t>411,362 citations</a:t>
            </a:r>
            <a:r>
              <a:rPr lang="en-US" sz="1400" dirty="0">
                <a:solidFill>
                  <a:srgbClr val="A8BECF"/>
                </a:solidFill>
                <a:latin typeface="Arial" pitchFamily="34" charset="0"/>
                <a:ea typeface="Arial" pitchFamily="34" charset="-122"/>
                <a:cs typeface="Arial" pitchFamily="34" charset="-120"/>
              </a:rPr>
              <a:t>. These three are </a:t>
            </a:r>
            <a:r>
              <a:rPr lang="en-US" sz="1400" b="1" dirty="0">
                <a:solidFill>
                  <a:srgbClr val="EDF3F8"/>
                </a:solidFill>
                <a:latin typeface="Arial" pitchFamily="34" charset="0"/>
                <a:ea typeface="Arial" pitchFamily="34" charset="-122"/>
                <a:cs typeface="Arial" pitchFamily="34" charset="-120"/>
              </a:rPr>
              <a:t>72.03 percent</a:t>
            </a:r>
            <a:r>
              <a:rPr lang="en-US" sz="1400" dirty="0">
                <a:solidFill>
                  <a:srgbClr val="A8BECF"/>
                </a:solidFill>
                <a:latin typeface="Arial" pitchFamily="34" charset="0"/>
                <a:ea typeface="Arial" pitchFamily="34" charset="-122"/>
                <a:cs typeface="Arial" pitchFamily="34" charset="-120"/>
              </a:rPr>
              <a:t> of them and seven more reasons share the rest. Debt-to-income alone is cited half as often again as credit history.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11101" y="2579638"/>
            <a:ext cx="7721798" cy="1820019"/>
          </a:xfrm>
          <a:prstGeom prst="roundRect">
            <a:avLst>
              <a:gd name="adj" fmla="val 2805"/>
            </a:avLst>
          </a:prstGeom>
          <a:solidFill>
            <a:srgbClr val="122738"/>
          </a:solidFill>
          <a:ln/>
        </p:spPr>
      </p:sp>
      <p:sp>
        <p:nvSpPr>
          <p:cNvPr id="3" name="Shape 1"/>
          <p:cNvSpPr/>
          <p:nvPr/>
        </p:nvSpPr>
        <p:spPr>
          <a:xfrm>
            <a:off x="711101" y="4628257"/>
            <a:ext cx="7721798" cy="1820019"/>
          </a:xfrm>
          <a:prstGeom prst="roundRect">
            <a:avLst>
              <a:gd name="adj" fmla="val 2805"/>
            </a:avLst>
          </a:prstGeom>
          <a:solidFill>
            <a:srgbClr val="122738"/>
          </a:solidFill>
          <a:ln/>
        </p:spPr>
      </p:sp>
      <p:sp>
        <p:nvSpPr>
          <p:cNvPr id="4" name="Shape 2"/>
          <p:cNvSpPr/>
          <p:nvPr/>
        </p:nvSpPr>
        <p:spPr>
          <a:xfrm>
            <a:off x="711101" y="6676876"/>
            <a:ext cx="7721798" cy="1578769"/>
          </a:xfrm>
          <a:prstGeom prst="roundRect">
            <a:avLst>
              <a:gd name="adj" fmla="val 3727"/>
            </a:avLst>
          </a:prstGeom>
          <a:solidFill>
            <a:srgbClr val="122738"/>
          </a:solidFill>
          <a:ln/>
        </p:spPr>
      </p:sp>
      <p:sp>
        <p:nvSpPr>
          <p:cNvPr id="5" name="Text 3"/>
          <p:cNvSpPr txBox="1"/>
          <p:nvPr/>
        </p:nvSpPr>
        <p:spPr>
          <a:xfrm>
            <a:off x="711101" y="628346"/>
            <a:ext cx="7749230" cy="264033"/>
          </a:xfrm>
          <a:prstGeom prst="rect">
            <a:avLst/>
          </a:prstGeom>
          <a:noFill/>
          <a:ln/>
        </p:spPr>
        <p:txBody>
          <a:bodyPr wrap="square" lIns="0" tIns="0" rIns="0" bIns="0" rtlCol="0" anchor="t"/>
          <a:lstStyle/>
          <a:p>
            <a:pPr marL="0" indent="0" algn="l">
              <a:lnSpc>
                <a:spcPts val="1560"/>
              </a:lnSpc>
              <a:buNone/>
            </a:pPr>
            <a:r>
              <a:rPr lang="en-US" sz="1300" b="1" kern="0" spc="416" dirty="0">
                <a:solidFill>
                  <a:srgbClr val="E3B341"/>
                </a:solidFill>
                <a:latin typeface="Arial" pitchFamily="34" charset="0"/>
                <a:ea typeface="Arial" pitchFamily="34" charset="-122"/>
                <a:cs typeface="Arial" pitchFamily="34" charset="-120"/>
              </a:rPr>
              <a:t>WHAT THE DATA RECOMMENDS</a:t>
            </a:r>
            <a:endParaRPr lang="en-US" sz="1300" dirty="0"/>
          </a:p>
        </p:txBody>
      </p:sp>
      <p:sp>
        <p:nvSpPr>
          <p:cNvPr id="6" name="Text 4"/>
          <p:cNvSpPr txBox="1"/>
          <p:nvPr/>
        </p:nvSpPr>
        <p:spPr>
          <a:xfrm>
            <a:off x="711101" y="1031522"/>
            <a:ext cx="7749230" cy="996565"/>
          </a:xfrm>
          <a:prstGeom prst="rect">
            <a:avLst/>
          </a:prstGeom>
          <a:noFill/>
          <a:ln/>
        </p:spPr>
        <p:txBody>
          <a:bodyPr wrap="square" lIns="0" tIns="0" rIns="0" bIns="0" rtlCol="0" anchor="t"/>
          <a:lstStyle/>
          <a:p>
            <a:pPr marL="0" indent="0" algn="l">
              <a:lnSpc>
                <a:spcPts val="3672"/>
              </a:lnSpc>
              <a:buNone/>
            </a:pPr>
            <a:r>
              <a:rPr lang="en-US" sz="3400" b="1" kern="0" spc="-48" dirty="0">
                <a:solidFill>
                  <a:srgbClr val="EDF3F8"/>
                </a:solidFill>
                <a:latin typeface="Arial" pitchFamily="34" charset="0"/>
                <a:ea typeface="Arial" pitchFamily="34" charset="-122"/>
                <a:cs typeface="Arial" pitchFamily="34" charset="-120"/>
              </a:rPr>
              <a:t>Three findings a borrower</a:t>
            </a:r>
            <a:endParaRPr lang="en-US" sz="3400" dirty="0"/>
          </a:p>
          <a:p>
            <a:pPr marL="0" indent="0" algn="l">
              <a:lnSpc>
                <a:spcPts val="3672"/>
              </a:lnSpc>
              <a:buNone/>
            </a:pPr>
            <a:r>
              <a:rPr lang="en-US" sz="3400" b="1" kern="0" spc="-48" dirty="0">
                <a:solidFill>
                  <a:srgbClr val="EDF3F8"/>
                </a:solidFill>
                <a:latin typeface="Arial" pitchFamily="34" charset="0"/>
                <a:ea typeface="Arial" pitchFamily="34" charset="-122"/>
                <a:cs typeface="Arial" pitchFamily="34" charset="-120"/>
              </a:rPr>
              <a:t>can act on</a:t>
            </a:r>
            <a:endParaRPr lang="en-US" sz="3400" dirty="0"/>
          </a:p>
        </p:txBody>
      </p:sp>
      <p:sp>
        <p:nvSpPr>
          <p:cNvPr id="7" name="Text 5"/>
          <p:cNvSpPr txBox="1"/>
          <p:nvPr/>
        </p:nvSpPr>
        <p:spPr>
          <a:xfrm>
            <a:off x="977801" y="2788884"/>
            <a:ext cx="586133" cy="1401526"/>
          </a:xfrm>
          <a:prstGeom prst="rect">
            <a:avLst/>
          </a:prstGeom>
          <a:noFill/>
          <a:ln/>
        </p:spPr>
        <p:txBody>
          <a:bodyPr wrap="square" lIns="0" tIns="0" rIns="0" bIns="0" rtlCol="0" anchor="t"/>
          <a:lstStyle/>
          <a:p>
            <a:pPr marL="0" indent="0" algn="l">
              <a:lnSpc>
                <a:spcPts val="2700"/>
              </a:lnSpc>
              <a:buNone/>
            </a:pPr>
            <a:r>
              <a:rPr lang="en-US" sz="3000" b="1" dirty="0">
                <a:solidFill>
                  <a:srgbClr val="E3B341"/>
                </a:solidFill>
                <a:latin typeface="Arial" pitchFamily="34" charset="0"/>
                <a:ea typeface="Arial" pitchFamily="34" charset="-122"/>
                <a:cs typeface="Arial" pitchFamily="34" charset="-120"/>
              </a:rPr>
              <a:t>1</a:t>
            </a:r>
            <a:endParaRPr lang="en-US" sz="3000" dirty="0"/>
          </a:p>
        </p:txBody>
      </p:sp>
      <p:sp>
        <p:nvSpPr>
          <p:cNvPr id="8" name="Text 6"/>
          <p:cNvSpPr txBox="1"/>
          <p:nvPr/>
        </p:nvSpPr>
        <p:spPr>
          <a:xfrm>
            <a:off x="1631982" y="2788884"/>
            <a:ext cx="6441329" cy="335024"/>
          </a:xfrm>
          <a:prstGeom prst="rect">
            <a:avLst/>
          </a:prstGeom>
          <a:noFill/>
          <a:ln/>
        </p:spPr>
        <p:txBody>
          <a:bodyPr wrap="square" lIns="0" tIns="0" rIns="0" bIns="0" rtlCol="0" anchor="t"/>
          <a:lstStyle/>
          <a:p>
            <a:pPr marL="0" indent="0" algn="l">
              <a:lnSpc>
                <a:spcPts val="2135"/>
              </a:lnSpc>
              <a:buNone/>
            </a:pPr>
            <a:r>
              <a:rPr lang="en-US" sz="1750" b="1" dirty="0">
                <a:solidFill>
                  <a:srgbClr val="EDF3F8"/>
                </a:solidFill>
                <a:latin typeface="Arial" pitchFamily="34" charset="0"/>
                <a:ea typeface="Arial" pitchFamily="34" charset="-122"/>
                <a:cs typeface="Arial" pitchFamily="34" charset="-120"/>
              </a:rPr>
              <a:t>Lower is not better, and the reason matters</a:t>
            </a:r>
            <a:endParaRPr lang="en-US" sz="1750" dirty="0"/>
          </a:p>
        </p:txBody>
      </p:sp>
      <p:sp>
        <p:nvSpPr>
          <p:cNvPr id="9" name="Text 7"/>
          <p:cNvSpPr txBox="1"/>
          <p:nvPr/>
        </p:nvSpPr>
        <p:spPr>
          <a:xfrm>
            <a:off x="1631982" y="3161401"/>
            <a:ext cx="6561519" cy="1029010"/>
          </a:xfrm>
          <a:prstGeom prst="rect">
            <a:avLst/>
          </a:prstGeom>
          <a:noFill/>
          <a:ln/>
        </p:spPr>
        <p:txBody>
          <a:bodyPr wrap="square" lIns="0" tIns="0" rIns="0" bIns="0" rtlCol="0" anchor="t"/>
          <a:lstStyle/>
          <a:p>
            <a:pPr marL="0" indent="0" algn="l">
              <a:lnSpc>
                <a:spcPts val="1900"/>
              </a:lnSpc>
              <a:buNone/>
            </a:pPr>
            <a:r>
              <a:rPr lang="en-US" sz="1400" dirty="0">
                <a:solidFill>
                  <a:srgbClr val="A8BECF"/>
                </a:solidFill>
                <a:latin typeface="Arial" pitchFamily="34" charset="0"/>
                <a:ea typeface="Arial" pitchFamily="34" charset="-122"/>
                <a:cs typeface="Arial" pitchFamily="34" charset="-120"/>
              </a:rPr>
              <a:t>Under 20 percent debt-to-income denies at </a:t>
            </a:r>
            <a:r>
              <a:rPr lang="en-US" sz="1400" b="1" dirty="0">
                <a:solidFill>
                  <a:srgbClr val="E0756A"/>
                </a:solidFill>
                <a:latin typeface="Arial" pitchFamily="34" charset="0"/>
                <a:ea typeface="Arial" pitchFamily="34" charset="-122"/>
                <a:cs typeface="Arial" pitchFamily="34" charset="-120"/>
              </a:rPr>
              <a:t>24.49 percent</a:t>
            </a:r>
            <a:r>
              <a:rPr lang="en-US" sz="1400" dirty="0">
                <a:solidFill>
                  <a:srgbClr val="A8BECF"/>
                </a:solidFill>
                <a:latin typeface="Arial" pitchFamily="34" charset="0"/>
                <a:ea typeface="Arial" pitchFamily="34" charset="-122"/>
                <a:cs typeface="Arial" pitchFamily="34" charset="-120"/>
              </a:rPr>
              <a:t>, worse than every band from 20 to 49, where the rate is flat near </a:t>
            </a:r>
            <a:r>
              <a:rPr lang="en-US" sz="1400" b="1" dirty="0">
                <a:solidFill>
                  <a:srgbClr val="EDF3F8"/>
                </a:solidFill>
                <a:latin typeface="Arial" pitchFamily="34" charset="0"/>
                <a:ea typeface="Arial" pitchFamily="34" charset="-122"/>
                <a:cs typeface="Arial" pitchFamily="34" charset="-120"/>
              </a:rPr>
              <a:t>13</a:t>
            </a:r>
            <a:r>
              <a:rPr lang="en-US" sz="1400" dirty="0">
                <a:solidFill>
                  <a:srgbClr val="A8BECF"/>
                </a:solidFill>
                <a:latin typeface="Arial" pitchFamily="34" charset="0"/>
                <a:ea typeface="Arial" pitchFamily="34" charset="-122"/>
                <a:cs typeface="Arial" pitchFamily="34" charset="-120"/>
              </a:rPr>
              <a:t>. That bottom is not cautious borrowers: it is small second-lien business. The threshold is a line, not a direction. Get under 50. Below 20 buys nothing.</a:t>
            </a:r>
            <a:endParaRPr lang="en-US" sz="1400" dirty="0"/>
          </a:p>
        </p:txBody>
      </p:sp>
      <p:sp>
        <p:nvSpPr>
          <p:cNvPr id="10" name="Text 8"/>
          <p:cNvSpPr txBox="1"/>
          <p:nvPr/>
        </p:nvSpPr>
        <p:spPr>
          <a:xfrm>
            <a:off x="977801" y="4837503"/>
            <a:ext cx="586133" cy="1401526"/>
          </a:xfrm>
          <a:prstGeom prst="rect">
            <a:avLst/>
          </a:prstGeom>
          <a:noFill/>
          <a:ln/>
        </p:spPr>
        <p:txBody>
          <a:bodyPr wrap="square" lIns="0" tIns="0" rIns="0" bIns="0" rtlCol="0" anchor="t"/>
          <a:lstStyle/>
          <a:p>
            <a:pPr marL="0" indent="0" algn="l">
              <a:lnSpc>
                <a:spcPts val="2700"/>
              </a:lnSpc>
              <a:buNone/>
            </a:pPr>
            <a:r>
              <a:rPr lang="en-US" sz="3000" b="1" dirty="0">
                <a:solidFill>
                  <a:srgbClr val="E3B341"/>
                </a:solidFill>
                <a:latin typeface="Arial" pitchFamily="34" charset="0"/>
                <a:ea typeface="Arial" pitchFamily="34" charset="-122"/>
                <a:cs typeface="Arial" pitchFamily="34" charset="-120"/>
              </a:rPr>
              <a:t>2</a:t>
            </a:r>
            <a:endParaRPr lang="en-US" sz="3000" dirty="0"/>
          </a:p>
        </p:txBody>
      </p:sp>
      <p:sp>
        <p:nvSpPr>
          <p:cNvPr id="11" name="Text 9"/>
          <p:cNvSpPr txBox="1"/>
          <p:nvPr/>
        </p:nvSpPr>
        <p:spPr>
          <a:xfrm>
            <a:off x="1631982" y="4837503"/>
            <a:ext cx="6441329" cy="335024"/>
          </a:xfrm>
          <a:prstGeom prst="rect">
            <a:avLst/>
          </a:prstGeom>
          <a:noFill/>
          <a:ln/>
        </p:spPr>
        <p:txBody>
          <a:bodyPr wrap="square" lIns="0" tIns="0" rIns="0" bIns="0" rtlCol="0" anchor="t"/>
          <a:lstStyle/>
          <a:p>
            <a:pPr marL="0" indent="0" algn="l">
              <a:lnSpc>
                <a:spcPts val="2135"/>
              </a:lnSpc>
              <a:buNone/>
            </a:pPr>
            <a:r>
              <a:rPr lang="en-US" sz="1750" b="1" dirty="0">
                <a:solidFill>
                  <a:srgbClr val="EDF3F8"/>
                </a:solidFill>
                <a:latin typeface="Arial" pitchFamily="34" charset="0"/>
                <a:ea typeface="Arial" pitchFamily="34" charset="-122"/>
                <a:cs typeface="Arial" pitchFamily="34" charset="-120"/>
              </a:rPr>
              <a:t>Which lender you ask is worth 15 times</a:t>
            </a:r>
            <a:endParaRPr lang="en-US" sz="1750" dirty="0"/>
          </a:p>
        </p:txBody>
      </p:sp>
      <p:sp>
        <p:nvSpPr>
          <p:cNvPr id="12" name="Text 10"/>
          <p:cNvSpPr txBox="1"/>
          <p:nvPr/>
        </p:nvSpPr>
        <p:spPr>
          <a:xfrm>
            <a:off x="1631982" y="5210020"/>
            <a:ext cx="6680597" cy="1029010"/>
          </a:xfrm>
          <a:prstGeom prst="rect">
            <a:avLst/>
          </a:prstGeom>
          <a:noFill/>
          <a:ln/>
        </p:spPr>
        <p:txBody>
          <a:bodyPr wrap="square" lIns="0" tIns="0" rIns="0" bIns="0" rtlCol="0" anchor="t"/>
          <a:lstStyle/>
          <a:p>
            <a:pPr marL="0" indent="0" algn="l">
              <a:lnSpc>
                <a:spcPts val="1900"/>
              </a:lnSpc>
              <a:buNone/>
            </a:pPr>
            <a:r>
              <a:rPr lang="en-US" sz="1400" dirty="0">
                <a:solidFill>
                  <a:srgbClr val="A8BECF"/>
                </a:solidFill>
                <a:latin typeface="Arial" pitchFamily="34" charset="0"/>
                <a:ea typeface="Arial" pitchFamily="34" charset="-122"/>
                <a:cs typeface="Arial" pitchFamily="34" charset="-120"/>
              </a:rPr>
              <a:t>Same product in every row, conventional first-lien home purchase, 72 lenders with 2,000 or more such applications. Denial runs </a:t>
            </a:r>
            <a:r>
              <a:rPr lang="en-US" sz="1400" b="1" dirty="0">
                <a:solidFill>
                  <a:srgbClr val="EDF3F8"/>
                </a:solidFill>
                <a:latin typeface="Arial" pitchFamily="34" charset="0"/>
                <a:ea typeface="Arial" pitchFamily="34" charset="-122"/>
                <a:cs typeface="Arial" pitchFamily="34" charset="-120"/>
              </a:rPr>
              <a:t>1.14 to 31.57 percent</a:t>
            </a:r>
            <a:r>
              <a:rPr lang="en-US" sz="1400" dirty="0">
                <a:solidFill>
                  <a:srgbClr val="A8BECF"/>
                </a:solidFill>
                <a:latin typeface="Arial" pitchFamily="34" charset="0"/>
                <a:ea typeface="Arial" pitchFamily="34" charset="-122"/>
                <a:cs typeface="Arial" pitchFamily="34" charset="-120"/>
              </a:rPr>
              <a:t>. SEFCU denies </a:t>
            </a:r>
            <a:r>
              <a:rPr lang="en-US" sz="1400" b="1" dirty="0">
                <a:solidFill>
                  <a:srgbClr val="EDF3F8"/>
                </a:solidFill>
                <a:latin typeface="Arial" pitchFamily="34" charset="0"/>
                <a:ea typeface="Arial" pitchFamily="34" charset="-122"/>
                <a:cs typeface="Arial" pitchFamily="34" charset="-120"/>
              </a:rPr>
              <a:t>1.14</a:t>
            </a:r>
            <a:r>
              <a:rPr lang="en-US" sz="1400" dirty="0">
                <a:solidFill>
                  <a:srgbClr val="A8BECF"/>
                </a:solidFill>
                <a:latin typeface="Arial" pitchFamily="34" charset="0"/>
                <a:ea typeface="Arial" pitchFamily="34" charset="-122"/>
                <a:cs typeface="Arial" pitchFamily="34" charset="-120"/>
              </a:rPr>
              <a:t> on </a:t>
            </a:r>
            <a:r>
              <a:rPr lang="en-US" sz="1400" b="1" dirty="0">
                <a:solidFill>
                  <a:srgbClr val="EDF3F8"/>
                </a:solidFill>
                <a:latin typeface="Arial" pitchFamily="34" charset="0"/>
                <a:ea typeface="Arial" pitchFamily="34" charset="-122"/>
                <a:cs typeface="Arial" pitchFamily="34" charset="-120"/>
              </a:rPr>
              <a:t>more leveraged, lower-income</a:t>
            </a:r>
            <a:r>
              <a:rPr lang="en-US" sz="1400" dirty="0">
                <a:solidFill>
                  <a:srgbClr val="A8BECF"/>
                </a:solidFill>
                <a:latin typeface="Arial" pitchFamily="34" charset="0"/>
                <a:ea typeface="Arial" pitchFamily="34" charset="-122"/>
                <a:cs typeface="Arial" pitchFamily="34" charset="-120"/>
              </a:rPr>
              <a:t> applicants than Bank of America, which denies </a:t>
            </a:r>
            <a:r>
              <a:rPr lang="en-US" sz="1400" b="1" dirty="0">
                <a:solidFill>
                  <a:srgbClr val="E0756A"/>
                </a:solidFill>
                <a:latin typeface="Arial" pitchFamily="34" charset="0"/>
                <a:ea typeface="Arial" pitchFamily="34" charset="-122"/>
                <a:cs typeface="Arial" pitchFamily="34" charset="-120"/>
              </a:rPr>
              <a:t>17.76</a:t>
            </a:r>
            <a:r>
              <a:rPr lang="en-US" sz="1400" dirty="0">
                <a:solidFill>
                  <a:srgbClr val="A8BECF"/>
                </a:solidFill>
                <a:latin typeface="Arial" pitchFamily="34" charset="0"/>
                <a:ea typeface="Arial" pitchFamily="34" charset="-122"/>
                <a:cs typeface="Arial" pitchFamily="34" charset="-120"/>
              </a:rPr>
              <a:t>. Most borrowers approach one lender.</a:t>
            </a:r>
            <a:endParaRPr lang="en-US" sz="1400" dirty="0"/>
          </a:p>
        </p:txBody>
      </p:sp>
      <p:sp>
        <p:nvSpPr>
          <p:cNvPr id="13" name="Text 11"/>
          <p:cNvSpPr txBox="1"/>
          <p:nvPr/>
        </p:nvSpPr>
        <p:spPr>
          <a:xfrm>
            <a:off x="977801" y="6886123"/>
            <a:ext cx="586133" cy="1160276"/>
          </a:xfrm>
          <a:prstGeom prst="rect">
            <a:avLst/>
          </a:prstGeom>
          <a:noFill/>
          <a:ln/>
        </p:spPr>
        <p:txBody>
          <a:bodyPr wrap="square" lIns="0" tIns="0" rIns="0" bIns="0" rtlCol="0" anchor="t"/>
          <a:lstStyle/>
          <a:p>
            <a:pPr marL="0" indent="0" algn="l">
              <a:lnSpc>
                <a:spcPts val="2700"/>
              </a:lnSpc>
              <a:buNone/>
            </a:pPr>
            <a:r>
              <a:rPr lang="en-US" sz="3000" b="1" dirty="0">
                <a:solidFill>
                  <a:srgbClr val="E3B341"/>
                </a:solidFill>
                <a:latin typeface="Arial" pitchFamily="34" charset="0"/>
                <a:ea typeface="Arial" pitchFamily="34" charset="-122"/>
                <a:cs typeface="Arial" pitchFamily="34" charset="-120"/>
              </a:rPr>
              <a:t>3</a:t>
            </a:r>
            <a:endParaRPr lang="en-US" sz="3000" dirty="0"/>
          </a:p>
        </p:txBody>
      </p:sp>
      <p:sp>
        <p:nvSpPr>
          <p:cNvPr id="14" name="Text 12"/>
          <p:cNvSpPr txBox="1"/>
          <p:nvPr/>
        </p:nvSpPr>
        <p:spPr>
          <a:xfrm>
            <a:off x="1631982" y="6886123"/>
            <a:ext cx="6441329" cy="335024"/>
          </a:xfrm>
          <a:prstGeom prst="rect">
            <a:avLst/>
          </a:prstGeom>
          <a:noFill/>
          <a:ln/>
        </p:spPr>
        <p:txBody>
          <a:bodyPr wrap="square" lIns="0" tIns="0" rIns="0" bIns="0" rtlCol="0" anchor="t"/>
          <a:lstStyle/>
          <a:p>
            <a:pPr marL="0" indent="0" algn="l">
              <a:lnSpc>
                <a:spcPts val="2135"/>
              </a:lnSpc>
              <a:buNone/>
            </a:pPr>
            <a:r>
              <a:rPr lang="en-US" sz="1750" b="1" dirty="0">
                <a:solidFill>
                  <a:srgbClr val="EDF3F8"/>
                </a:solidFill>
                <a:latin typeface="Arial" pitchFamily="34" charset="0"/>
                <a:ea typeface="Arial" pitchFamily="34" charset="-122"/>
                <a:cs typeface="Arial" pitchFamily="34" charset="-120"/>
              </a:rPr>
              <a:t>Borrowing against a home you own is a different market</a:t>
            </a:r>
            <a:endParaRPr lang="en-US" sz="1750" dirty="0"/>
          </a:p>
        </p:txBody>
      </p:sp>
      <p:sp>
        <p:nvSpPr>
          <p:cNvPr id="15" name="Text 13"/>
          <p:cNvSpPr txBox="1"/>
          <p:nvPr/>
        </p:nvSpPr>
        <p:spPr>
          <a:xfrm>
            <a:off x="1631982" y="7258639"/>
            <a:ext cx="6441329" cy="787759"/>
          </a:xfrm>
          <a:prstGeom prst="rect">
            <a:avLst/>
          </a:prstGeom>
          <a:noFill/>
          <a:ln/>
        </p:spPr>
        <p:txBody>
          <a:bodyPr wrap="square" lIns="0" tIns="0" rIns="0" bIns="0" rtlCol="0" anchor="t"/>
          <a:lstStyle/>
          <a:p>
            <a:pPr marL="0" indent="0" algn="l">
              <a:lnSpc>
                <a:spcPts val="1900"/>
              </a:lnSpc>
              <a:buNone/>
            </a:pPr>
            <a:r>
              <a:rPr lang="en-US" sz="1400" dirty="0">
                <a:solidFill>
                  <a:srgbClr val="A8BECF"/>
                </a:solidFill>
                <a:latin typeface="Arial" pitchFamily="34" charset="0"/>
                <a:ea typeface="Arial" pitchFamily="34" charset="-122"/>
                <a:cs typeface="Arial" pitchFamily="34" charset="-120"/>
              </a:rPr>
              <a:t>Home improvement denies at </a:t>
            </a:r>
            <a:r>
              <a:rPr lang="en-US" sz="1400" b="1" dirty="0">
                <a:solidFill>
                  <a:srgbClr val="E0756A"/>
                </a:solidFill>
                <a:latin typeface="Arial" pitchFamily="34" charset="0"/>
                <a:ea typeface="Arial" pitchFamily="34" charset="-122"/>
                <a:cs typeface="Arial" pitchFamily="34" charset="-120"/>
              </a:rPr>
              <a:t>35.13 percent</a:t>
            </a:r>
            <a:r>
              <a:rPr lang="en-US" sz="1400" dirty="0">
                <a:solidFill>
                  <a:srgbClr val="A8BECF"/>
                </a:solidFill>
                <a:latin typeface="Arial" pitchFamily="34" charset="0"/>
                <a:ea typeface="Arial" pitchFamily="34" charset="-122"/>
                <a:cs typeface="Arial" pitchFamily="34" charset="-120"/>
              </a:rPr>
              <a:t> and other purpose at </a:t>
            </a:r>
            <a:r>
              <a:rPr lang="en-US" sz="1400" b="1" dirty="0">
                <a:solidFill>
                  <a:srgbClr val="E0756A"/>
                </a:solidFill>
                <a:latin typeface="Arial" pitchFamily="34" charset="0"/>
                <a:ea typeface="Arial" pitchFamily="34" charset="-122"/>
                <a:cs typeface="Arial" pitchFamily="34" charset="-120"/>
              </a:rPr>
              <a:t>35.84</a:t>
            </a:r>
            <a:r>
              <a:rPr lang="en-US" sz="1400" dirty="0">
                <a:solidFill>
                  <a:srgbClr val="A8BECF"/>
                </a:solidFill>
                <a:latin typeface="Arial" pitchFamily="34" charset="0"/>
                <a:ea typeface="Arial" pitchFamily="34" charset="-122"/>
                <a:cs typeface="Arial" pitchFamily="34" charset="-120"/>
              </a:rPr>
              <a:t>, against </a:t>
            </a:r>
            <a:r>
              <a:rPr lang="en-US" sz="1400" b="1" dirty="0">
                <a:solidFill>
                  <a:srgbClr val="EDF3F8"/>
                </a:solidFill>
                <a:latin typeface="Arial" pitchFamily="34" charset="0"/>
                <a:ea typeface="Arial" pitchFamily="34" charset="-122"/>
                <a:cs typeface="Arial" pitchFamily="34" charset="-120"/>
              </a:rPr>
              <a:t>10.78</a:t>
            </a:r>
            <a:r>
              <a:rPr lang="en-US" sz="1400" dirty="0">
                <a:solidFill>
                  <a:srgbClr val="A8BECF"/>
                </a:solidFill>
                <a:latin typeface="Arial" pitchFamily="34" charset="0"/>
                <a:ea typeface="Arial" pitchFamily="34" charset="-122"/>
                <a:cs typeface="Arial" pitchFamily="34" charset="-120"/>
              </a:rPr>
              <a:t> for a purchase. With </a:t>
            </a:r>
            <a:r>
              <a:rPr lang="en-US" sz="1400" b="1" dirty="0">
                <a:solidFill>
                  <a:srgbClr val="EDF3F8"/>
                </a:solidFill>
                <a:latin typeface="Arial" pitchFamily="34" charset="0"/>
                <a:ea typeface="Arial" pitchFamily="34" charset="-122"/>
                <a:cs typeface="Arial" pitchFamily="34" charset="-120"/>
              </a:rPr>
              <a:t>493 and 479</a:t>
            </a:r>
            <a:r>
              <a:rPr lang="en-US" sz="1400" dirty="0">
                <a:solidFill>
                  <a:srgbClr val="A8BECF"/>
                </a:solidFill>
                <a:latin typeface="Arial" pitchFamily="34" charset="0"/>
                <a:ea typeface="Arial" pitchFamily="34" charset="-122"/>
                <a:cs typeface="Arial" pitchFamily="34" charset="-120"/>
              </a:rPr>
              <a:t> lenders active rather than 934. Three times as hard, with half the choice.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11101" y="2351633"/>
            <a:ext cx="1977926" cy="1012627"/>
          </a:xfrm>
          <a:prstGeom prst="roundRect">
            <a:avLst>
              <a:gd name="adj" fmla="val 6795"/>
            </a:avLst>
          </a:prstGeom>
          <a:solidFill>
            <a:srgbClr val="122738"/>
          </a:solidFill>
          <a:ln/>
        </p:spPr>
      </p:sp>
      <p:sp>
        <p:nvSpPr>
          <p:cNvPr id="3" name="Shape 1"/>
          <p:cNvSpPr/>
          <p:nvPr/>
        </p:nvSpPr>
        <p:spPr>
          <a:xfrm>
            <a:off x="2815977" y="2351633"/>
            <a:ext cx="2057549" cy="1012627"/>
          </a:xfrm>
          <a:prstGeom prst="roundRect">
            <a:avLst>
              <a:gd name="adj" fmla="val 6795"/>
            </a:avLst>
          </a:prstGeom>
          <a:solidFill>
            <a:srgbClr val="122738"/>
          </a:solidFill>
          <a:ln/>
        </p:spPr>
      </p:sp>
      <p:sp>
        <p:nvSpPr>
          <p:cNvPr id="4" name="Shape 2"/>
          <p:cNvSpPr/>
          <p:nvPr/>
        </p:nvSpPr>
        <p:spPr>
          <a:xfrm>
            <a:off x="5000476" y="2351633"/>
            <a:ext cx="1572518" cy="1012627"/>
          </a:xfrm>
          <a:prstGeom prst="roundRect">
            <a:avLst>
              <a:gd name="adj" fmla="val 6795"/>
            </a:avLst>
          </a:prstGeom>
          <a:solidFill>
            <a:srgbClr val="122738"/>
          </a:solidFill>
          <a:ln/>
        </p:spPr>
      </p:sp>
      <p:sp>
        <p:nvSpPr>
          <p:cNvPr id="5" name="Shape 3"/>
          <p:cNvSpPr/>
          <p:nvPr/>
        </p:nvSpPr>
        <p:spPr>
          <a:xfrm>
            <a:off x="6699945" y="2351633"/>
            <a:ext cx="1733252" cy="1012627"/>
          </a:xfrm>
          <a:prstGeom prst="roundRect">
            <a:avLst>
              <a:gd name="adj" fmla="val 6795"/>
            </a:avLst>
          </a:prstGeom>
          <a:solidFill>
            <a:srgbClr val="122738"/>
          </a:solidFill>
          <a:ln/>
        </p:spPr>
      </p:sp>
      <p:sp>
        <p:nvSpPr>
          <p:cNvPr id="6" name="Shape 4"/>
          <p:cNvSpPr/>
          <p:nvPr/>
        </p:nvSpPr>
        <p:spPr>
          <a:xfrm>
            <a:off x="711101" y="3643610"/>
            <a:ext cx="1668214" cy="1012627"/>
          </a:xfrm>
          <a:prstGeom prst="roundRect">
            <a:avLst>
              <a:gd name="adj" fmla="val 6795"/>
            </a:avLst>
          </a:prstGeom>
          <a:solidFill>
            <a:srgbClr val="122738"/>
          </a:solidFill>
          <a:ln/>
        </p:spPr>
      </p:sp>
      <p:sp>
        <p:nvSpPr>
          <p:cNvPr id="7" name="Shape 5"/>
          <p:cNvSpPr/>
          <p:nvPr/>
        </p:nvSpPr>
        <p:spPr>
          <a:xfrm>
            <a:off x="2506266" y="3643610"/>
            <a:ext cx="1958578" cy="1012627"/>
          </a:xfrm>
          <a:prstGeom prst="roundRect">
            <a:avLst>
              <a:gd name="adj" fmla="val 6795"/>
            </a:avLst>
          </a:prstGeom>
          <a:solidFill>
            <a:srgbClr val="122738"/>
          </a:solidFill>
          <a:ln/>
        </p:spPr>
      </p:sp>
      <p:sp>
        <p:nvSpPr>
          <p:cNvPr id="8" name="Shape 6"/>
          <p:cNvSpPr/>
          <p:nvPr/>
        </p:nvSpPr>
        <p:spPr>
          <a:xfrm>
            <a:off x="4591794" y="3643610"/>
            <a:ext cx="1943100" cy="1012627"/>
          </a:xfrm>
          <a:prstGeom prst="roundRect">
            <a:avLst>
              <a:gd name="adj" fmla="val 6795"/>
            </a:avLst>
          </a:prstGeom>
          <a:solidFill>
            <a:srgbClr val="122738"/>
          </a:solidFill>
          <a:ln/>
        </p:spPr>
      </p:sp>
      <p:sp>
        <p:nvSpPr>
          <p:cNvPr id="9" name="Shape 7"/>
          <p:cNvSpPr/>
          <p:nvPr/>
        </p:nvSpPr>
        <p:spPr>
          <a:xfrm>
            <a:off x="6661845" y="3643610"/>
            <a:ext cx="1771055" cy="1012627"/>
          </a:xfrm>
          <a:prstGeom prst="roundRect">
            <a:avLst>
              <a:gd name="adj" fmla="val 6795"/>
            </a:avLst>
          </a:prstGeom>
          <a:solidFill>
            <a:srgbClr val="122738"/>
          </a:solidFill>
          <a:ln/>
        </p:spPr>
      </p:sp>
      <p:sp>
        <p:nvSpPr>
          <p:cNvPr id="10" name="Shape 8"/>
          <p:cNvSpPr/>
          <p:nvPr/>
        </p:nvSpPr>
        <p:spPr>
          <a:xfrm>
            <a:off x="711101" y="4935587"/>
            <a:ext cx="1678632" cy="409575"/>
          </a:xfrm>
          <a:prstGeom prst="roundRect">
            <a:avLst>
              <a:gd name="adj" fmla="val 96917"/>
            </a:avLst>
          </a:prstGeom>
          <a:solidFill>
            <a:srgbClr val="16324A"/>
          </a:solidFill>
          <a:ln/>
        </p:spPr>
      </p:sp>
      <p:sp>
        <p:nvSpPr>
          <p:cNvPr id="11" name="Shape 9"/>
          <p:cNvSpPr/>
          <p:nvPr/>
        </p:nvSpPr>
        <p:spPr>
          <a:xfrm>
            <a:off x="2504033" y="4935587"/>
            <a:ext cx="2183309" cy="409575"/>
          </a:xfrm>
          <a:prstGeom prst="roundRect">
            <a:avLst>
              <a:gd name="adj" fmla="val 96917"/>
            </a:avLst>
          </a:prstGeom>
          <a:solidFill>
            <a:srgbClr val="16324A"/>
          </a:solidFill>
          <a:ln/>
        </p:spPr>
      </p:sp>
      <p:sp>
        <p:nvSpPr>
          <p:cNvPr id="12" name="Shape 10"/>
          <p:cNvSpPr/>
          <p:nvPr/>
        </p:nvSpPr>
        <p:spPr>
          <a:xfrm>
            <a:off x="4801642" y="4935587"/>
            <a:ext cx="2135981" cy="409575"/>
          </a:xfrm>
          <a:prstGeom prst="roundRect">
            <a:avLst>
              <a:gd name="adj" fmla="val 96917"/>
            </a:avLst>
          </a:prstGeom>
          <a:solidFill>
            <a:srgbClr val="16324A"/>
          </a:solidFill>
          <a:ln/>
        </p:spPr>
      </p:sp>
      <p:sp>
        <p:nvSpPr>
          <p:cNvPr id="13" name="Shape 11"/>
          <p:cNvSpPr/>
          <p:nvPr/>
        </p:nvSpPr>
        <p:spPr>
          <a:xfrm>
            <a:off x="711101" y="5459462"/>
            <a:ext cx="2103983" cy="409575"/>
          </a:xfrm>
          <a:prstGeom prst="roundRect">
            <a:avLst>
              <a:gd name="adj" fmla="val 96917"/>
            </a:avLst>
          </a:prstGeom>
          <a:solidFill>
            <a:srgbClr val="16324A"/>
          </a:solidFill>
          <a:ln/>
        </p:spPr>
      </p:sp>
      <p:sp>
        <p:nvSpPr>
          <p:cNvPr id="14" name="Shape 12"/>
          <p:cNvSpPr/>
          <p:nvPr/>
        </p:nvSpPr>
        <p:spPr>
          <a:xfrm>
            <a:off x="711101" y="7064573"/>
            <a:ext cx="7721798" cy="9525"/>
          </a:xfrm>
          <a:prstGeom prst="rect">
            <a:avLst/>
          </a:prstGeom>
          <a:solidFill>
            <a:srgbClr val="24415C"/>
          </a:solidFill>
          <a:ln/>
        </p:spPr>
      </p:sp>
      <p:sp>
        <p:nvSpPr>
          <p:cNvPr id="15" name="Text 13"/>
          <p:cNvSpPr txBox="1"/>
          <p:nvPr/>
        </p:nvSpPr>
        <p:spPr>
          <a:xfrm>
            <a:off x="711101" y="628346"/>
            <a:ext cx="7749230" cy="264033"/>
          </a:xfrm>
          <a:prstGeom prst="rect">
            <a:avLst/>
          </a:prstGeom>
          <a:noFill/>
          <a:ln/>
        </p:spPr>
        <p:txBody>
          <a:bodyPr wrap="square" lIns="0" tIns="0" rIns="0" bIns="0" rtlCol="0" anchor="t"/>
          <a:lstStyle/>
          <a:p>
            <a:pPr marL="0" indent="0" algn="l">
              <a:lnSpc>
                <a:spcPts val="1560"/>
              </a:lnSpc>
              <a:buNone/>
            </a:pPr>
            <a:r>
              <a:rPr lang="en-US" sz="1300" b="1" kern="0" spc="416" dirty="0">
                <a:solidFill>
                  <a:srgbClr val="E3B341"/>
                </a:solidFill>
                <a:latin typeface="Arial" pitchFamily="34" charset="0"/>
                <a:ea typeface="Arial" pitchFamily="34" charset="-122"/>
                <a:cs typeface="Arial" pitchFamily="34" charset="-120"/>
              </a:rPr>
              <a:t>THE MODEL</a:t>
            </a:r>
            <a:endParaRPr lang="en-US" sz="1300" dirty="0"/>
          </a:p>
        </p:txBody>
      </p:sp>
      <p:sp>
        <p:nvSpPr>
          <p:cNvPr id="16" name="Text 14"/>
          <p:cNvSpPr txBox="1"/>
          <p:nvPr/>
        </p:nvSpPr>
        <p:spPr>
          <a:xfrm>
            <a:off x="711101" y="1031522"/>
            <a:ext cx="7749230" cy="996565"/>
          </a:xfrm>
          <a:prstGeom prst="rect">
            <a:avLst/>
          </a:prstGeom>
          <a:noFill/>
          <a:ln/>
        </p:spPr>
        <p:txBody>
          <a:bodyPr wrap="square" lIns="0" tIns="0" rIns="0" bIns="0" rtlCol="0" anchor="t"/>
          <a:lstStyle/>
          <a:p>
            <a:pPr marL="0" indent="0" algn="l">
              <a:lnSpc>
                <a:spcPts val="3672"/>
              </a:lnSpc>
              <a:buNone/>
            </a:pPr>
            <a:r>
              <a:rPr lang="en-US" sz="3400" b="1" kern="0" spc="-48" dirty="0">
                <a:solidFill>
                  <a:srgbClr val="EDF3F8"/>
                </a:solidFill>
                <a:latin typeface="Arial" pitchFamily="34" charset="0"/>
                <a:ea typeface="Arial" pitchFamily="34" charset="-122"/>
                <a:cs typeface="Arial" pitchFamily="34" charset="-120"/>
              </a:rPr>
              <a:t>99 flat columns</a:t>
            </a:r>
            <a:endParaRPr lang="en-US" sz="3400" dirty="0"/>
          </a:p>
          <a:p>
            <a:pPr marL="0" indent="0" algn="l">
              <a:lnSpc>
                <a:spcPts val="3672"/>
              </a:lnSpc>
              <a:buNone/>
            </a:pPr>
            <a:r>
              <a:rPr lang="en-US" sz="3400" b="1" kern="0" spc="-48" dirty="0">
                <a:solidFill>
                  <a:srgbClr val="EDF3F8"/>
                </a:solidFill>
                <a:latin typeface="Arial" pitchFamily="34" charset="0"/>
                <a:ea typeface="Arial" pitchFamily="34" charset="-122"/>
                <a:cs typeface="Arial" pitchFamily="34" charset="-120"/>
              </a:rPr>
              <a:t>into 17 tables</a:t>
            </a:r>
            <a:endParaRPr lang="en-US" sz="3400" dirty="0"/>
          </a:p>
        </p:txBody>
      </p:sp>
      <p:sp>
        <p:nvSpPr>
          <p:cNvPr id="17" name="Text 15"/>
          <p:cNvSpPr txBox="1"/>
          <p:nvPr/>
        </p:nvSpPr>
        <p:spPr>
          <a:xfrm>
            <a:off x="939701" y="2522780"/>
            <a:ext cx="1548158" cy="464058"/>
          </a:xfrm>
          <a:prstGeom prst="rect">
            <a:avLst/>
          </a:prstGeom>
          <a:noFill/>
          <a:ln/>
        </p:spPr>
        <p:txBody>
          <a:bodyPr wrap="square" lIns="0" tIns="0" rIns="0" bIns="0" rtlCol="0" anchor="t"/>
          <a:lstStyle/>
          <a:p>
            <a:pPr marL="0" indent="0" algn="l">
              <a:lnSpc>
                <a:spcPts val="3120"/>
              </a:lnSpc>
              <a:buNone/>
            </a:pPr>
            <a:r>
              <a:rPr lang="en-US" sz="2600" b="1" dirty="0">
                <a:solidFill>
                  <a:srgbClr val="E3B341"/>
                </a:solidFill>
                <a:latin typeface="Arial" pitchFamily="34" charset="0"/>
                <a:ea typeface="Arial" pitchFamily="34" charset="-122"/>
                <a:cs typeface="Arial" pitchFamily="34" charset="-120"/>
              </a:rPr>
              <a:t>1</a:t>
            </a:r>
            <a:endParaRPr lang="en-US" sz="2600" dirty="0"/>
          </a:p>
        </p:txBody>
      </p:sp>
      <p:sp>
        <p:nvSpPr>
          <p:cNvPr id="18" name="Text 16"/>
          <p:cNvSpPr txBox="1"/>
          <p:nvPr/>
        </p:nvSpPr>
        <p:spPr>
          <a:xfrm>
            <a:off x="939701" y="2986230"/>
            <a:ext cx="1548158" cy="206883"/>
          </a:xfrm>
          <a:prstGeom prst="rect">
            <a:avLst/>
          </a:prstGeom>
          <a:noFill/>
          <a:ln/>
        </p:spPr>
        <p:txBody>
          <a:bodyPr wrap="square" lIns="0" tIns="0" rIns="0" bIns="0" rtlCol="0" anchor="t"/>
          <a:lstStyle/>
          <a:p>
            <a:pPr marL="0" indent="0" algn="l">
              <a:lnSpc>
                <a:spcPts val="1140"/>
              </a:lnSpc>
              <a:buNone/>
            </a:pPr>
            <a:r>
              <a:rPr lang="en-US" sz="1000" kern="0" spc="47" dirty="0">
                <a:solidFill>
                  <a:srgbClr val="71909F"/>
                </a:solidFill>
                <a:latin typeface="Arial" pitchFamily="34" charset="0"/>
                <a:ea typeface="Arial" pitchFamily="34" charset="-122"/>
                <a:cs typeface="Arial" pitchFamily="34" charset="-120"/>
              </a:rPr>
              <a:t>PARTITIONED FACT</a:t>
            </a:r>
            <a:endParaRPr lang="en-US" sz="1000" dirty="0"/>
          </a:p>
        </p:txBody>
      </p:sp>
      <p:sp>
        <p:nvSpPr>
          <p:cNvPr id="19" name="Text 17"/>
          <p:cNvSpPr txBox="1"/>
          <p:nvPr/>
        </p:nvSpPr>
        <p:spPr>
          <a:xfrm>
            <a:off x="3044577" y="2522780"/>
            <a:ext cx="1627781" cy="464058"/>
          </a:xfrm>
          <a:prstGeom prst="rect">
            <a:avLst/>
          </a:prstGeom>
          <a:noFill/>
          <a:ln/>
        </p:spPr>
        <p:txBody>
          <a:bodyPr wrap="square" lIns="0" tIns="0" rIns="0" bIns="0" rtlCol="0" anchor="t"/>
          <a:lstStyle/>
          <a:p>
            <a:pPr marL="0" indent="0" algn="l">
              <a:lnSpc>
                <a:spcPts val="3120"/>
              </a:lnSpc>
              <a:buNone/>
            </a:pPr>
            <a:r>
              <a:rPr lang="en-US" sz="2600" b="1" dirty="0">
                <a:solidFill>
                  <a:srgbClr val="E3B341"/>
                </a:solidFill>
                <a:latin typeface="Arial" pitchFamily="34" charset="0"/>
                <a:ea typeface="Arial" pitchFamily="34" charset="-122"/>
                <a:cs typeface="Arial" pitchFamily="34" charset="-120"/>
              </a:rPr>
              <a:t>4</a:t>
            </a:r>
            <a:endParaRPr lang="en-US" sz="2600" dirty="0"/>
          </a:p>
        </p:txBody>
      </p:sp>
      <p:sp>
        <p:nvSpPr>
          <p:cNvPr id="20" name="Text 18"/>
          <p:cNvSpPr txBox="1"/>
          <p:nvPr/>
        </p:nvSpPr>
        <p:spPr>
          <a:xfrm>
            <a:off x="3044577" y="2986230"/>
            <a:ext cx="1627781" cy="206883"/>
          </a:xfrm>
          <a:prstGeom prst="rect">
            <a:avLst/>
          </a:prstGeom>
          <a:noFill/>
          <a:ln/>
        </p:spPr>
        <p:txBody>
          <a:bodyPr wrap="square" lIns="0" tIns="0" rIns="0" bIns="0" rtlCol="0" anchor="t"/>
          <a:lstStyle/>
          <a:p>
            <a:pPr marL="0" indent="0" algn="l">
              <a:lnSpc>
                <a:spcPts val="1140"/>
              </a:lnSpc>
              <a:buNone/>
            </a:pPr>
            <a:r>
              <a:rPr lang="en-US" sz="1000" kern="0" spc="47" dirty="0">
                <a:solidFill>
                  <a:srgbClr val="71909F"/>
                </a:solidFill>
                <a:latin typeface="Arial" pitchFamily="34" charset="0"/>
                <a:ea typeface="Arial" pitchFamily="34" charset="-122"/>
                <a:cs typeface="Arial" pitchFamily="34" charset="-120"/>
              </a:rPr>
              <a:t>YEARLY PARTITIONS</a:t>
            </a:r>
            <a:endParaRPr lang="en-US" sz="1000" dirty="0"/>
          </a:p>
        </p:txBody>
      </p:sp>
      <p:sp>
        <p:nvSpPr>
          <p:cNvPr id="21" name="Text 19"/>
          <p:cNvSpPr txBox="1"/>
          <p:nvPr/>
        </p:nvSpPr>
        <p:spPr>
          <a:xfrm>
            <a:off x="5229076" y="2522780"/>
            <a:ext cx="1142750" cy="464058"/>
          </a:xfrm>
          <a:prstGeom prst="rect">
            <a:avLst/>
          </a:prstGeom>
          <a:noFill/>
          <a:ln/>
        </p:spPr>
        <p:txBody>
          <a:bodyPr wrap="square" lIns="0" tIns="0" rIns="0" bIns="0" rtlCol="0" anchor="t"/>
          <a:lstStyle/>
          <a:p>
            <a:pPr marL="0" indent="0" algn="l">
              <a:lnSpc>
                <a:spcPts val="3120"/>
              </a:lnSpc>
              <a:buNone/>
            </a:pPr>
            <a:r>
              <a:rPr lang="en-US" sz="2600" b="1" dirty="0">
                <a:solidFill>
                  <a:srgbClr val="E3B341"/>
                </a:solidFill>
                <a:latin typeface="Arial" pitchFamily="34" charset="0"/>
                <a:ea typeface="Arial" pitchFamily="34" charset="-122"/>
                <a:cs typeface="Arial" pitchFamily="34" charset="-120"/>
              </a:rPr>
              <a:t>8</a:t>
            </a:r>
            <a:endParaRPr lang="en-US" sz="2600" dirty="0"/>
          </a:p>
        </p:txBody>
      </p:sp>
      <p:sp>
        <p:nvSpPr>
          <p:cNvPr id="22" name="Text 20"/>
          <p:cNvSpPr txBox="1"/>
          <p:nvPr/>
        </p:nvSpPr>
        <p:spPr>
          <a:xfrm>
            <a:off x="5229076" y="2986230"/>
            <a:ext cx="1142750" cy="206883"/>
          </a:xfrm>
          <a:prstGeom prst="rect">
            <a:avLst/>
          </a:prstGeom>
          <a:noFill/>
          <a:ln/>
        </p:spPr>
        <p:txBody>
          <a:bodyPr wrap="square" lIns="0" tIns="0" rIns="0" bIns="0" rtlCol="0" anchor="t"/>
          <a:lstStyle/>
          <a:p>
            <a:pPr marL="0" indent="0" algn="l">
              <a:lnSpc>
                <a:spcPts val="1140"/>
              </a:lnSpc>
              <a:buNone/>
            </a:pPr>
            <a:r>
              <a:rPr lang="en-US" sz="1000" kern="0" spc="47" dirty="0">
                <a:solidFill>
                  <a:srgbClr val="71909F"/>
                </a:solidFill>
                <a:latin typeface="Arial" pitchFamily="34" charset="0"/>
                <a:ea typeface="Arial" pitchFamily="34" charset="-122"/>
                <a:cs typeface="Arial" pitchFamily="34" charset="-120"/>
              </a:rPr>
              <a:t>DIMENSIONS</a:t>
            </a:r>
            <a:endParaRPr lang="en-US" sz="1000" dirty="0"/>
          </a:p>
        </p:txBody>
      </p:sp>
      <p:sp>
        <p:nvSpPr>
          <p:cNvPr id="23" name="Text 21"/>
          <p:cNvSpPr txBox="1"/>
          <p:nvPr/>
        </p:nvSpPr>
        <p:spPr>
          <a:xfrm>
            <a:off x="6928545" y="2522780"/>
            <a:ext cx="1303484" cy="464058"/>
          </a:xfrm>
          <a:prstGeom prst="rect">
            <a:avLst/>
          </a:prstGeom>
          <a:noFill/>
          <a:ln/>
        </p:spPr>
        <p:txBody>
          <a:bodyPr wrap="square" lIns="0" tIns="0" rIns="0" bIns="0" rtlCol="0" anchor="t"/>
          <a:lstStyle/>
          <a:p>
            <a:pPr marL="0" indent="0" algn="l">
              <a:lnSpc>
                <a:spcPts val="3120"/>
              </a:lnSpc>
              <a:buNone/>
            </a:pPr>
            <a:r>
              <a:rPr lang="en-US" sz="2600" b="1" dirty="0">
                <a:solidFill>
                  <a:srgbClr val="E3B341"/>
                </a:solidFill>
                <a:latin typeface="Arial" pitchFamily="34" charset="0"/>
                <a:ea typeface="Arial" pitchFamily="34" charset="-122"/>
                <a:cs typeface="Arial" pitchFamily="34" charset="-120"/>
              </a:rPr>
              <a:t>2</a:t>
            </a:r>
            <a:endParaRPr lang="en-US" sz="2600" dirty="0"/>
          </a:p>
        </p:txBody>
      </p:sp>
      <p:sp>
        <p:nvSpPr>
          <p:cNvPr id="24" name="Text 22"/>
          <p:cNvSpPr txBox="1"/>
          <p:nvPr/>
        </p:nvSpPr>
        <p:spPr>
          <a:xfrm>
            <a:off x="6928545" y="2986230"/>
            <a:ext cx="1303484" cy="206883"/>
          </a:xfrm>
          <a:prstGeom prst="rect">
            <a:avLst/>
          </a:prstGeom>
          <a:noFill/>
          <a:ln/>
        </p:spPr>
        <p:txBody>
          <a:bodyPr wrap="square" lIns="0" tIns="0" rIns="0" bIns="0" rtlCol="0" anchor="t"/>
          <a:lstStyle/>
          <a:p>
            <a:pPr marL="0" indent="0" algn="l">
              <a:lnSpc>
                <a:spcPts val="1140"/>
              </a:lnSpc>
              <a:buNone/>
            </a:pPr>
            <a:r>
              <a:rPr lang="en-US" sz="1000" kern="0" spc="47" dirty="0">
                <a:solidFill>
                  <a:srgbClr val="71909F"/>
                </a:solidFill>
                <a:latin typeface="Arial" pitchFamily="34" charset="0"/>
                <a:ea typeface="Arial" pitchFamily="34" charset="-122"/>
                <a:cs typeface="Arial" pitchFamily="34" charset="-120"/>
              </a:rPr>
              <a:t>OF THEM JUNK</a:t>
            </a:r>
            <a:endParaRPr lang="en-US" sz="1000" dirty="0"/>
          </a:p>
        </p:txBody>
      </p:sp>
      <p:sp>
        <p:nvSpPr>
          <p:cNvPr id="25" name="Text 23"/>
          <p:cNvSpPr txBox="1"/>
          <p:nvPr/>
        </p:nvSpPr>
        <p:spPr>
          <a:xfrm>
            <a:off x="939701" y="3814757"/>
            <a:ext cx="1238446" cy="464058"/>
          </a:xfrm>
          <a:prstGeom prst="rect">
            <a:avLst/>
          </a:prstGeom>
          <a:noFill/>
          <a:ln/>
        </p:spPr>
        <p:txBody>
          <a:bodyPr wrap="square" lIns="0" tIns="0" rIns="0" bIns="0" rtlCol="0" anchor="t"/>
          <a:lstStyle/>
          <a:p>
            <a:pPr marL="0" indent="0" algn="l">
              <a:lnSpc>
                <a:spcPts val="3120"/>
              </a:lnSpc>
              <a:buNone/>
            </a:pPr>
            <a:r>
              <a:rPr lang="en-US" sz="2600" b="1" dirty="0">
                <a:solidFill>
                  <a:srgbClr val="E3B341"/>
                </a:solidFill>
                <a:latin typeface="Arial" pitchFamily="34" charset="0"/>
                <a:ea typeface="Arial" pitchFamily="34" charset="-122"/>
                <a:cs typeface="Arial" pitchFamily="34" charset="-120"/>
              </a:rPr>
              <a:t>4</a:t>
            </a:r>
            <a:endParaRPr lang="en-US" sz="2600" dirty="0"/>
          </a:p>
        </p:txBody>
      </p:sp>
      <p:sp>
        <p:nvSpPr>
          <p:cNvPr id="26" name="Text 24"/>
          <p:cNvSpPr txBox="1"/>
          <p:nvPr/>
        </p:nvSpPr>
        <p:spPr>
          <a:xfrm>
            <a:off x="939701" y="4278207"/>
            <a:ext cx="1238446" cy="206883"/>
          </a:xfrm>
          <a:prstGeom prst="rect">
            <a:avLst/>
          </a:prstGeom>
          <a:noFill/>
          <a:ln/>
        </p:spPr>
        <p:txBody>
          <a:bodyPr wrap="square" lIns="0" tIns="0" rIns="0" bIns="0" rtlCol="0" anchor="t"/>
          <a:lstStyle/>
          <a:p>
            <a:pPr marL="0" indent="0" algn="l">
              <a:lnSpc>
                <a:spcPts val="1140"/>
              </a:lnSpc>
              <a:buNone/>
            </a:pPr>
            <a:r>
              <a:rPr lang="en-US" sz="1000" kern="0" spc="47" dirty="0">
                <a:solidFill>
                  <a:srgbClr val="71909F"/>
                </a:solidFill>
                <a:latin typeface="Arial" pitchFamily="34" charset="0"/>
                <a:ea typeface="Arial" pitchFamily="34" charset="-122"/>
                <a:cs typeface="Arial" pitchFamily="34" charset="-120"/>
              </a:rPr>
              <a:t>BRIDGE TABLES</a:t>
            </a:r>
            <a:endParaRPr lang="en-US" sz="1000" dirty="0"/>
          </a:p>
        </p:txBody>
      </p:sp>
      <p:sp>
        <p:nvSpPr>
          <p:cNvPr id="27" name="Text 25"/>
          <p:cNvSpPr txBox="1"/>
          <p:nvPr/>
        </p:nvSpPr>
        <p:spPr>
          <a:xfrm>
            <a:off x="2734866" y="3814757"/>
            <a:ext cx="1528810" cy="464058"/>
          </a:xfrm>
          <a:prstGeom prst="rect">
            <a:avLst/>
          </a:prstGeom>
          <a:noFill/>
          <a:ln/>
        </p:spPr>
        <p:txBody>
          <a:bodyPr wrap="square" lIns="0" tIns="0" rIns="0" bIns="0" rtlCol="0" anchor="t"/>
          <a:lstStyle/>
          <a:p>
            <a:pPr marL="0" indent="0" algn="l">
              <a:lnSpc>
                <a:spcPts val="3120"/>
              </a:lnSpc>
              <a:buNone/>
            </a:pPr>
            <a:r>
              <a:rPr lang="en-US" sz="2600" b="1" dirty="0">
                <a:solidFill>
                  <a:srgbClr val="E3B341"/>
                </a:solidFill>
                <a:latin typeface="Arial" pitchFamily="34" charset="0"/>
                <a:ea typeface="Arial" pitchFamily="34" charset="-122"/>
                <a:cs typeface="Arial" pitchFamily="34" charset="-120"/>
              </a:rPr>
              <a:t>1</a:t>
            </a:r>
            <a:endParaRPr lang="en-US" sz="2600" dirty="0"/>
          </a:p>
        </p:txBody>
      </p:sp>
      <p:sp>
        <p:nvSpPr>
          <p:cNvPr id="28" name="Text 26"/>
          <p:cNvSpPr txBox="1"/>
          <p:nvPr/>
        </p:nvSpPr>
        <p:spPr>
          <a:xfrm>
            <a:off x="2734866" y="4278207"/>
            <a:ext cx="1528810" cy="206883"/>
          </a:xfrm>
          <a:prstGeom prst="rect">
            <a:avLst/>
          </a:prstGeom>
          <a:noFill/>
          <a:ln/>
        </p:spPr>
        <p:txBody>
          <a:bodyPr wrap="square" lIns="0" tIns="0" rIns="0" bIns="0" rtlCol="0" anchor="t"/>
          <a:lstStyle/>
          <a:p>
            <a:pPr marL="0" indent="0" algn="l">
              <a:lnSpc>
                <a:spcPts val="1140"/>
              </a:lnSpc>
              <a:buNone/>
            </a:pPr>
            <a:r>
              <a:rPr lang="en-US" sz="1000" kern="0" spc="47" dirty="0">
                <a:solidFill>
                  <a:srgbClr val="71909F"/>
                </a:solidFill>
                <a:latin typeface="Arial" pitchFamily="34" charset="0"/>
                <a:ea typeface="Arial" pitchFamily="34" charset="-122"/>
                <a:cs typeface="Arial" pitchFamily="34" charset="-120"/>
              </a:rPr>
              <a:t>QUARANTINE TABLE</a:t>
            </a:r>
            <a:endParaRPr lang="en-US" sz="1000" dirty="0"/>
          </a:p>
        </p:txBody>
      </p:sp>
      <p:sp>
        <p:nvSpPr>
          <p:cNvPr id="29" name="Text 27"/>
          <p:cNvSpPr txBox="1"/>
          <p:nvPr/>
        </p:nvSpPr>
        <p:spPr>
          <a:xfrm>
            <a:off x="4820394" y="3814757"/>
            <a:ext cx="1513332" cy="464058"/>
          </a:xfrm>
          <a:prstGeom prst="rect">
            <a:avLst/>
          </a:prstGeom>
          <a:noFill/>
          <a:ln/>
        </p:spPr>
        <p:txBody>
          <a:bodyPr wrap="square" lIns="0" tIns="0" rIns="0" bIns="0" rtlCol="0" anchor="t"/>
          <a:lstStyle/>
          <a:p>
            <a:pPr marL="0" indent="0" algn="l">
              <a:lnSpc>
                <a:spcPts val="3120"/>
              </a:lnSpc>
              <a:buNone/>
            </a:pPr>
            <a:r>
              <a:rPr lang="en-US" sz="2600" b="1" dirty="0">
                <a:solidFill>
                  <a:srgbClr val="E3B341"/>
                </a:solidFill>
                <a:latin typeface="Arial" pitchFamily="34" charset="0"/>
                <a:ea typeface="Arial" pitchFamily="34" charset="-122"/>
                <a:cs typeface="Arial" pitchFamily="34" charset="-120"/>
              </a:rPr>
              <a:t>3</a:t>
            </a:r>
            <a:endParaRPr lang="en-US" sz="2600" dirty="0"/>
          </a:p>
        </p:txBody>
      </p:sp>
      <p:sp>
        <p:nvSpPr>
          <p:cNvPr id="30" name="Text 28"/>
          <p:cNvSpPr txBox="1"/>
          <p:nvPr/>
        </p:nvSpPr>
        <p:spPr>
          <a:xfrm>
            <a:off x="4820394" y="4278207"/>
            <a:ext cx="1513332" cy="206883"/>
          </a:xfrm>
          <a:prstGeom prst="rect">
            <a:avLst/>
          </a:prstGeom>
          <a:noFill/>
          <a:ln/>
        </p:spPr>
        <p:txBody>
          <a:bodyPr wrap="square" lIns="0" tIns="0" rIns="0" bIns="0" rtlCol="0" anchor="t"/>
          <a:lstStyle/>
          <a:p>
            <a:pPr marL="0" indent="0" algn="l">
              <a:lnSpc>
                <a:spcPts val="1140"/>
              </a:lnSpc>
              <a:buNone/>
            </a:pPr>
            <a:r>
              <a:rPr lang="en-US" sz="1000" kern="0" spc="47" dirty="0">
                <a:solidFill>
                  <a:srgbClr val="71909F"/>
                </a:solidFill>
                <a:latin typeface="Arial" pitchFamily="34" charset="0"/>
                <a:ea typeface="Arial" pitchFamily="34" charset="-122"/>
                <a:cs typeface="Arial" pitchFamily="34" charset="-120"/>
              </a:rPr>
              <a:t>REFERENCE TABLES</a:t>
            </a:r>
            <a:endParaRPr lang="en-US" sz="1000" dirty="0"/>
          </a:p>
        </p:txBody>
      </p:sp>
      <p:sp>
        <p:nvSpPr>
          <p:cNvPr id="31" name="Text 29"/>
          <p:cNvSpPr txBox="1"/>
          <p:nvPr/>
        </p:nvSpPr>
        <p:spPr>
          <a:xfrm>
            <a:off x="6890445" y="3814757"/>
            <a:ext cx="1341287" cy="464058"/>
          </a:xfrm>
          <a:prstGeom prst="rect">
            <a:avLst/>
          </a:prstGeom>
          <a:noFill/>
          <a:ln/>
        </p:spPr>
        <p:txBody>
          <a:bodyPr wrap="square" lIns="0" tIns="0" rIns="0" bIns="0" rtlCol="0" anchor="t"/>
          <a:lstStyle/>
          <a:p>
            <a:pPr marL="0" indent="0" algn="l">
              <a:lnSpc>
                <a:spcPts val="3120"/>
              </a:lnSpc>
              <a:buNone/>
            </a:pPr>
            <a:r>
              <a:rPr lang="en-US" sz="2600" b="1" dirty="0">
                <a:solidFill>
                  <a:srgbClr val="E3B341"/>
                </a:solidFill>
                <a:latin typeface="Arial" pitchFamily="34" charset="0"/>
                <a:ea typeface="Arial" pitchFamily="34" charset="-122"/>
                <a:cs typeface="Arial" pitchFamily="34" charset="-120"/>
              </a:rPr>
              <a:t>3</a:t>
            </a:r>
            <a:endParaRPr lang="en-US" sz="2600" dirty="0"/>
          </a:p>
        </p:txBody>
      </p:sp>
      <p:sp>
        <p:nvSpPr>
          <p:cNvPr id="32" name="Text 30"/>
          <p:cNvSpPr txBox="1"/>
          <p:nvPr/>
        </p:nvSpPr>
        <p:spPr>
          <a:xfrm>
            <a:off x="6890445" y="4278207"/>
            <a:ext cx="1341287" cy="206883"/>
          </a:xfrm>
          <a:prstGeom prst="rect">
            <a:avLst/>
          </a:prstGeom>
          <a:noFill/>
          <a:ln/>
        </p:spPr>
        <p:txBody>
          <a:bodyPr wrap="square" lIns="0" tIns="0" rIns="0" bIns="0" rtlCol="0" anchor="t"/>
          <a:lstStyle/>
          <a:p>
            <a:pPr marL="0" indent="0" algn="l">
              <a:lnSpc>
                <a:spcPts val="1140"/>
              </a:lnSpc>
              <a:buNone/>
            </a:pPr>
            <a:r>
              <a:rPr lang="en-US" sz="1000" kern="0" spc="47" dirty="0">
                <a:solidFill>
                  <a:srgbClr val="71909F"/>
                </a:solidFill>
                <a:latin typeface="Arial" pitchFamily="34" charset="0"/>
                <a:ea typeface="Arial" pitchFamily="34" charset="-122"/>
                <a:cs typeface="Arial" pitchFamily="34" charset="-120"/>
              </a:rPr>
              <a:t>LABELLED VIEWS</a:t>
            </a:r>
            <a:endParaRPr lang="en-US" sz="1000" dirty="0"/>
          </a:p>
        </p:txBody>
      </p:sp>
      <p:sp>
        <p:nvSpPr>
          <p:cNvPr id="33" name="Text 31"/>
          <p:cNvSpPr txBox="1"/>
          <p:nvPr/>
        </p:nvSpPr>
        <p:spPr>
          <a:xfrm>
            <a:off x="914300" y="5017883"/>
            <a:ext cx="1299665" cy="244983"/>
          </a:xfrm>
          <a:prstGeom prst="rect">
            <a:avLst/>
          </a:prstGeom>
          <a:noFill/>
          <a:ln/>
        </p:spPr>
        <p:txBody>
          <a:bodyPr wrap="square" lIns="0" tIns="0" rIns="0" bIns="0" rtlCol="0" anchor="t"/>
          <a:lstStyle/>
          <a:p>
            <a:pPr marL="0" indent="0" algn="l">
              <a:lnSpc>
                <a:spcPts val="1380"/>
              </a:lnSpc>
              <a:buNone/>
            </a:pPr>
            <a:r>
              <a:rPr lang="en-US" sz="1150" b="1" dirty="0">
                <a:solidFill>
                  <a:srgbClr val="A8BECF"/>
                </a:solidFill>
                <a:latin typeface="Arial" pitchFamily="34" charset="0"/>
                <a:ea typeface="Arial" pitchFamily="34" charset="-122"/>
                <a:cs typeface="Arial" pitchFamily="34" charset="-120"/>
              </a:rPr>
              <a:t>md5 business key</a:t>
            </a:r>
            <a:endParaRPr lang="en-US" sz="1150" dirty="0"/>
          </a:p>
        </p:txBody>
      </p:sp>
      <p:sp>
        <p:nvSpPr>
          <p:cNvPr id="34" name="Text 32"/>
          <p:cNvSpPr txBox="1"/>
          <p:nvPr/>
        </p:nvSpPr>
        <p:spPr>
          <a:xfrm>
            <a:off x="2707233" y="5017883"/>
            <a:ext cx="1804341" cy="244983"/>
          </a:xfrm>
          <a:prstGeom prst="rect">
            <a:avLst/>
          </a:prstGeom>
          <a:noFill/>
          <a:ln/>
        </p:spPr>
        <p:txBody>
          <a:bodyPr wrap="square" lIns="0" tIns="0" rIns="0" bIns="0" rtlCol="0" anchor="t"/>
          <a:lstStyle/>
          <a:p>
            <a:pPr marL="0" indent="0" algn="l">
              <a:lnSpc>
                <a:spcPts val="1380"/>
              </a:lnSpc>
              <a:buNone/>
            </a:pPr>
            <a:r>
              <a:rPr lang="en-US" sz="1150" b="1" dirty="0">
                <a:solidFill>
                  <a:srgbClr val="A8BECF"/>
                </a:solidFill>
                <a:latin typeface="Arial" pitchFamily="34" charset="0"/>
                <a:ea typeface="Arial" pitchFamily="34" charset="-122"/>
                <a:cs typeface="Arial" pitchFamily="34" charset="-120"/>
              </a:rPr>
              <a:t>year-keyed conformance</a:t>
            </a:r>
            <a:endParaRPr lang="en-US" sz="1150" dirty="0"/>
          </a:p>
        </p:txBody>
      </p:sp>
      <p:sp>
        <p:nvSpPr>
          <p:cNvPr id="35" name="Text 33"/>
          <p:cNvSpPr txBox="1"/>
          <p:nvPr/>
        </p:nvSpPr>
        <p:spPr>
          <a:xfrm>
            <a:off x="5004841" y="5017883"/>
            <a:ext cx="1757014" cy="244983"/>
          </a:xfrm>
          <a:prstGeom prst="rect">
            <a:avLst/>
          </a:prstGeom>
          <a:noFill/>
          <a:ln/>
        </p:spPr>
        <p:txBody>
          <a:bodyPr wrap="square" lIns="0" tIns="0" rIns="0" bIns="0" rtlCol="0" anchor="t"/>
          <a:lstStyle/>
          <a:p>
            <a:pPr marL="0" indent="0" algn="l">
              <a:lnSpc>
                <a:spcPts val="1380"/>
              </a:lnSpc>
              <a:buNone/>
            </a:pPr>
            <a:r>
              <a:rPr lang="en-US" sz="1150" b="1" dirty="0">
                <a:solidFill>
                  <a:srgbClr val="A8BECF"/>
                </a:solidFill>
                <a:latin typeface="Arial" pitchFamily="34" charset="0"/>
                <a:ea typeface="Arial" pitchFamily="34" charset="-122"/>
                <a:cs typeface="Arial" pitchFamily="34" charset="-120"/>
              </a:rPr>
              <a:t>exact decimal arithmetic</a:t>
            </a:r>
            <a:endParaRPr lang="en-US" sz="1150" dirty="0"/>
          </a:p>
        </p:txBody>
      </p:sp>
      <p:sp>
        <p:nvSpPr>
          <p:cNvPr id="36" name="Text 34"/>
          <p:cNvSpPr txBox="1"/>
          <p:nvPr/>
        </p:nvSpPr>
        <p:spPr>
          <a:xfrm>
            <a:off x="914300" y="5541758"/>
            <a:ext cx="1725016" cy="244983"/>
          </a:xfrm>
          <a:prstGeom prst="rect">
            <a:avLst/>
          </a:prstGeom>
          <a:noFill/>
          <a:ln/>
        </p:spPr>
        <p:txBody>
          <a:bodyPr wrap="square" lIns="0" tIns="0" rIns="0" bIns="0" rtlCol="0" anchor="t"/>
          <a:lstStyle/>
          <a:p>
            <a:pPr marL="0" indent="0" algn="l">
              <a:lnSpc>
                <a:spcPts val="1380"/>
              </a:lnSpc>
              <a:buNone/>
            </a:pPr>
            <a:r>
              <a:rPr lang="en-US" sz="1150" b="1" dirty="0">
                <a:solidFill>
                  <a:srgbClr val="A8BECF"/>
                </a:solidFill>
                <a:latin typeface="Arial" pitchFamily="34" charset="0"/>
                <a:ea typeface="Arial" pitchFamily="34" charset="-122"/>
                <a:cs typeface="Arial" pitchFamily="34" charset="-120"/>
              </a:rPr>
              <a:t>42 queries, two engines</a:t>
            </a:r>
            <a:endParaRPr lang="en-US" sz="1150" dirty="0"/>
          </a:p>
        </p:txBody>
      </p:sp>
      <p:sp>
        <p:nvSpPr>
          <p:cNvPr id="37" name="Text 35"/>
          <p:cNvSpPr txBox="1"/>
          <p:nvPr/>
        </p:nvSpPr>
        <p:spPr>
          <a:xfrm>
            <a:off x="711101" y="7261169"/>
            <a:ext cx="7749230" cy="1254484"/>
          </a:xfrm>
          <a:prstGeom prst="rect">
            <a:avLst/>
          </a:prstGeom>
          <a:noFill/>
          <a:ln/>
        </p:spPr>
        <p:txBody>
          <a:bodyPr wrap="square" lIns="0" tIns="0" rIns="0" bIns="0" rtlCol="0" anchor="t"/>
          <a:lstStyle/>
          <a:p>
            <a:pPr marL="0" indent="0" algn="l">
              <a:lnSpc>
                <a:spcPts val="1860"/>
              </a:lnSpc>
              <a:buNone/>
            </a:pPr>
            <a:r>
              <a:rPr lang="en-US" sz="1400" b="1" dirty="0">
                <a:solidFill>
                  <a:srgbClr val="EDF3F8"/>
                </a:solidFill>
                <a:latin typeface="Arial" pitchFamily="34" charset="0"/>
                <a:ea typeface="Arial" pitchFamily="34" charset="-122"/>
                <a:cs typeface="Arial" pitchFamily="34" charset="-120"/>
              </a:rPr>
              <a:t>175 columns, 100 percent documented.</a:t>
            </a:r>
            <a:r>
              <a:rPr lang="en-US" sz="1400" dirty="0">
                <a:solidFill>
                  <a:srgbClr val="A8BECF"/>
                </a:solidFill>
                <a:latin typeface="Arial" pitchFamily="34" charset="0"/>
                <a:ea typeface="Arial" pitchFamily="34" charset="-122"/>
                <a:cs typeface="Arial" pitchFamily="34" charset="-120"/>
              </a:rPr>
              <a:t> The published data dictionary is generated from </a:t>
            </a:r>
            <a:r>
              <a:rPr lang="en-US" sz="1400" b="1" dirty="0">
                <a:solidFill>
                  <a:srgbClr val="EDF3F8"/>
                </a:solidFill>
                <a:latin typeface="Arial" pitchFamily="34" charset="0"/>
                <a:ea typeface="Arial" pitchFamily="34" charset="-122"/>
                <a:cs typeface="Arial" pitchFamily="34" charset="-120"/>
              </a:rPr>
              <a:t>pg_catalog</a:t>
            </a:r>
            <a:r>
              <a:rPr lang="en-US" sz="1400" dirty="0">
                <a:solidFill>
                  <a:srgbClr val="A8BECF"/>
                </a:solidFill>
                <a:latin typeface="Arial" pitchFamily="34" charset="0"/>
                <a:ea typeface="Arial" pitchFamily="34" charset="-122"/>
                <a:cs typeface="Arial" pitchFamily="34" charset="-120"/>
              </a:rPr>
              <a:t> at build time, so it cannot describe a column that no longer exists.</a:t>
            </a:r>
            <a:endParaRPr lang="en-US" sz="1400" dirty="0"/>
          </a:p>
          <a:p>
            <a:pPr marL="0" indent="0" algn="l">
              <a:lnSpc>
                <a:spcPts val="1860"/>
              </a:lnSpc>
              <a:buNone/>
            </a:pPr>
            <a:r>
              <a:rPr lang="en-US" sz="1400" dirty="0">
                <a:solidFill>
                  <a:srgbClr val="A8BECF"/>
                </a:solidFill>
                <a:latin typeface="Arial" pitchFamily="34" charset="0"/>
                <a:ea typeface="Arial" pitchFamily="34" charset="-122"/>
                <a:cs typeface="Arial" pitchFamily="34" charset="-120"/>
              </a:rPr>
              <a:t> </a:t>
            </a:r>
            <a:endParaRPr lang="en-US" sz="1400" dirty="0"/>
          </a:p>
          <a:p>
            <a:pPr marL="0" indent="0" algn="l">
              <a:lnSpc>
                <a:spcPts val="1860"/>
              </a:lnSpc>
              <a:buNone/>
            </a:pPr>
            <a:r>
              <a:rPr lang="en-US" sz="1400" dirty="0">
                <a:solidFill>
                  <a:srgbClr val="A8BECF"/>
                </a:solidFill>
                <a:latin typeface="Arial" pitchFamily="34" charset="0"/>
                <a:ea typeface="Arial" pitchFamily="34" charset="-122"/>
                <a:cs typeface="Arial" pitchFamily="34" charset="-120"/>
              </a:rPr>
              <a:t>HMDA strips every loan identifier before publication, so the business key is an </a:t>
            </a:r>
            <a:r>
              <a:rPr lang="en-US" sz="1400" b="1" dirty="0">
                <a:solidFill>
                  <a:srgbClr val="EDF3F8"/>
                </a:solidFill>
                <a:latin typeface="Arial" pitchFamily="34" charset="0"/>
                <a:ea typeface="Arial" pitchFamily="34" charset="-122"/>
                <a:cs typeface="Arial" pitchFamily="34" charset="-120"/>
              </a:rPr>
              <a:t>md5 of the source row</a:t>
            </a:r>
            <a:r>
              <a:rPr lang="en-US" sz="1400" dirty="0">
                <a:solidFill>
                  <a:srgbClr val="A8BECF"/>
                </a:solidFill>
                <a:latin typeface="Arial" pitchFamily="34" charset="0"/>
                <a:ea typeface="Arial" pitchFamily="34" charset="-122"/>
                <a:cs typeface="Arial" pitchFamily="34" charset="-120"/>
              </a:rPr>
              <a:t>. Rebuild the model on another machine and you get the same keys.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11101" y="5303639"/>
            <a:ext cx="1826716" cy="520601"/>
          </a:xfrm>
          <a:prstGeom prst="roundRect">
            <a:avLst>
              <a:gd name="adj" fmla="val 25709"/>
            </a:avLst>
          </a:prstGeom>
          <a:solidFill>
            <a:srgbClr val="16324A"/>
          </a:solidFill>
          <a:ln/>
        </p:spPr>
      </p:sp>
      <p:sp>
        <p:nvSpPr>
          <p:cNvPr id="3" name="Shape 1"/>
          <p:cNvSpPr/>
          <p:nvPr/>
        </p:nvSpPr>
        <p:spPr>
          <a:xfrm>
            <a:off x="2664768" y="5303639"/>
            <a:ext cx="2110829" cy="520601"/>
          </a:xfrm>
          <a:prstGeom prst="roundRect">
            <a:avLst>
              <a:gd name="adj" fmla="val 25709"/>
            </a:avLst>
          </a:prstGeom>
          <a:solidFill>
            <a:srgbClr val="16324A"/>
          </a:solidFill>
          <a:ln/>
        </p:spPr>
      </p:sp>
      <p:sp>
        <p:nvSpPr>
          <p:cNvPr id="4" name="Shape 2"/>
          <p:cNvSpPr/>
          <p:nvPr/>
        </p:nvSpPr>
        <p:spPr>
          <a:xfrm>
            <a:off x="4902547" y="5303639"/>
            <a:ext cx="1272927" cy="520601"/>
          </a:xfrm>
          <a:prstGeom prst="roundRect">
            <a:avLst>
              <a:gd name="adj" fmla="val 25709"/>
            </a:avLst>
          </a:prstGeom>
          <a:solidFill>
            <a:srgbClr val="16324A"/>
          </a:solidFill>
          <a:ln/>
        </p:spPr>
      </p:sp>
      <p:sp>
        <p:nvSpPr>
          <p:cNvPr id="5" name="Shape 3"/>
          <p:cNvSpPr/>
          <p:nvPr/>
        </p:nvSpPr>
        <p:spPr>
          <a:xfrm>
            <a:off x="6302425" y="5303639"/>
            <a:ext cx="1746200" cy="520601"/>
          </a:xfrm>
          <a:prstGeom prst="roundRect">
            <a:avLst>
              <a:gd name="adj" fmla="val 25709"/>
            </a:avLst>
          </a:prstGeom>
          <a:solidFill>
            <a:srgbClr val="16324A"/>
          </a:solidFill>
          <a:ln/>
        </p:spPr>
      </p:sp>
      <p:sp>
        <p:nvSpPr>
          <p:cNvPr id="6" name="Text 4"/>
          <p:cNvSpPr txBox="1"/>
          <p:nvPr/>
        </p:nvSpPr>
        <p:spPr>
          <a:xfrm>
            <a:off x="711101" y="628346"/>
            <a:ext cx="7749230" cy="264033"/>
          </a:xfrm>
          <a:prstGeom prst="rect">
            <a:avLst/>
          </a:prstGeom>
          <a:noFill/>
          <a:ln/>
        </p:spPr>
        <p:txBody>
          <a:bodyPr wrap="square" lIns="0" tIns="0" rIns="0" bIns="0" rtlCol="0" anchor="t"/>
          <a:lstStyle/>
          <a:p>
            <a:pPr marL="0" indent="0" algn="l">
              <a:lnSpc>
                <a:spcPts val="1560"/>
              </a:lnSpc>
              <a:buNone/>
            </a:pPr>
            <a:r>
              <a:rPr lang="en-US" sz="1300" b="1" kern="0" spc="416" dirty="0">
                <a:solidFill>
                  <a:srgbClr val="E3B341"/>
                </a:solidFill>
                <a:latin typeface="Arial" pitchFamily="34" charset="0"/>
                <a:ea typeface="Arial" pitchFamily="34" charset="-122"/>
                <a:cs typeface="Arial" pitchFamily="34" charset="-120"/>
              </a:rPr>
              <a:t>DON'T TAKE MY WORD FOR IT</a:t>
            </a:r>
            <a:endParaRPr lang="en-US" sz="1300" dirty="0"/>
          </a:p>
        </p:txBody>
      </p:sp>
      <p:sp>
        <p:nvSpPr>
          <p:cNvPr id="7" name="Text 5"/>
          <p:cNvSpPr txBox="1"/>
          <p:nvPr/>
        </p:nvSpPr>
        <p:spPr>
          <a:xfrm>
            <a:off x="711101" y="1031522"/>
            <a:ext cx="7749230" cy="530287"/>
          </a:xfrm>
          <a:prstGeom prst="rect">
            <a:avLst/>
          </a:prstGeom>
          <a:noFill/>
          <a:ln/>
        </p:spPr>
        <p:txBody>
          <a:bodyPr wrap="square" lIns="0" tIns="0" rIns="0" bIns="0" rtlCol="0" anchor="t"/>
          <a:lstStyle/>
          <a:p>
            <a:pPr marL="0" indent="0" algn="l">
              <a:lnSpc>
                <a:spcPts val="3672"/>
              </a:lnSpc>
              <a:buNone/>
            </a:pPr>
            <a:r>
              <a:rPr lang="en-US" sz="3400" b="1" kern="0" spc="-48" dirty="0">
                <a:solidFill>
                  <a:srgbClr val="EDF3F8"/>
                </a:solidFill>
                <a:latin typeface="Arial" pitchFamily="34" charset="0"/>
                <a:ea typeface="Arial" pitchFamily="34" charset="-122"/>
                <a:cs typeface="Arial" pitchFamily="34" charset="-120"/>
              </a:rPr>
              <a:t>Run the queries yourself</a:t>
            </a:r>
            <a:endParaRPr lang="en-US" sz="3400" dirty="0"/>
          </a:p>
        </p:txBody>
      </p:sp>
      <p:sp>
        <p:nvSpPr>
          <p:cNvPr id="8" name="Text 6"/>
          <p:cNvSpPr txBox="1"/>
          <p:nvPr/>
        </p:nvSpPr>
        <p:spPr>
          <a:xfrm>
            <a:off x="711101" y="1904101"/>
            <a:ext cx="2347365" cy="571958"/>
          </a:xfrm>
          <a:prstGeom prst="rect">
            <a:avLst/>
          </a:prstGeom>
          <a:noFill/>
          <a:ln/>
        </p:spPr>
        <p:txBody>
          <a:bodyPr wrap="square" lIns="0" tIns="0" rIns="0" bIns="0" rtlCol="0" anchor="t"/>
          <a:lstStyle/>
          <a:p>
            <a:pPr marL="0" indent="0" algn="l">
              <a:lnSpc>
                <a:spcPts val="4000"/>
              </a:lnSpc>
              <a:buNone/>
            </a:pPr>
            <a:r>
              <a:rPr lang="en-US" sz="4000" b="1" kern="0" spc="-80" dirty="0">
                <a:solidFill>
                  <a:srgbClr val="E3B341"/>
                </a:solidFill>
                <a:latin typeface="Arial" pitchFamily="34" charset="0"/>
                <a:ea typeface="Arial" pitchFamily="34" charset="-122"/>
                <a:cs typeface="Arial" pitchFamily="34" charset="-120"/>
              </a:rPr>
              <a:t>42</a:t>
            </a:r>
            <a:endParaRPr lang="en-US" sz="4000" dirty="0"/>
          </a:p>
        </p:txBody>
      </p:sp>
      <p:sp>
        <p:nvSpPr>
          <p:cNvPr id="9" name="Text 7"/>
          <p:cNvSpPr txBox="1"/>
          <p:nvPr/>
        </p:nvSpPr>
        <p:spPr>
          <a:xfrm>
            <a:off x="711101" y="2513552"/>
            <a:ext cx="2347365" cy="472690"/>
          </a:xfrm>
          <a:prstGeom prst="rect">
            <a:avLst/>
          </a:prstGeom>
          <a:noFill/>
          <a:ln/>
        </p:spPr>
        <p:txBody>
          <a:bodyPr wrap="square" lIns="0" tIns="0" rIns="0" bIns="0" rtlCol="0" anchor="t"/>
          <a:lstStyle/>
          <a:p>
            <a:pPr marL="0" indent="0" algn="l">
              <a:lnSpc>
                <a:spcPts val="1610"/>
              </a:lnSpc>
              <a:buNone/>
            </a:pPr>
            <a:r>
              <a:rPr lang="en-US" sz="1200" dirty="0">
                <a:solidFill>
                  <a:srgbClr val="A8BECF"/>
                </a:solidFill>
                <a:latin typeface="Arial" pitchFamily="34" charset="0"/>
                <a:ea typeface="Arial" pitchFamily="34" charset="-122"/>
                <a:cs typeface="Arial" pitchFamily="34" charset="-120"/>
              </a:rPr>
              <a:t>queries, each one printed beside its result</a:t>
            </a:r>
            <a:endParaRPr lang="en-US" sz="1200" dirty="0"/>
          </a:p>
        </p:txBody>
      </p:sp>
      <p:sp>
        <p:nvSpPr>
          <p:cNvPr id="10" name="Text 8"/>
          <p:cNvSpPr txBox="1"/>
          <p:nvPr/>
        </p:nvSpPr>
        <p:spPr>
          <a:xfrm>
            <a:off x="3412034" y="1904101"/>
            <a:ext cx="2347365" cy="571958"/>
          </a:xfrm>
          <a:prstGeom prst="rect">
            <a:avLst/>
          </a:prstGeom>
          <a:noFill/>
          <a:ln/>
        </p:spPr>
        <p:txBody>
          <a:bodyPr wrap="square" lIns="0" tIns="0" rIns="0" bIns="0" rtlCol="0" anchor="t"/>
          <a:lstStyle/>
          <a:p>
            <a:pPr marL="0" indent="0" algn="l">
              <a:lnSpc>
                <a:spcPts val="4000"/>
              </a:lnSpc>
              <a:buNone/>
            </a:pPr>
            <a:r>
              <a:rPr lang="en-US" sz="4000" b="1" kern="0" spc="-80" dirty="0">
                <a:solidFill>
                  <a:srgbClr val="E3B341"/>
                </a:solidFill>
                <a:latin typeface="Arial" pitchFamily="34" charset="0"/>
                <a:ea typeface="Arial" pitchFamily="34" charset="-122"/>
                <a:cs typeface="Arial" pitchFamily="34" charset="-120"/>
              </a:rPr>
              <a:t>2</a:t>
            </a:r>
            <a:endParaRPr lang="en-US" sz="4000" dirty="0"/>
          </a:p>
        </p:txBody>
      </p:sp>
      <p:sp>
        <p:nvSpPr>
          <p:cNvPr id="11" name="Text 9"/>
          <p:cNvSpPr txBox="1"/>
          <p:nvPr/>
        </p:nvSpPr>
        <p:spPr>
          <a:xfrm>
            <a:off x="3412034" y="2513552"/>
            <a:ext cx="2347365" cy="268349"/>
          </a:xfrm>
          <a:prstGeom prst="rect">
            <a:avLst/>
          </a:prstGeom>
          <a:noFill/>
          <a:ln/>
        </p:spPr>
        <p:txBody>
          <a:bodyPr wrap="square" lIns="0" tIns="0" rIns="0" bIns="0" rtlCol="0" anchor="t"/>
          <a:lstStyle/>
          <a:p>
            <a:pPr marL="0" indent="0" algn="l">
              <a:lnSpc>
                <a:spcPts val="1610"/>
              </a:lnSpc>
              <a:buNone/>
            </a:pPr>
            <a:r>
              <a:rPr lang="en-US" sz="1200" dirty="0">
                <a:solidFill>
                  <a:srgbClr val="A8BECF"/>
                </a:solidFill>
                <a:latin typeface="Arial" pitchFamily="34" charset="0"/>
                <a:ea typeface="Arial" pitchFamily="34" charset="-122"/>
                <a:cs typeface="Arial" pitchFamily="34" charset="-120"/>
              </a:rPr>
              <a:t>engines, agreeing cell by cell</a:t>
            </a:r>
            <a:endParaRPr lang="en-US" sz="1200" dirty="0"/>
          </a:p>
        </p:txBody>
      </p:sp>
      <p:sp>
        <p:nvSpPr>
          <p:cNvPr id="12" name="Text 10"/>
          <p:cNvSpPr txBox="1"/>
          <p:nvPr/>
        </p:nvSpPr>
        <p:spPr>
          <a:xfrm>
            <a:off x="6112966" y="1904101"/>
            <a:ext cx="2347365" cy="571958"/>
          </a:xfrm>
          <a:prstGeom prst="rect">
            <a:avLst/>
          </a:prstGeom>
          <a:noFill/>
          <a:ln/>
        </p:spPr>
        <p:txBody>
          <a:bodyPr wrap="square" lIns="0" tIns="0" rIns="0" bIns="0" rtlCol="0" anchor="t"/>
          <a:lstStyle/>
          <a:p>
            <a:pPr marL="0" indent="0" algn="l">
              <a:lnSpc>
                <a:spcPts val="4000"/>
              </a:lnSpc>
              <a:buNone/>
            </a:pPr>
            <a:r>
              <a:rPr lang="en-US" sz="4000" b="1" kern="0" spc="-80" dirty="0">
                <a:solidFill>
                  <a:srgbClr val="E3B341"/>
                </a:solidFill>
                <a:latin typeface="Arial" pitchFamily="34" charset="0"/>
                <a:ea typeface="Arial" pitchFamily="34" charset="-122"/>
                <a:cs typeface="Arial" pitchFamily="34" charset="-120"/>
              </a:rPr>
              <a:t>0</a:t>
            </a:r>
            <a:endParaRPr lang="en-US" sz="4000" dirty="0"/>
          </a:p>
        </p:txBody>
      </p:sp>
      <p:sp>
        <p:nvSpPr>
          <p:cNvPr id="13" name="Text 11"/>
          <p:cNvSpPr txBox="1"/>
          <p:nvPr/>
        </p:nvSpPr>
        <p:spPr>
          <a:xfrm>
            <a:off x="6112966" y="2513552"/>
            <a:ext cx="2347365" cy="268349"/>
          </a:xfrm>
          <a:prstGeom prst="rect">
            <a:avLst/>
          </a:prstGeom>
          <a:noFill/>
          <a:ln/>
        </p:spPr>
        <p:txBody>
          <a:bodyPr wrap="square" lIns="0" tIns="0" rIns="0" bIns="0" rtlCol="0" anchor="t"/>
          <a:lstStyle/>
          <a:p>
            <a:pPr marL="0" indent="0" algn="l">
              <a:lnSpc>
                <a:spcPts val="1610"/>
              </a:lnSpc>
              <a:buNone/>
            </a:pPr>
            <a:r>
              <a:rPr lang="en-US" sz="1200" dirty="0">
                <a:solidFill>
                  <a:srgbClr val="A8BECF"/>
                </a:solidFill>
                <a:latin typeface="Arial" pitchFamily="34" charset="0"/>
                <a:ea typeface="Arial" pitchFamily="34" charset="-122"/>
                <a:cs typeface="Arial" pitchFamily="34" charset="-120"/>
              </a:rPr>
              <a:t>installs, accounts or servers</a:t>
            </a:r>
            <a:endParaRPr lang="en-US" sz="1200" dirty="0"/>
          </a:p>
        </p:txBody>
      </p:sp>
      <p:sp>
        <p:nvSpPr>
          <p:cNvPr id="14" name="Text 12"/>
          <p:cNvSpPr txBox="1"/>
          <p:nvPr/>
        </p:nvSpPr>
        <p:spPr>
          <a:xfrm>
            <a:off x="711101" y="3252335"/>
            <a:ext cx="6885432" cy="1778508"/>
          </a:xfrm>
          <a:prstGeom prst="rect">
            <a:avLst/>
          </a:prstGeom>
          <a:noFill/>
          <a:ln/>
        </p:spPr>
        <p:txBody>
          <a:bodyPr wrap="square" lIns="0" tIns="0" rIns="0" bIns="0" rtlCol="0" anchor="t"/>
          <a:lstStyle/>
          <a:p>
            <a:pPr marL="0" indent="0" algn="l">
              <a:lnSpc>
                <a:spcPts val="2250"/>
              </a:lnSpc>
              <a:buNone/>
            </a:pPr>
            <a:r>
              <a:rPr lang="en-US" sz="1500" dirty="0">
                <a:solidFill>
                  <a:srgbClr val="A8BECF"/>
                </a:solidFill>
                <a:latin typeface="Arial" pitchFamily="34" charset="0"/>
                <a:ea typeface="Arial" pitchFamily="34" charset="-122"/>
                <a:cs typeface="Arial" pitchFamily="34" charset="-120"/>
              </a:rPr>
              <a:t>1.75 million rows of Parquet, queried in your own browser tab by DuckDB compiled to WebAssembly. Nothing is installed, no account exists and no data leaves your machine. Every figure in this carousel is one click from the query that produced it, and an automated parity test runs all forty-two against PostgreSQL 18 and DuckDB and fails on any difference. </a:t>
            </a:r>
            <a:r>
              <a:rPr lang="en-US" sz="1500" b="1" dirty="0">
                <a:solidFill>
                  <a:srgbClr val="EDF3F8"/>
                </a:solidFill>
                <a:latin typeface="Arial" pitchFamily="34" charset="0"/>
                <a:ea typeface="Arial" pitchFamily="34" charset="-122"/>
                <a:cs typeface="Arial" pitchFamily="34" charset="-120"/>
              </a:rPr>
              <a:t>Forty-two of forty-two agree.</a:t>
            </a:r>
            <a:endParaRPr lang="en-US" sz="1500" dirty="0"/>
          </a:p>
        </p:txBody>
      </p:sp>
      <p:sp>
        <p:nvSpPr>
          <p:cNvPr id="15" name="Text 13"/>
          <p:cNvSpPr txBox="1"/>
          <p:nvPr/>
        </p:nvSpPr>
        <p:spPr>
          <a:xfrm>
            <a:off x="927001" y="5436735"/>
            <a:ext cx="1422348" cy="254409"/>
          </a:xfrm>
          <a:prstGeom prst="rect">
            <a:avLst/>
          </a:prstGeom>
          <a:noFill/>
          <a:ln/>
        </p:spPr>
        <p:txBody>
          <a:bodyPr wrap="square" lIns="0" tIns="0" rIns="0" bIns="0" rtlCol="0" anchor="t"/>
          <a:lstStyle/>
          <a:p>
            <a:pPr marL="0" indent="0" algn="l">
              <a:lnSpc>
                <a:spcPts val="1500"/>
              </a:lnSpc>
              <a:buNone/>
            </a:pPr>
            <a:r>
              <a:rPr lang="en-US" sz="1250" b="1" u="none" dirty="0">
                <a:solidFill>
                  <a:srgbClr val="E3B341"/>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val="tx"/>
                    </a:ext>
                  </a:extLst>
                </a:hlinkClick>
              </a:rPr>
              <a:t>→</a:t>
            </a:r>
            <a:r>
              <a:rPr lang="en-US" sz="1250" b="1" u="none" dirty="0">
                <a:solidFill>
                  <a:srgbClr val="EDF3F8"/>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val="tx"/>
                    </a:ext>
                  </a:extLst>
                </a:hlinkClick>
              </a:rPr>
              <a:t> The playground</a:t>
            </a:r>
            <a:endParaRPr lang="en-US" sz="1250" dirty="0"/>
          </a:p>
        </p:txBody>
      </p:sp>
      <p:sp>
        <p:nvSpPr>
          <p:cNvPr id="16" name="Text 14"/>
          <p:cNvSpPr txBox="1"/>
          <p:nvPr/>
        </p:nvSpPr>
        <p:spPr>
          <a:xfrm>
            <a:off x="2880668" y="5436735"/>
            <a:ext cx="1706461" cy="254409"/>
          </a:xfrm>
          <a:prstGeom prst="rect">
            <a:avLst/>
          </a:prstGeom>
          <a:noFill/>
          <a:ln/>
        </p:spPr>
        <p:txBody>
          <a:bodyPr wrap="square" lIns="0" tIns="0" rIns="0" bIns="0" rtlCol="0" anchor="t"/>
          <a:lstStyle/>
          <a:p>
            <a:pPr marL="0" indent="0" algn="l">
              <a:lnSpc>
                <a:spcPts val="1500"/>
              </a:lnSpc>
              <a:buNone/>
            </a:pPr>
            <a:r>
              <a:rPr lang="en-US" sz="1250" b="1" u="none" dirty="0">
                <a:solidFill>
                  <a:srgbClr val="E3B341"/>
                </a:solidFill>
                <a:latin typeface="Arial" pitchFamily="34" charset="0"/>
                <a:ea typeface="Arial" pitchFamily="34" charset="-122"/>
                <a:cs typeface="Arial" pitchFamily="34" charset="-120"/>
                <a:hlinkClick r:id="rId5">
                  <a:extLst>
                    <a:ext uri="{A12FA001-AC4F-418D-AE19-62706E023703}">
                      <ahyp:hlinkClr xmlns:ahyp="http://schemas.microsoft.com/office/drawing/2018/hyperlinkcolor" val="tx"/>
                    </a:ext>
                  </a:extLst>
                </a:hlinkClick>
              </a:rPr>
              <a:t>→</a:t>
            </a:r>
            <a:r>
              <a:rPr lang="en-US" sz="1250" b="1" u="none" dirty="0">
                <a:solidFill>
                  <a:srgbClr val="EDF3F8"/>
                </a:solidFill>
                <a:latin typeface="Arial" pitchFamily="34" charset="0"/>
                <a:ea typeface="Arial" pitchFamily="34" charset="-122"/>
                <a:cs typeface="Arial" pitchFamily="34" charset="-120"/>
                <a:hlinkClick r:id="rId5">
                  <a:extLst>
                    <a:ext uri="{A12FA001-AC4F-418D-AE19-62706E023703}">
                      <ahyp:hlinkClr xmlns:ahyp="http://schemas.microsoft.com/office/drawing/2018/hyperlinkcolor" val="tx"/>
                    </a:ext>
                  </a:extLst>
                </a:hlinkClick>
              </a:rPr>
              <a:t> The data dictionary</a:t>
            </a:r>
            <a:endParaRPr lang="en-US" sz="1250" dirty="0"/>
          </a:p>
        </p:txBody>
      </p:sp>
      <p:sp>
        <p:nvSpPr>
          <p:cNvPr id="17" name="Text 15"/>
          <p:cNvSpPr txBox="1"/>
          <p:nvPr/>
        </p:nvSpPr>
        <p:spPr>
          <a:xfrm>
            <a:off x="5118448" y="5436735"/>
            <a:ext cx="868558" cy="254409"/>
          </a:xfrm>
          <a:prstGeom prst="rect">
            <a:avLst/>
          </a:prstGeom>
          <a:noFill/>
          <a:ln/>
        </p:spPr>
        <p:txBody>
          <a:bodyPr wrap="square" lIns="0" tIns="0" rIns="0" bIns="0" rtlCol="0" anchor="t"/>
          <a:lstStyle/>
          <a:p>
            <a:pPr marL="0" indent="0" algn="l">
              <a:lnSpc>
                <a:spcPts val="1500"/>
              </a:lnSpc>
              <a:buNone/>
            </a:pPr>
            <a:r>
              <a:rPr lang="en-US" sz="1250" b="1" u="none" dirty="0">
                <a:solidFill>
                  <a:srgbClr val="E3B341"/>
                </a:solidFill>
                <a:latin typeface="Arial" pitchFamily="34" charset="0"/>
                <a:ea typeface="Arial" pitchFamily="34" charset="-122"/>
                <a:cs typeface="Arial" pitchFamily="34" charset="-120"/>
                <a:hlinkClick r:id="rId6">
                  <a:extLst>
                    <a:ext uri="{A12FA001-AC4F-418D-AE19-62706E023703}">
                      <ahyp:hlinkClr xmlns:ahyp="http://schemas.microsoft.com/office/drawing/2018/hyperlinkcolor" val="tx"/>
                    </a:ext>
                  </a:extLst>
                </a:hlinkClick>
              </a:rPr>
              <a:t>→</a:t>
            </a:r>
            <a:r>
              <a:rPr lang="en-US" sz="1250" b="1" u="none" dirty="0">
                <a:solidFill>
                  <a:srgbClr val="EDF3F8"/>
                </a:solidFill>
                <a:latin typeface="Arial" pitchFamily="34" charset="0"/>
                <a:ea typeface="Arial" pitchFamily="34" charset="-122"/>
                <a:cs typeface="Arial" pitchFamily="34" charset="-120"/>
                <a:hlinkClick r:id="rId6">
                  <a:extLst>
                    <a:ext uri="{A12FA001-AC4F-418D-AE19-62706E023703}">
                      <ahyp:hlinkClr xmlns:ahyp="http://schemas.microsoft.com/office/drawing/2018/hyperlinkcolor" val="tx"/>
                    </a:ext>
                  </a:extLst>
                </a:hlinkClick>
              </a:rPr>
              <a:t> The ERD</a:t>
            </a:r>
            <a:endParaRPr lang="en-US" sz="1250" dirty="0"/>
          </a:p>
        </p:txBody>
      </p:sp>
      <p:sp>
        <p:nvSpPr>
          <p:cNvPr id="18" name="Text 16"/>
          <p:cNvSpPr txBox="1"/>
          <p:nvPr/>
        </p:nvSpPr>
        <p:spPr>
          <a:xfrm>
            <a:off x="6518325" y="5436735"/>
            <a:ext cx="1341832" cy="254409"/>
          </a:xfrm>
          <a:prstGeom prst="rect">
            <a:avLst/>
          </a:prstGeom>
          <a:noFill/>
          <a:ln/>
        </p:spPr>
        <p:txBody>
          <a:bodyPr wrap="square" lIns="0" tIns="0" rIns="0" bIns="0" rtlCol="0" anchor="t"/>
          <a:lstStyle/>
          <a:p>
            <a:pPr marL="0" indent="0" algn="l">
              <a:lnSpc>
                <a:spcPts val="1500"/>
              </a:lnSpc>
              <a:buNone/>
            </a:pPr>
            <a:r>
              <a:rPr lang="en-US" sz="1250" b="1" u="none" dirty="0">
                <a:solidFill>
                  <a:srgbClr val="E3B341"/>
                </a:solidFill>
                <a:latin typeface="Arial" pitchFamily="34" charset="0"/>
                <a:ea typeface="Arial" pitchFamily="34" charset="-122"/>
                <a:cs typeface="Arial" pitchFamily="34" charset="-120"/>
                <a:hlinkClick r:id="rId7">
                  <a:extLst>
                    <a:ext uri="{A12FA001-AC4F-418D-AE19-62706E023703}">
                      <ahyp:hlinkClr xmlns:ahyp="http://schemas.microsoft.com/office/drawing/2018/hyperlinkcolor" val="tx"/>
                    </a:ext>
                  </a:extLst>
                </a:hlinkClick>
              </a:rPr>
              <a:t>→</a:t>
            </a:r>
            <a:r>
              <a:rPr lang="en-US" sz="1250" b="1" u="none" dirty="0">
                <a:solidFill>
                  <a:srgbClr val="EDF3F8"/>
                </a:solidFill>
                <a:latin typeface="Arial" pitchFamily="34" charset="0"/>
                <a:ea typeface="Arial" pitchFamily="34" charset="-122"/>
                <a:cs typeface="Arial" pitchFamily="34" charset="-120"/>
                <a:hlinkClick r:id="rId7">
                  <a:extLst>
                    <a:ext uri="{A12FA001-AC4F-418D-AE19-62706E023703}">
                      <ahyp:hlinkClr xmlns:ahyp="http://schemas.microsoft.com/office/drawing/2018/hyperlinkcolor" val="tx"/>
                    </a:ext>
                  </a:extLst>
                </a:hlinkClick>
              </a:rPr>
              <a:t> The repository</a:t>
            </a:r>
            <a:endParaRPr lang="en-US" sz="1250" dirty="0"/>
          </a:p>
        </p:txBody>
      </p:sp>
      <p:sp>
        <p:nvSpPr>
          <p:cNvPr id="19" name="Text 17"/>
          <p:cNvSpPr txBox="1"/>
          <p:nvPr/>
        </p:nvSpPr>
        <p:spPr>
          <a:xfrm>
            <a:off x="711101" y="8223046"/>
            <a:ext cx="7749230" cy="292608"/>
          </a:xfrm>
          <a:prstGeom prst="rect">
            <a:avLst/>
          </a:prstGeom>
          <a:noFill/>
          <a:ln/>
        </p:spPr>
        <p:txBody>
          <a:bodyPr wrap="square" lIns="0" tIns="0" rIns="0" bIns="0" rtlCol="0" anchor="t"/>
          <a:lstStyle/>
          <a:p>
            <a:pPr marL="0" indent="0" algn="l">
              <a:lnSpc>
                <a:spcPts val="1800"/>
              </a:lnSpc>
              <a:buNone/>
            </a:pPr>
            <a:r>
              <a:rPr lang="en-US" sz="1500" b="1" u="none" kern="0" spc="-15" dirty="0">
                <a:solidFill>
                  <a:srgbClr val="E3B341"/>
                </a:solidFill>
                <a:latin typeface="Arial" pitchFamily="34" charset="0"/>
                <a:ea typeface="Arial" pitchFamily="34" charset="-122"/>
                <a:cs typeface="Arial" pitchFamily="34" charset="-120"/>
                <a:hlinkClick r:id="rId8">
                  <a:extLst>
                    <a:ext uri="{A12FA001-AC4F-418D-AE19-62706E023703}">
                      <ahyp:hlinkClr xmlns:ahyp="http://schemas.microsoft.com/office/drawing/2018/hyperlinkcolor" val="tx"/>
                    </a:ext>
                  </a:extLst>
                </a:hlinkClick>
              </a:rPr>
              <a:t>samuelbabajide.github.io/us-home-mortgage-disclosure-act-new-york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11101" y="5055691"/>
            <a:ext cx="1643658" cy="479227"/>
          </a:xfrm>
          <a:prstGeom prst="roundRect">
            <a:avLst>
              <a:gd name="adj" fmla="val 70792"/>
            </a:avLst>
          </a:prstGeom>
          <a:solidFill>
            <a:srgbClr val="16324A"/>
          </a:solidFill>
          <a:ln/>
        </p:spPr>
        <p:txBody>
          <a:bodyPr/>
          <a:p/>
        </p:txBody>
      </p:sp>
      <p:sp>
        <p:nvSpPr>
          <p:cNvPr id="3" name="Shape 1"/>
          <p:cNvSpPr/>
          <p:nvPr/>
        </p:nvSpPr>
        <p:spPr>
          <a:xfrm>
            <a:off x="2469059" y="5055691"/>
            <a:ext cx="2274391" cy="479227"/>
          </a:xfrm>
          <a:prstGeom prst="roundRect">
            <a:avLst>
              <a:gd name="adj" fmla="val 70792"/>
            </a:avLst>
          </a:prstGeom>
          <a:solidFill>
            <a:srgbClr val="16324A"/>
          </a:solidFill>
          <a:ln/>
        </p:spPr>
        <p:txBody>
          <a:bodyPr/>
          <a:p/>
        </p:txBody>
      </p:sp>
      <p:sp>
        <p:nvSpPr>
          <p:cNvPr id="4" name="Shape 2"/>
          <p:cNvSpPr/>
          <p:nvPr/>
        </p:nvSpPr>
        <p:spPr>
          <a:xfrm>
            <a:off x="4857750" y="5055691"/>
            <a:ext cx="2297311" cy="479227"/>
          </a:xfrm>
          <a:prstGeom prst="roundRect">
            <a:avLst>
              <a:gd name="adj" fmla="val 70792"/>
            </a:avLst>
          </a:prstGeom>
          <a:solidFill>
            <a:srgbClr val="16324A"/>
          </a:solidFill>
          <a:ln/>
        </p:spPr>
        <p:txBody>
          <a:bodyPr/>
          <a:p/>
        </p:txBody>
      </p:sp>
      <p:sp>
        <p:nvSpPr>
          <p:cNvPr id="5" name="Shape 3"/>
          <p:cNvSpPr/>
          <p:nvPr/>
        </p:nvSpPr>
        <p:spPr>
          <a:xfrm>
            <a:off x="711101" y="5649218"/>
            <a:ext cx="1976140" cy="479227"/>
          </a:xfrm>
          <a:prstGeom prst="roundRect">
            <a:avLst>
              <a:gd name="adj" fmla="val 70792"/>
            </a:avLst>
          </a:prstGeom>
          <a:solidFill>
            <a:srgbClr val="16324A"/>
          </a:solidFill>
          <a:ln/>
        </p:spPr>
        <p:txBody>
          <a:bodyPr/>
          <a:p/>
        </p:txBody>
      </p:sp>
      <p:sp>
        <p:nvSpPr>
          <p:cNvPr id="6" name="Shape 4"/>
          <p:cNvSpPr/>
          <p:nvPr/>
        </p:nvSpPr>
        <p:spPr>
          <a:xfrm>
            <a:off x="2801541" y="5649218"/>
            <a:ext cx="1049982" cy="479227"/>
          </a:xfrm>
          <a:prstGeom prst="roundRect">
            <a:avLst>
              <a:gd name="adj" fmla="val 70792"/>
            </a:avLst>
          </a:prstGeom>
          <a:solidFill>
            <a:srgbClr val="16324A"/>
          </a:solidFill>
          <a:ln/>
        </p:spPr>
        <p:txBody>
          <a:bodyPr/>
          <a:p/>
        </p:txBody>
      </p:sp>
      <p:sp>
        <p:nvSpPr>
          <p:cNvPr id="7" name="Shape 5"/>
          <p:cNvSpPr/>
          <p:nvPr/>
        </p:nvSpPr>
        <p:spPr>
          <a:xfrm>
            <a:off x="3965823" y="5649218"/>
            <a:ext cx="1697831" cy="479227"/>
          </a:xfrm>
          <a:prstGeom prst="roundRect">
            <a:avLst>
              <a:gd name="adj" fmla="val 70792"/>
            </a:avLst>
          </a:prstGeom>
          <a:solidFill>
            <a:srgbClr val="16324A"/>
          </a:solidFill>
          <a:ln/>
        </p:spPr>
        <p:txBody>
          <a:bodyPr/>
          <a:p/>
        </p:txBody>
      </p:sp>
      <p:sp>
        <p:nvSpPr>
          <p:cNvPr id="8" name="Shape 6"/>
          <p:cNvSpPr/>
          <p:nvPr/>
        </p:nvSpPr>
        <p:spPr>
          <a:xfrm>
            <a:off x="5777954" y="5649218"/>
            <a:ext cx="1104156" cy="479227"/>
          </a:xfrm>
          <a:prstGeom prst="roundRect">
            <a:avLst>
              <a:gd name="adj" fmla="val 70792"/>
            </a:avLst>
          </a:prstGeom>
          <a:solidFill>
            <a:srgbClr val="16324A"/>
          </a:solidFill>
          <a:ln/>
        </p:spPr>
        <p:txBody>
          <a:bodyPr/>
          <a:p/>
        </p:txBody>
      </p:sp>
      <p:sp>
        <p:nvSpPr>
          <p:cNvPr id="9" name="Shape 7"/>
          <p:cNvSpPr/>
          <p:nvPr/>
        </p:nvSpPr>
        <p:spPr>
          <a:xfrm>
            <a:off x="711101" y="6242745"/>
            <a:ext cx="1567904" cy="479227"/>
          </a:xfrm>
          <a:prstGeom prst="roundRect">
            <a:avLst>
              <a:gd name="adj" fmla="val 70792"/>
            </a:avLst>
          </a:prstGeom>
          <a:solidFill>
            <a:srgbClr val="16324A"/>
          </a:solidFill>
          <a:ln/>
        </p:spPr>
        <p:txBody>
          <a:bodyPr/>
          <a:p/>
        </p:txBody>
      </p:sp>
      <p:sp>
        <p:nvSpPr>
          <p:cNvPr id="10" name="Shape 8"/>
          <p:cNvSpPr/>
          <p:nvPr/>
        </p:nvSpPr>
        <p:spPr>
          <a:xfrm>
            <a:off x="711101" y="7934474"/>
            <a:ext cx="7721798" cy="9525"/>
          </a:xfrm>
          <a:prstGeom prst="rect">
            <a:avLst/>
          </a:prstGeom>
          <a:solidFill>
            <a:srgbClr val="24415C"/>
          </a:solidFill>
          <a:ln/>
        </p:spPr>
        <p:txBody>
          <a:bodyPr/>
          <a:p/>
        </p:txBody>
      </p:sp>
      <p:sp>
        <p:nvSpPr>
          <p:cNvPr id="11" name="Text 9"/>
          <p:cNvSpPr txBox="1"/>
          <p:nvPr/>
        </p:nvSpPr>
        <p:spPr>
          <a:xfrm>
            <a:off x="711101" y="628346"/>
            <a:ext cx="7749230" cy="264033"/>
          </a:xfrm>
          <a:prstGeom prst="rect">
            <a:avLst/>
          </a:prstGeom>
          <a:noFill/>
          <a:ln/>
        </p:spPr>
        <p:txBody>
          <a:bodyPr wrap="square" lIns="0" tIns="0" rIns="0" bIns="0" rtlCol="0" anchor="t"/>
          <a:lstStyle/>
          <a:p>
            <a:pPr marL="0" indent="0" algn="l">
              <a:lnSpc>
                <a:spcPts val="1560"/>
              </a:lnSpc>
              <a:buNone/>
            </a:pPr>
            <a:r>
              <a:rPr lang="en-US" sz="1300" b="1" kern="0" spc="416" dirty="0">
                <a:solidFill>
                  <a:srgbClr val="E3B341"/>
                </a:solidFill>
                <a:latin typeface="Arial" pitchFamily="34" charset="0"/>
                <a:ea typeface="Arial" pitchFamily="34" charset="-122"/>
                <a:cs typeface="Arial" pitchFamily="34" charset="-120"/>
              </a:rPr>
              <a:t>YOUR TURN</a:t>
            </a:r>
            <a:endParaRPr lang="en-US" sz="1300" dirty="0"/>
          </a:p>
        </p:txBody>
      </p:sp>
      <p:sp>
        <p:nvSpPr>
          <p:cNvPr id="12" name="Text 10"/>
          <p:cNvSpPr txBox="1"/>
          <p:nvPr/>
        </p:nvSpPr>
        <p:spPr>
          <a:xfrm>
            <a:off x="711101" y="1031522"/>
            <a:ext cx="7749230" cy="1437394"/>
          </a:xfrm>
          <a:prstGeom prst="rect">
            <a:avLst/>
          </a:prstGeom>
          <a:noFill/>
          <a:ln/>
        </p:spPr>
        <p:txBody>
          <a:bodyPr wrap="square" lIns="0" tIns="0" rIns="0" bIns="0" rtlCol="0" anchor="t"/>
          <a:lstStyle/>
          <a:p>
            <a:pPr marL="0" indent="0" algn="l">
              <a:lnSpc>
                <a:spcPts val="5408"/>
              </a:lnSpc>
              <a:buNone/>
            </a:pPr>
            <a:r>
              <a:rPr lang="en-US" sz="5200" b="1" kern="0" spc="-94" dirty="0">
                <a:solidFill>
                  <a:srgbClr val="EDF3F8"/>
                </a:solidFill>
                <a:latin typeface="Arial" pitchFamily="34" charset="0"/>
                <a:ea typeface="Arial" pitchFamily="34" charset="-122"/>
                <a:cs typeface="Arial" pitchFamily="34" charset="-120"/>
              </a:rPr>
              <a:t>What would you</a:t>
            </a:r>
            <a:endParaRPr lang="en-US" sz="5200" dirty="0"/>
          </a:p>
          <a:p>
            <a:pPr marL="0" indent="0" algn="l">
              <a:lnSpc>
                <a:spcPts val="5408"/>
              </a:lnSpc>
              <a:buNone/>
            </a:pPr>
            <a:r>
              <a:rPr lang="en-US" sz="5200" b="1" kern="0" spc="-94" dirty="0">
                <a:solidFill>
                  <a:srgbClr val="EDF3F8"/>
                </a:solidFill>
                <a:latin typeface="Arial" pitchFamily="34" charset="0"/>
                <a:ea typeface="Arial" pitchFamily="34" charset="-122"/>
                <a:cs typeface="Arial" pitchFamily="34" charset="-120"/>
              </a:rPr>
              <a:t>ask this data?</a:t>
            </a:r>
            <a:endParaRPr lang="en-US" sz="5200" dirty="0"/>
          </a:p>
        </p:txBody>
      </p:sp>
      <p:sp>
        <p:nvSpPr>
          <p:cNvPr id="13" name="Text 11"/>
          <p:cNvSpPr txBox="1"/>
          <p:nvPr/>
        </p:nvSpPr>
        <p:spPr>
          <a:xfrm>
            <a:off x="711101" y="2582609"/>
            <a:ext cx="6885432" cy="635508"/>
          </a:xfrm>
          <a:prstGeom prst="rect">
            <a:avLst/>
          </a:prstGeom>
          <a:noFill/>
          <a:ln/>
        </p:spPr>
        <p:txBody>
          <a:bodyPr wrap="square" lIns="0" tIns="0" rIns="0" bIns="0" rtlCol="0" anchor="t"/>
          <a:lstStyle/>
          <a:p>
            <a:pPr marL="0" indent="0" algn="l">
              <a:lnSpc>
                <a:spcPts val="2250"/>
              </a:lnSpc>
              <a:buNone/>
            </a:pPr>
            <a:r>
              <a:rPr lang="en-US" sz="1500" dirty="0">
                <a:solidFill>
                  <a:srgbClr val="A8BECF"/>
                </a:solidFill>
                <a:latin typeface="Arial" pitchFamily="34" charset="0"/>
                <a:ea typeface="Arial" pitchFamily="34" charset="-122"/>
                <a:cs typeface="Arial" pitchFamily="34" charset="-120"/>
              </a:rPr>
              <a:t>Open the playground, change a query, press </a:t>
            </a:r>
            <a:r>
              <a:rPr lang="en-US" sz="1500" b="1" dirty="0">
                <a:solidFill>
                  <a:srgbClr val="EDF3F8"/>
                </a:solidFill>
                <a:latin typeface="Arial" pitchFamily="34" charset="0"/>
                <a:ea typeface="Arial" pitchFamily="34" charset="-122"/>
                <a:cs typeface="Arial" pitchFamily="34" charset="-120"/>
              </a:rPr>
              <a:t>Ctrl + Enter</a:t>
            </a:r>
            <a:r>
              <a:rPr lang="en-US" sz="1500" dirty="0">
                <a:solidFill>
                  <a:srgbClr val="A8BECF"/>
                </a:solidFill>
                <a:latin typeface="Arial" pitchFamily="34" charset="0"/>
                <a:ea typeface="Arial" pitchFamily="34" charset="-122"/>
                <a:cs typeface="Arial" pitchFamily="34" charset="-120"/>
              </a:rPr>
              <a:t>. If you find something I missed, I would like to know.</a:t>
            </a:r>
            <a:endParaRPr lang="en-US" sz="1500" dirty="0"/>
          </a:p>
        </p:txBody>
      </p:sp>
      <p:sp>
        <p:nvSpPr>
          <p:cNvPr id="14" name="Text 12"/>
          <p:cNvSpPr txBox="1"/>
          <p:nvPr/>
        </p:nvSpPr>
        <p:spPr>
          <a:xfrm>
            <a:off x="711101" y="4366611"/>
            <a:ext cx="7749230" cy="264033"/>
          </a:xfrm>
          <a:prstGeom prst="rect">
            <a:avLst/>
          </a:prstGeom>
          <a:noFill/>
          <a:ln/>
        </p:spPr>
        <p:txBody>
          <a:bodyPr wrap="square" lIns="0" tIns="0" rIns="0" bIns="0" rtlCol="0" anchor="t"/>
          <a:lstStyle/>
          <a:p>
            <a:pPr marL="0" indent="0" algn="l">
              <a:lnSpc>
                <a:spcPts val="1560"/>
              </a:lnSpc>
              <a:buNone/>
            </a:pPr>
            <a:r>
              <a:rPr lang="en-US" sz="1300" b="1" kern="0" spc="416" dirty="0">
                <a:solidFill>
                  <a:srgbClr val="E3B341"/>
                </a:solidFill>
                <a:latin typeface="Arial" pitchFamily="34" charset="0"/>
                <a:ea typeface="Arial" pitchFamily="34" charset="-122"/>
                <a:cs typeface="Arial" pitchFamily="34" charset="-120"/>
              </a:rPr>
              <a:t>BUILT WITH</a:t>
            </a:r>
            <a:endParaRPr lang="en-US" sz="1300" dirty="0"/>
          </a:p>
        </p:txBody>
      </p:sp>
      <p:sp>
        <p:nvSpPr>
          <p:cNvPr id="15" name="Text 13"/>
          <p:cNvSpPr txBox="1"/>
          <p:nvPr/>
        </p:nvSpPr>
        <p:spPr>
          <a:xfrm>
            <a:off x="952400" y="5163388"/>
            <a:ext cx="1188490" cy="263834"/>
          </a:xfrm>
          <a:prstGeom prst="rect">
            <a:avLst/>
          </a:prstGeom>
          <a:noFill/>
          <a:ln/>
        </p:spPr>
        <p:txBody>
          <a:bodyPr wrap="square" lIns="0" tIns="0" rIns="0" bIns="0" rtlCol="0" anchor="t"/>
          <a:lstStyle/>
          <a:p>
            <a:pPr marL="0" indent="0" algn="l">
              <a:lnSpc>
                <a:spcPts val="1560"/>
              </a:lnSpc>
              <a:buNone/>
            </a:pPr>
            <a:r>
              <a:rPr lang="en-US" sz="1300" b="1" dirty="0">
                <a:solidFill>
                  <a:srgbClr val="EDF3F8"/>
                </a:solidFill>
                <a:latin typeface="Arial" pitchFamily="34" charset="0"/>
                <a:ea typeface="Arial" pitchFamily="34" charset="-122"/>
                <a:cs typeface="Arial" pitchFamily="34" charset="-120"/>
              </a:rPr>
              <a:t>PostgreSQL 18</a:t>
            </a:r>
            <a:endParaRPr lang="en-US" sz="1300" dirty="0"/>
          </a:p>
        </p:txBody>
      </p:sp>
      <p:sp>
        <p:nvSpPr>
          <p:cNvPr id="16" name="Text 14"/>
          <p:cNvSpPr txBox="1"/>
          <p:nvPr/>
        </p:nvSpPr>
        <p:spPr>
          <a:xfrm>
            <a:off x="2710358" y="5163388"/>
            <a:ext cx="1819224" cy="263834"/>
          </a:xfrm>
          <a:prstGeom prst="rect">
            <a:avLst/>
          </a:prstGeom>
          <a:noFill/>
          <a:ln/>
        </p:spPr>
        <p:txBody>
          <a:bodyPr wrap="square" lIns="0" tIns="0" rIns="0" bIns="0" rtlCol="0" anchor="t"/>
          <a:lstStyle/>
          <a:p>
            <a:pPr marL="0" indent="0" algn="l">
              <a:lnSpc>
                <a:spcPts val="1560"/>
              </a:lnSpc>
              <a:buNone/>
            </a:pPr>
            <a:r>
              <a:rPr lang="en-US" sz="1300" b="1" dirty="0">
                <a:solidFill>
                  <a:srgbClr val="EDF3F8"/>
                </a:solidFill>
                <a:latin typeface="Arial" pitchFamily="34" charset="0"/>
                <a:ea typeface="Arial" pitchFamily="34" charset="-122"/>
                <a:cs typeface="Arial" pitchFamily="34" charset="-120"/>
              </a:rPr>
              <a:t>dimensional modelling</a:t>
            </a:r>
            <a:endParaRPr lang="en-US" sz="1300" dirty="0"/>
          </a:p>
        </p:txBody>
      </p:sp>
      <p:sp>
        <p:nvSpPr>
          <p:cNvPr id="17" name="Text 15"/>
          <p:cNvSpPr txBox="1"/>
          <p:nvPr/>
        </p:nvSpPr>
        <p:spPr>
          <a:xfrm>
            <a:off x="5099050" y="5163388"/>
            <a:ext cx="1842144" cy="263834"/>
          </a:xfrm>
          <a:prstGeom prst="rect">
            <a:avLst/>
          </a:prstGeom>
          <a:noFill/>
          <a:ln/>
        </p:spPr>
        <p:txBody>
          <a:bodyPr wrap="square" lIns="0" tIns="0" rIns="0" bIns="0" rtlCol="0" anchor="t"/>
          <a:lstStyle/>
          <a:p>
            <a:pPr marL="0" indent="0" algn="l">
              <a:lnSpc>
                <a:spcPts val="1560"/>
              </a:lnSpc>
              <a:buNone/>
            </a:pPr>
            <a:r>
              <a:rPr lang="en-US" sz="1300" b="1" dirty="0">
                <a:solidFill>
                  <a:srgbClr val="EDF3F8"/>
                </a:solidFill>
                <a:latin typeface="Arial" pitchFamily="34" charset="0"/>
                <a:ea typeface="Arial" pitchFamily="34" charset="-122"/>
                <a:cs typeface="Arial" pitchFamily="34" charset="-120"/>
              </a:rPr>
              <a:t>data quality assertions</a:t>
            </a:r>
            <a:endParaRPr lang="en-US" sz="1300" dirty="0"/>
          </a:p>
        </p:txBody>
      </p:sp>
      <p:sp>
        <p:nvSpPr>
          <p:cNvPr id="18" name="Text 16"/>
          <p:cNvSpPr txBox="1"/>
          <p:nvPr/>
        </p:nvSpPr>
        <p:spPr>
          <a:xfrm>
            <a:off x="952400" y="5756914"/>
            <a:ext cx="1520972" cy="263834"/>
          </a:xfrm>
          <a:prstGeom prst="rect">
            <a:avLst/>
          </a:prstGeom>
          <a:noFill/>
          <a:ln/>
        </p:spPr>
        <p:txBody>
          <a:bodyPr wrap="square" lIns="0" tIns="0" rIns="0" bIns="0" rtlCol="0" anchor="t"/>
          <a:lstStyle/>
          <a:p>
            <a:pPr marL="0" indent="0" algn="l">
              <a:lnSpc>
                <a:spcPts val="1560"/>
              </a:lnSpc>
              <a:buNone/>
            </a:pPr>
            <a:r>
              <a:rPr lang="en-US" sz="1300" b="1" dirty="0">
                <a:solidFill>
                  <a:srgbClr val="EDF3F8"/>
                </a:solidFill>
                <a:latin typeface="Arial" pitchFamily="34" charset="0"/>
                <a:ea typeface="Arial" pitchFamily="34" charset="-122"/>
                <a:cs typeface="Arial" pitchFamily="34" charset="-120"/>
              </a:rPr>
              <a:t>query optimisation</a:t>
            </a:r>
            <a:endParaRPr lang="en-US" sz="1300" dirty="0"/>
          </a:p>
        </p:txBody>
      </p:sp>
      <p:sp>
        <p:nvSpPr>
          <p:cNvPr id="19" name="Text 17"/>
          <p:cNvSpPr txBox="1"/>
          <p:nvPr/>
        </p:nvSpPr>
        <p:spPr>
          <a:xfrm>
            <a:off x="3042840" y="5756914"/>
            <a:ext cx="594815" cy="263834"/>
          </a:xfrm>
          <a:prstGeom prst="rect">
            <a:avLst/>
          </a:prstGeom>
          <a:noFill/>
          <a:ln/>
        </p:spPr>
        <p:txBody>
          <a:bodyPr wrap="square" lIns="0" tIns="0" rIns="0" bIns="0" rtlCol="0" anchor="t"/>
          <a:lstStyle/>
          <a:p>
            <a:pPr marL="0" indent="0" algn="l">
              <a:lnSpc>
                <a:spcPts val="1560"/>
              </a:lnSpc>
              <a:buNone/>
            </a:pPr>
            <a:r>
              <a:rPr lang="en-US" sz="1300" b="1" dirty="0">
                <a:solidFill>
                  <a:srgbClr val="EDF3F8"/>
                </a:solidFill>
                <a:latin typeface="Arial" pitchFamily="34" charset="0"/>
                <a:ea typeface="Arial" pitchFamily="34" charset="-122"/>
                <a:cs typeface="Arial" pitchFamily="34" charset="-120"/>
              </a:rPr>
              <a:t>Python</a:t>
            </a:r>
            <a:endParaRPr lang="en-US" sz="1300" dirty="0"/>
          </a:p>
        </p:txBody>
      </p:sp>
      <p:sp>
        <p:nvSpPr>
          <p:cNvPr id="20" name="Text 18"/>
          <p:cNvSpPr txBox="1"/>
          <p:nvPr/>
        </p:nvSpPr>
        <p:spPr>
          <a:xfrm>
            <a:off x="4207123" y="5756914"/>
            <a:ext cx="1242664" cy="263834"/>
          </a:xfrm>
          <a:prstGeom prst="rect">
            <a:avLst/>
          </a:prstGeom>
          <a:noFill/>
          <a:ln/>
        </p:spPr>
        <p:txBody>
          <a:bodyPr wrap="square" lIns="0" tIns="0" rIns="0" bIns="0" rtlCol="0" anchor="t"/>
          <a:lstStyle/>
          <a:p>
            <a:pPr marL="0" indent="0" algn="l">
              <a:lnSpc>
                <a:spcPts val="1560"/>
              </a:lnSpc>
              <a:buNone/>
            </a:pPr>
            <a:r>
              <a:rPr lang="en-US" sz="1300" b="1" dirty="0">
                <a:solidFill>
                  <a:srgbClr val="EDF3F8"/>
                </a:solidFill>
                <a:latin typeface="Arial" pitchFamily="34" charset="0"/>
                <a:ea typeface="Arial" pitchFamily="34" charset="-122"/>
                <a:cs typeface="Arial" pitchFamily="34" charset="-120"/>
              </a:rPr>
              <a:t>DuckDB WASM</a:t>
            </a:r>
            <a:endParaRPr lang="en-US" sz="1300" dirty="0"/>
          </a:p>
        </p:txBody>
      </p:sp>
      <p:sp>
        <p:nvSpPr>
          <p:cNvPr id="21" name="Text 19"/>
          <p:cNvSpPr txBox="1"/>
          <p:nvPr/>
        </p:nvSpPr>
        <p:spPr>
          <a:xfrm>
            <a:off x="6019254" y="5756914"/>
            <a:ext cx="648988" cy="263834"/>
          </a:xfrm>
          <a:prstGeom prst="rect">
            <a:avLst/>
          </a:prstGeom>
          <a:noFill/>
          <a:ln/>
        </p:spPr>
        <p:txBody>
          <a:bodyPr wrap="square" lIns="0" tIns="0" rIns="0" bIns="0" rtlCol="0" anchor="t"/>
          <a:lstStyle/>
          <a:p>
            <a:pPr marL="0" indent="0" algn="l">
              <a:lnSpc>
                <a:spcPts val="1560"/>
              </a:lnSpc>
              <a:buNone/>
            </a:pPr>
            <a:r>
              <a:rPr lang="en-US" sz="1300" b="1" dirty="0">
                <a:solidFill>
                  <a:srgbClr val="EDF3F8"/>
                </a:solidFill>
                <a:latin typeface="Arial" pitchFamily="34" charset="0"/>
                <a:ea typeface="Arial" pitchFamily="34" charset="-122"/>
                <a:cs typeface="Arial" pitchFamily="34" charset="-120"/>
              </a:rPr>
              <a:t>Parquet</a:t>
            </a:r>
            <a:endParaRPr lang="en-US" sz="1300" dirty="0"/>
          </a:p>
        </p:txBody>
      </p:sp>
      <p:sp>
        <p:nvSpPr>
          <p:cNvPr id="22" name="Text 20"/>
          <p:cNvSpPr txBox="1"/>
          <p:nvPr/>
        </p:nvSpPr>
        <p:spPr>
          <a:xfrm>
            <a:off x="952400" y="6350441"/>
            <a:ext cx="1112737" cy="263834"/>
          </a:xfrm>
          <a:prstGeom prst="rect">
            <a:avLst/>
          </a:prstGeom>
          <a:noFill/>
          <a:ln/>
        </p:spPr>
        <p:txBody>
          <a:bodyPr wrap="square" lIns="0" tIns="0" rIns="0" bIns="0" rtlCol="0" anchor="t"/>
          <a:lstStyle/>
          <a:p>
            <a:pPr marL="0" indent="0" algn="l">
              <a:lnSpc>
                <a:spcPts val="1560"/>
              </a:lnSpc>
              <a:buNone/>
            </a:pPr>
            <a:r>
              <a:rPr lang="en-US" sz="1300" b="1" dirty="0">
                <a:solidFill>
                  <a:srgbClr val="EDF3F8"/>
                </a:solidFill>
                <a:latin typeface="Arial" pitchFamily="34" charset="0"/>
                <a:ea typeface="Arial" pitchFamily="34" charset="-122"/>
                <a:cs typeface="Arial" pitchFamily="34" charset="-120"/>
              </a:rPr>
              <a:t>GitHub Pages</a:t>
            </a:r>
            <a:endParaRPr lang="en-US" sz="1300" dirty="0"/>
          </a:p>
        </p:txBody>
      </p:sp>
      <p:sp>
        <p:nvSpPr>
          <p:cNvPr id="23" name="Text 21"/>
          <p:cNvSpPr txBox="1"/>
          <p:nvPr/>
        </p:nvSpPr>
        <p:spPr>
          <a:xfrm>
            <a:off x="711101" y="8089696"/>
            <a:ext cx="5488382" cy="425958"/>
          </a:xfrm>
          <a:prstGeom prst="rect">
            <a:avLst/>
          </a:prstGeom>
          <a:noFill/>
          <a:ln/>
        </p:spPr>
        <p:txBody>
          <a:bodyPr wrap="square" lIns="0" tIns="0" rIns="0" bIns="0" rtlCol="0" anchor="t"/>
          <a:lstStyle/>
          <a:p>
            <a:pPr marL="0" indent="0" algn="l">
              <a:lnSpc>
                <a:spcPts val="1380"/>
              </a:lnSpc>
              <a:buNone/>
            </a:pPr>
            <a:r>
              <a:rPr lang="en-US" sz="1400" b="1" dirty="0">
                <a:solidFill>
                  <a:srgbClr val="A8BECF"/>
                </a:solidFill>
                <a:latin typeface="Arial" pitchFamily="34" charset="0"/>
                <a:ea typeface="Arial" pitchFamily="34" charset="-122"/>
                <a:cs typeface="Arial" pitchFamily="34" charset="-120"/>
              </a:rPr>
              <a:t>Samuel Babajide</a:t>
            </a:r>
            <a:r>
              <a:rPr lang="en-US" sz="1400" dirty="0">
                <a:solidFill>
                  <a:srgbClr val="71909F"/>
                </a:solidFill>
                <a:latin typeface="Arial" pitchFamily="34" charset="0"/>
                <a:ea typeface="Arial" pitchFamily="34" charset="-122"/>
                <a:cs typeface="Arial" pitchFamily="34" charset="-120"/>
              </a:rPr>
              <a:t> — Data Scientist specialising in applied analytics and predictive modelling within complex, regulated environments.</a:t>
            </a:r>
            <a:endParaRPr lang="en-US" sz="1400" dirty="0"/>
          </a:p>
        </p:txBody>
      </p:sp>
      <p:sp>
        <p:nvSpPr>
          <p:cNvPr id="24" name="Text 22"/>
          <p:cNvSpPr txBox="1"/>
          <p:nvPr/>
        </p:nvSpPr>
        <p:spPr>
          <a:xfrm>
            <a:off x="7170826" y="8251621"/>
            <a:ext cx="1698586" cy="264033"/>
          </a:xfrm>
          <a:prstGeom prst="rect">
            <a:avLst/>
          </a:prstGeom>
          <a:noFill/>
          <a:ln/>
        </p:spPr>
        <p:txBody>
          <a:bodyPr wrap="square" lIns="0" tIns="0" rIns="0" bIns="0" rtlCol="0" anchor="t"/>
          <a:lstStyle/>
          <a:p>
            <a:pPr marL="0" indent="0" algn="l">
              <a:lnSpc>
                <a:spcPts val="1380"/>
              </a:lnSpc>
              <a:buNone/>
            </a:pPr>
            <a:r>
              <a:rPr lang="en-US" sz="1300" dirty="0" u="none">
                <a:solidFill>
                  <a:srgbClr val="71909F"/>
                </a:solidFill>
                <a:latin typeface="Arial" pitchFamily="34" charset="0"/>
                <a:ea typeface="Arial" pitchFamily="34" charset="-122"/>
                <a:cs typeface="Arial" pitchFamily="34" charset="-120"/>
                <a:hlinkClick r:id="rId4"/>
              </a:rPr>
              <a:t>Website</a:t>
            </a:r>
            <a:r>
              <a:rPr lang="en-US" sz="1300" dirty="0" u="none">
                <a:solidFill>
                  <a:srgbClr val="71909F"/>
                </a:solidFill>
                <a:latin typeface="Arial" pitchFamily="34" charset="0"/>
                <a:ea typeface="Arial" pitchFamily="34" charset="-122"/>
                <a:cs typeface="Arial" pitchFamily="34" charset="-120"/>
              </a:rPr>
              <a:t> · </a:t>
            </a:r>
            <a:r>
              <a:rPr lang="en-US" sz="1300" dirty="0" u="none">
                <a:solidFill>
                  <a:srgbClr val="71909F"/>
                </a:solidFill>
                <a:latin typeface="Arial" pitchFamily="34" charset="0"/>
                <a:ea typeface="Arial" pitchFamily="34" charset="-122"/>
                <a:cs typeface="Arial" pitchFamily="34" charset="-120"/>
                <a:hlinkClick r:id="rId5"/>
              </a:rPr>
              <a:t>LinkedIn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1201</Words>
  <Application>Microsoft Office PowerPoint</Application>
  <PresentationFormat>Custom</PresentationFormat>
  <Paragraphs>249</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Mortgage lending in New York</dc:title>
  <dc:subject>HMDA Loan Application Register, New York State, 2022 to 2025</dc:subject>
  <dc:creator>Samuel Babajide</dc:creator>
  <cp:lastModifiedBy>Samuel Babajide</cp:lastModifiedBy>
  <cp:revision>4</cp:revision>
  <dcterms:created xsi:type="dcterms:W3CDTF">2026-10-24T13:15:04Z</dcterms:created>
  <dcterms:modified xsi:type="dcterms:W3CDTF">2026-10-24T13:50:42Z</dcterms:modified>
</cp:coreProperties>
</file>